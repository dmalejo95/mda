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58" r:id="rId18"/>
    <p:sldId id="260" r:id="rId19"/>
    <p:sldId id="261" r:id="rId20"/>
    <p:sldId id="262" r:id="rId2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2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01" autoAdjust="0"/>
    <p:restoredTop sz="91014" autoAdjust="0"/>
  </p:normalViewPr>
  <p:slideViewPr>
    <p:cSldViewPr>
      <p:cViewPr varScale="1">
        <p:scale>
          <a:sx n="67" d="100"/>
          <a:sy n="67" d="100"/>
        </p:scale>
        <p:origin x="-1230"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MX"/>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smtClean="0"/>
              <a:t>Haga clic para modificar el estilo de subtítulo del patrón</a:t>
            </a:r>
            <a:endParaRPr lang="es-MX"/>
          </a:p>
        </p:txBody>
      </p:sp>
      <p:sp>
        <p:nvSpPr>
          <p:cNvPr id="4" name="3 Marcador de fecha"/>
          <p:cNvSpPr>
            <a:spLocks noGrp="1"/>
          </p:cNvSpPr>
          <p:nvPr>
            <p:ph type="dt" sz="half" idx="10"/>
          </p:nvPr>
        </p:nvSpPr>
        <p:spPr/>
        <p:txBody>
          <a:bodyPr/>
          <a:lstStyle>
            <a:lvl1pPr>
              <a:defRPr/>
            </a:lvl1pPr>
          </a:lstStyle>
          <a:p>
            <a:endParaRPr lang="en-US"/>
          </a:p>
        </p:txBody>
      </p:sp>
      <p:sp>
        <p:nvSpPr>
          <p:cNvPr id="5" name="4 Marcador de pie de página"/>
          <p:cNvSpPr>
            <a:spLocks noGrp="1"/>
          </p:cNvSpPr>
          <p:nvPr>
            <p:ph type="ftr" sz="quarter" idx="11"/>
          </p:nvPr>
        </p:nvSpPr>
        <p:spPr/>
        <p:txBody>
          <a:bodyPr/>
          <a:lstStyle>
            <a:lvl1pPr>
              <a:defRPr/>
            </a:lvl1pPr>
          </a:lstStyle>
          <a:p>
            <a:endParaRPr lang="en-US"/>
          </a:p>
        </p:txBody>
      </p:sp>
      <p:sp>
        <p:nvSpPr>
          <p:cNvPr id="6" name="5 Marcador de número de diapositiva"/>
          <p:cNvSpPr>
            <a:spLocks noGrp="1"/>
          </p:cNvSpPr>
          <p:nvPr>
            <p:ph type="sldNum" sz="quarter" idx="12"/>
          </p:nvPr>
        </p:nvSpPr>
        <p:spPr/>
        <p:txBody>
          <a:bodyPr/>
          <a:lstStyle>
            <a:lvl1pPr>
              <a:defRPr/>
            </a:lvl1pPr>
          </a:lstStyle>
          <a:p>
            <a:fld id="{B681F033-FE6C-4793-BC9B-72BFC467064B}" type="slidenum">
              <a:rPr lang="en-US"/>
              <a:pPr/>
              <a:t>‹Nº›</a:t>
            </a:fld>
            <a:endParaRPr lang="en-US"/>
          </a:p>
        </p:txBody>
      </p:sp>
    </p:spTree>
    <p:extLst>
      <p:ext uri="{BB962C8B-B14F-4D97-AF65-F5344CB8AC3E}">
        <p14:creationId xmlns:p14="http://schemas.microsoft.com/office/powerpoint/2010/main" val="942331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fecha"/>
          <p:cNvSpPr>
            <a:spLocks noGrp="1"/>
          </p:cNvSpPr>
          <p:nvPr>
            <p:ph type="dt" sz="half" idx="10"/>
          </p:nvPr>
        </p:nvSpPr>
        <p:spPr/>
        <p:txBody>
          <a:bodyPr/>
          <a:lstStyle>
            <a:lvl1pPr>
              <a:defRPr/>
            </a:lvl1pPr>
          </a:lstStyle>
          <a:p>
            <a:endParaRPr lang="en-US"/>
          </a:p>
        </p:txBody>
      </p:sp>
      <p:sp>
        <p:nvSpPr>
          <p:cNvPr id="5" name="4 Marcador de pie de página"/>
          <p:cNvSpPr>
            <a:spLocks noGrp="1"/>
          </p:cNvSpPr>
          <p:nvPr>
            <p:ph type="ftr" sz="quarter" idx="11"/>
          </p:nvPr>
        </p:nvSpPr>
        <p:spPr/>
        <p:txBody>
          <a:bodyPr/>
          <a:lstStyle>
            <a:lvl1pPr>
              <a:defRPr/>
            </a:lvl1pPr>
          </a:lstStyle>
          <a:p>
            <a:endParaRPr lang="en-US"/>
          </a:p>
        </p:txBody>
      </p:sp>
      <p:sp>
        <p:nvSpPr>
          <p:cNvPr id="6" name="5 Marcador de número de diapositiva"/>
          <p:cNvSpPr>
            <a:spLocks noGrp="1"/>
          </p:cNvSpPr>
          <p:nvPr>
            <p:ph type="sldNum" sz="quarter" idx="12"/>
          </p:nvPr>
        </p:nvSpPr>
        <p:spPr/>
        <p:txBody>
          <a:bodyPr/>
          <a:lstStyle>
            <a:lvl1pPr>
              <a:defRPr/>
            </a:lvl1pPr>
          </a:lstStyle>
          <a:p>
            <a:fld id="{19B1EB66-D3A2-4ADF-8C85-B7DEC135BEA8}" type="slidenum">
              <a:rPr lang="en-US"/>
              <a:pPr/>
              <a:t>‹Nº›</a:t>
            </a:fld>
            <a:endParaRPr lang="en-US"/>
          </a:p>
        </p:txBody>
      </p:sp>
    </p:spTree>
    <p:extLst>
      <p:ext uri="{BB962C8B-B14F-4D97-AF65-F5344CB8AC3E}">
        <p14:creationId xmlns:p14="http://schemas.microsoft.com/office/powerpoint/2010/main" val="287822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endParaRPr lang="en-US"/>
          </a:p>
        </p:txBody>
      </p:sp>
      <p:sp>
        <p:nvSpPr>
          <p:cNvPr id="5" name="4 Marcador de pie de página"/>
          <p:cNvSpPr>
            <a:spLocks noGrp="1"/>
          </p:cNvSpPr>
          <p:nvPr>
            <p:ph type="ftr" sz="quarter" idx="11"/>
          </p:nvPr>
        </p:nvSpPr>
        <p:spPr/>
        <p:txBody>
          <a:bodyPr/>
          <a:lstStyle>
            <a:lvl1pPr>
              <a:defRPr/>
            </a:lvl1pPr>
          </a:lstStyle>
          <a:p>
            <a:endParaRPr lang="en-US"/>
          </a:p>
        </p:txBody>
      </p:sp>
      <p:sp>
        <p:nvSpPr>
          <p:cNvPr id="6" name="5 Marcador de número de diapositiva"/>
          <p:cNvSpPr>
            <a:spLocks noGrp="1"/>
          </p:cNvSpPr>
          <p:nvPr>
            <p:ph type="sldNum" sz="quarter" idx="12"/>
          </p:nvPr>
        </p:nvSpPr>
        <p:spPr/>
        <p:txBody>
          <a:bodyPr/>
          <a:lstStyle>
            <a:lvl1pPr>
              <a:defRPr/>
            </a:lvl1pPr>
          </a:lstStyle>
          <a:p>
            <a:fld id="{C27F1CC2-DE49-4246-8F2E-34B966CE5D09}" type="slidenum">
              <a:rPr lang="en-US"/>
              <a:pPr/>
              <a:t>‹Nº›</a:t>
            </a:fld>
            <a:endParaRPr lang="en-US"/>
          </a:p>
        </p:txBody>
      </p:sp>
    </p:spTree>
    <p:extLst>
      <p:ext uri="{BB962C8B-B14F-4D97-AF65-F5344CB8AC3E}">
        <p14:creationId xmlns:p14="http://schemas.microsoft.com/office/powerpoint/2010/main" val="1105742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contenido"/>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contenido"/>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4 Marcador de fecha"/>
          <p:cNvSpPr>
            <a:spLocks noGrp="1"/>
          </p:cNvSpPr>
          <p:nvPr>
            <p:ph type="dt" sz="half" idx="10"/>
          </p:nvPr>
        </p:nvSpPr>
        <p:spPr/>
        <p:txBody>
          <a:bodyPr/>
          <a:lstStyle>
            <a:lvl1pPr>
              <a:defRPr/>
            </a:lvl1pPr>
          </a:lstStyle>
          <a:p>
            <a:endParaRPr lang="en-US"/>
          </a:p>
        </p:txBody>
      </p:sp>
      <p:sp>
        <p:nvSpPr>
          <p:cNvPr id="6" name="5 Marcador de pie de página"/>
          <p:cNvSpPr>
            <a:spLocks noGrp="1"/>
          </p:cNvSpPr>
          <p:nvPr>
            <p:ph type="ftr" sz="quarter" idx="11"/>
          </p:nvPr>
        </p:nvSpPr>
        <p:spPr/>
        <p:txBody>
          <a:bodyPr/>
          <a:lstStyle>
            <a:lvl1pPr>
              <a:defRPr/>
            </a:lvl1pPr>
          </a:lstStyle>
          <a:p>
            <a:endParaRPr lang="en-US"/>
          </a:p>
        </p:txBody>
      </p:sp>
      <p:sp>
        <p:nvSpPr>
          <p:cNvPr id="7" name="6 Marcador de número de diapositiva"/>
          <p:cNvSpPr>
            <a:spLocks noGrp="1"/>
          </p:cNvSpPr>
          <p:nvPr>
            <p:ph type="sldNum" sz="quarter" idx="12"/>
          </p:nvPr>
        </p:nvSpPr>
        <p:spPr/>
        <p:txBody>
          <a:bodyPr/>
          <a:lstStyle>
            <a:lvl1pPr>
              <a:defRPr/>
            </a:lvl1pPr>
          </a:lstStyle>
          <a:p>
            <a:fld id="{AEB492F7-1576-4181-8F64-CC5A157558CE}" type="slidenum">
              <a:rPr lang="en-US"/>
              <a:pPr/>
              <a:t>‹Nº›</a:t>
            </a:fld>
            <a:endParaRPr lang="en-US"/>
          </a:p>
        </p:txBody>
      </p:sp>
    </p:spTree>
    <p:extLst>
      <p:ext uri="{BB962C8B-B14F-4D97-AF65-F5344CB8AC3E}">
        <p14:creationId xmlns:p14="http://schemas.microsoft.com/office/powerpoint/2010/main" val="1848999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6 Marcador de fecha"/>
          <p:cNvSpPr>
            <a:spLocks noGrp="1"/>
          </p:cNvSpPr>
          <p:nvPr>
            <p:ph type="dt" sz="half" idx="10"/>
          </p:nvPr>
        </p:nvSpPr>
        <p:spPr/>
        <p:txBody>
          <a:bodyPr/>
          <a:lstStyle>
            <a:lvl1pPr>
              <a:defRPr/>
            </a:lvl1pPr>
          </a:lstStyle>
          <a:p>
            <a:endParaRPr lang="en-US"/>
          </a:p>
        </p:txBody>
      </p:sp>
      <p:sp>
        <p:nvSpPr>
          <p:cNvPr id="8" name="7 Marcador de pie de página"/>
          <p:cNvSpPr>
            <a:spLocks noGrp="1"/>
          </p:cNvSpPr>
          <p:nvPr>
            <p:ph type="ftr" sz="quarter" idx="11"/>
          </p:nvPr>
        </p:nvSpPr>
        <p:spPr/>
        <p:txBody>
          <a:bodyPr/>
          <a:lstStyle>
            <a:lvl1pPr>
              <a:defRPr/>
            </a:lvl1pPr>
          </a:lstStyle>
          <a:p>
            <a:endParaRPr lang="en-US"/>
          </a:p>
        </p:txBody>
      </p:sp>
      <p:sp>
        <p:nvSpPr>
          <p:cNvPr id="9" name="8 Marcador de número de diapositiva"/>
          <p:cNvSpPr>
            <a:spLocks noGrp="1"/>
          </p:cNvSpPr>
          <p:nvPr>
            <p:ph type="sldNum" sz="quarter" idx="12"/>
          </p:nvPr>
        </p:nvSpPr>
        <p:spPr/>
        <p:txBody>
          <a:bodyPr/>
          <a:lstStyle>
            <a:lvl1pPr>
              <a:defRPr/>
            </a:lvl1pPr>
          </a:lstStyle>
          <a:p>
            <a:fld id="{CBBA4D60-BA5D-4B96-BF19-942CA418A925}" type="slidenum">
              <a:rPr lang="en-US"/>
              <a:pPr/>
              <a:t>‹Nº›</a:t>
            </a:fld>
            <a:endParaRPr lang="en-US"/>
          </a:p>
        </p:txBody>
      </p:sp>
    </p:spTree>
    <p:extLst>
      <p:ext uri="{BB962C8B-B14F-4D97-AF65-F5344CB8AC3E}">
        <p14:creationId xmlns:p14="http://schemas.microsoft.com/office/powerpoint/2010/main" val="322971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fecha"/>
          <p:cNvSpPr>
            <a:spLocks noGrp="1"/>
          </p:cNvSpPr>
          <p:nvPr>
            <p:ph type="dt" sz="half" idx="10"/>
          </p:nvPr>
        </p:nvSpPr>
        <p:spPr/>
        <p:txBody>
          <a:bodyPr/>
          <a:lstStyle>
            <a:lvl1pPr>
              <a:defRPr/>
            </a:lvl1pPr>
          </a:lstStyle>
          <a:p>
            <a:endParaRPr lang="en-US"/>
          </a:p>
        </p:txBody>
      </p:sp>
      <p:sp>
        <p:nvSpPr>
          <p:cNvPr id="4" name="3 Marcador de pie de página"/>
          <p:cNvSpPr>
            <a:spLocks noGrp="1"/>
          </p:cNvSpPr>
          <p:nvPr>
            <p:ph type="ftr" sz="quarter" idx="11"/>
          </p:nvPr>
        </p:nvSpPr>
        <p:spPr/>
        <p:txBody>
          <a:bodyPr/>
          <a:lstStyle>
            <a:lvl1pPr>
              <a:defRPr/>
            </a:lvl1pPr>
          </a:lstStyle>
          <a:p>
            <a:endParaRPr lang="en-US"/>
          </a:p>
        </p:txBody>
      </p:sp>
      <p:sp>
        <p:nvSpPr>
          <p:cNvPr id="5" name="4 Marcador de número de diapositiva"/>
          <p:cNvSpPr>
            <a:spLocks noGrp="1"/>
          </p:cNvSpPr>
          <p:nvPr>
            <p:ph type="sldNum" sz="quarter" idx="12"/>
          </p:nvPr>
        </p:nvSpPr>
        <p:spPr/>
        <p:txBody>
          <a:bodyPr/>
          <a:lstStyle>
            <a:lvl1pPr>
              <a:defRPr/>
            </a:lvl1pPr>
          </a:lstStyle>
          <a:p>
            <a:fld id="{965499BF-2005-40AD-BF67-1D6B0B121329}" type="slidenum">
              <a:rPr lang="en-US"/>
              <a:pPr/>
              <a:t>‹Nº›</a:t>
            </a:fld>
            <a:endParaRPr lang="en-US"/>
          </a:p>
        </p:txBody>
      </p:sp>
    </p:spTree>
    <p:extLst>
      <p:ext uri="{BB962C8B-B14F-4D97-AF65-F5344CB8AC3E}">
        <p14:creationId xmlns:p14="http://schemas.microsoft.com/office/powerpoint/2010/main" val="1784994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endParaRPr lang="en-US"/>
          </a:p>
        </p:txBody>
      </p:sp>
      <p:sp>
        <p:nvSpPr>
          <p:cNvPr id="3" name="2 Marcador de pie de página"/>
          <p:cNvSpPr>
            <a:spLocks noGrp="1"/>
          </p:cNvSpPr>
          <p:nvPr>
            <p:ph type="ftr" sz="quarter" idx="11"/>
          </p:nvPr>
        </p:nvSpPr>
        <p:spPr/>
        <p:txBody>
          <a:bodyPr/>
          <a:lstStyle>
            <a:lvl1pPr>
              <a:defRPr/>
            </a:lvl1pPr>
          </a:lstStyle>
          <a:p>
            <a:endParaRPr lang="en-US"/>
          </a:p>
        </p:txBody>
      </p:sp>
      <p:sp>
        <p:nvSpPr>
          <p:cNvPr id="4" name="3 Marcador de número de diapositiva"/>
          <p:cNvSpPr>
            <a:spLocks noGrp="1"/>
          </p:cNvSpPr>
          <p:nvPr>
            <p:ph type="sldNum" sz="quarter" idx="12"/>
          </p:nvPr>
        </p:nvSpPr>
        <p:spPr/>
        <p:txBody>
          <a:bodyPr/>
          <a:lstStyle>
            <a:lvl1pPr>
              <a:defRPr/>
            </a:lvl1pPr>
          </a:lstStyle>
          <a:p>
            <a:fld id="{6CCE8874-D674-4D9E-A0FF-AD00B0BF0297}" type="slidenum">
              <a:rPr lang="en-US"/>
              <a:pPr/>
              <a:t>‹Nº›</a:t>
            </a:fld>
            <a:endParaRPr lang="en-US"/>
          </a:p>
        </p:txBody>
      </p:sp>
    </p:spTree>
    <p:extLst>
      <p:ext uri="{BB962C8B-B14F-4D97-AF65-F5344CB8AC3E}">
        <p14:creationId xmlns:p14="http://schemas.microsoft.com/office/powerpoint/2010/main" val="423935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n-US"/>
          </a:p>
        </p:txBody>
      </p:sp>
      <p:sp>
        <p:nvSpPr>
          <p:cNvPr id="6" name="5 Marcador de pie de página"/>
          <p:cNvSpPr>
            <a:spLocks noGrp="1"/>
          </p:cNvSpPr>
          <p:nvPr>
            <p:ph type="ftr" sz="quarter" idx="11"/>
          </p:nvPr>
        </p:nvSpPr>
        <p:spPr/>
        <p:txBody>
          <a:bodyPr/>
          <a:lstStyle>
            <a:lvl1pPr>
              <a:defRPr/>
            </a:lvl1pPr>
          </a:lstStyle>
          <a:p>
            <a:endParaRPr lang="en-US"/>
          </a:p>
        </p:txBody>
      </p:sp>
      <p:sp>
        <p:nvSpPr>
          <p:cNvPr id="7" name="6 Marcador de número de diapositiva"/>
          <p:cNvSpPr>
            <a:spLocks noGrp="1"/>
          </p:cNvSpPr>
          <p:nvPr>
            <p:ph type="sldNum" sz="quarter" idx="12"/>
          </p:nvPr>
        </p:nvSpPr>
        <p:spPr/>
        <p:txBody>
          <a:bodyPr/>
          <a:lstStyle>
            <a:lvl1pPr>
              <a:defRPr/>
            </a:lvl1pPr>
          </a:lstStyle>
          <a:p>
            <a:fld id="{BB81A5EA-8AE9-46BA-851D-3EECB2F13440}" type="slidenum">
              <a:rPr lang="en-US"/>
              <a:pPr/>
              <a:t>‹Nº›</a:t>
            </a:fld>
            <a:endParaRPr lang="en-US"/>
          </a:p>
        </p:txBody>
      </p:sp>
    </p:spTree>
    <p:extLst>
      <p:ext uri="{BB962C8B-B14F-4D97-AF65-F5344CB8AC3E}">
        <p14:creationId xmlns:p14="http://schemas.microsoft.com/office/powerpoint/2010/main" val="966777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s-MX"/>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n-US"/>
          </a:p>
        </p:txBody>
      </p:sp>
      <p:sp>
        <p:nvSpPr>
          <p:cNvPr id="6" name="5 Marcador de pie de página"/>
          <p:cNvSpPr>
            <a:spLocks noGrp="1"/>
          </p:cNvSpPr>
          <p:nvPr>
            <p:ph type="ftr" sz="quarter" idx="11"/>
          </p:nvPr>
        </p:nvSpPr>
        <p:spPr/>
        <p:txBody>
          <a:bodyPr/>
          <a:lstStyle>
            <a:lvl1pPr>
              <a:defRPr/>
            </a:lvl1pPr>
          </a:lstStyle>
          <a:p>
            <a:endParaRPr lang="en-US"/>
          </a:p>
        </p:txBody>
      </p:sp>
      <p:sp>
        <p:nvSpPr>
          <p:cNvPr id="7" name="6 Marcador de número de diapositiva"/>
          <p:cNvSpPr>
            <a:spLocks noGrp="1"/>
          </p:cNvSpPr>
          <p:nvPr>
            <p:ph type="sldNum" sz="quarter" idx="12"/>
          </p:nvPr>
        </p:nvSpPr>
        <p:spPr/>
        <p:txBody>
          <a:bodyPr/>
          <a:lstStyle>
            <a:lvl1pPr>
              <a:defRPr/>
            </a:lvl1pPr>
          </a:lstStyle>
          <a:p>
            <a:fld id="{A55B74B1-BFA1-4495-B192-3E095998CF52}" type="slidenum">
              <a:rPr lang="en-US"/>
              <a:pPr/>
              <a:t>‹Nº›</a:t>
            </a:fld>
            <a:endParaRPr lang="en-US"/>
          </a:p>
        </p:txBody>
      </p:sp>
    </p:spTree>
    <p:extLst>
      <p:ext uri="{BB962C8B-B14F-4D97-AF65-F5344CB8AC3E}">
        <p14:creationId xmlns:p14="http://schemas.microsoft.com/office/powerpoint/2010/main" val="29390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fecha"/>
          <p:cNvSpPr>
            <a:spLocks noGrp="1"/>
          </p:cNvSpPr>
          <p:nvPr>
            <p:ph type="dt" sz="half" idx="10"/>
          </p:nvPr>
        </p:nvSpPr>
        <p:spPr/>
        <p:txBody>
          <a:bodyPr/>
          <a:lstStyle>
            <a:lvl1pPr>
              <a:defRPr/>
            </a:lvl1pPr>
          </a:lstStyle>
          <a:p>
            <a:endParaRPr lang="en-US"/>
          </a:p>
        </p:txBody>
      </p:sp>
      <p:sp>
        <p:nvSpPr>
          <p:cNvPr id="5" name="4 Marcador de pie de página"/>
          <p:cNvSpPr>
            <a:spLocks noGrp="1"/>
          </p:cNvSpPr>
          <p:nvPr>
            <p:ph type="ftr" sz="quarter" idx="11"/>
          </p:nvPr>
        </p:nvSpPr>
        <p:spPr/>
        <p:txBody>
          <a:bodyPr/>
          <a:lstStyle>
            <a:lvl1pPr>
              <a:defRPr/>
            </a:lvl1pPr>
          </a:lstStyle>
          <a:p>
            <a:endParaRPr lang="en-US"/>
          </a:p>
        </p:txBody>
      </p:sp>
      <p:sp>
        <p:nvSpPr>
          <p:cNvPr id="6" name="5 Marcador de número de diapositiva"/>
          <p:cNvSpPr>
            <a:spLocks noGrp="1"/>
          </p:cNvSpPr>
          <p:nvPr>
            <p:ph type="sldNum" sz="quarter" idx="12"/>
          </p:nvPr>
        </p:nvSpPr>
        <p:spPr/>
        <p:txBody>
          <a:bodyPr/>
          <a:lstStyle>
            <a:lvl1pPr>
              <a:defRPr/>
            </a:lvl1pPr>
          </a:lstStyle>
          <a:p>
            <a:fld id="{FBDA7838-EF50-4E1E-B022-AF0ECF6CB64E}" type="slidenum">
              <a:rPr lang="en-US"/>
              <a:pPr/>
              <a:t>‹Nº›</a:t>
            </a:fld>
            <a:endParaRPr lang="en-US"/>
          </a:p>
        </p:txBody>
      </p:sp>
    </p:spTree>
    <p:extLst>
      <p:ext uri="{BB962C8B-B14F-4D97-AF65-F5344CB8AC3E}">
        <p14:creationId xmlns:p14="http://schemas.microsoft.com/office/powerpoint/2010/main" val="168326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15100" y="609600"/>
            <a:ext cx="1943100" cy="5486400"/>
          </a:xfrm>
        </p:spPr>
        <p:txBody>
          <a:bodyPr vert="eaVert"/>
          <a:lstStyle/>
          <a:p>
            <a:r>
              <a:rPr lang="es-ES" smtClean="0"/>
              <a:t>Haga clic para modificar el estilo de título del patrón</a:t>
            </a:r>
            <a:endParaRPr lang="es-MX"/>
          </a:p>
        </p:txBody>
      </p:sp>
      <p:sp>
        <p:nvSpPr>
          <p:cNvPr id="3" name="2 Marcador de texto vertical"/>
          <p:cNvSpPr>
            <a:spLocks noGrp="1"/>
          </p:cNvSpPr>
          <p:nvPr>
            <p:ph type="body" orient="vert" idx="1"/>
          </p:nvPr>
        </p:nvSpPr>
        <p:spPr>
          <a:xfrm>
            <a:off x="685800" y="609600"/>
            <a:ext cx="5676900" cy="54864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fecha"/>
          <p:cNvSpPr>
            <a:spLocks noGrp="1"/>
          </p:cNvSpPr>
          <p:nvPr>
            <p:ph type="dt" sz="half" idx="10"/>
          </p:nvPr>
        </p:nvSpPr>
        <p:spPr/>
        <p:txBody>
          <a:bodyPr/>
          <a:lstStyle>
            <a:lvl1pPr>
              <a:defRPr/>
            </a:lvl1pPr>
          </a:lstStyle>
          <a:p>
            <a:endParaRPr lang="en-US"/>
          </a:p>
        </p:txBody>
      </p:sp>
      <p:sp>
        <p:nvSpPr>
          <p:cNvPr id="5" name="4 Marcador de pie de página"/>
          <p:cNvSpPr>
            <a:spLocks noGrp="1"/>
          </p:cNvSpPr>
          <p:nvPr>
            <p:ph type="ftr" sz="quarter" idx="11"/>
          </p:nvPr>
        </p:nvSpPr>
        <p:spPr/>
        <p:txBody>
          <a:bodyPr/>
          <a:lstStyle>
            <a:lvl1pPr>
              <a:defRPr/>
            </a:lvl1pPr>
          </a:lstStyle>
          <a:p>
            <a:endParaRPr lang="en-US"/>
          </a:p>
        </p:txBody>
      </p:sp>
      <p:sp>
        <p:nvSpPr>
          <p:cNvPr id="6" name="5 Marcador de número de diapositiva"/>
          <p:cNvSpPr>
            <a:spLocks noGrp="1"/>
          </p:cNvSpPr>
          <p:nvPr>
            <p:ph type="sldNum" sz="quarter" idx="12"/>
          </p:nvPr>
        </p:nvSpPr>
        <p:spPr/>
        <p:txBody>
          <a:bodyPr/>
          <a:lstStyle>
            <a:lvl1pPr>
              <a:defRPr/>
            </a:lvl1pPr>
          </a:lstStyle>
          <a:p>
            <a:fld id="{C17DFDE6-74C2-42D2-BBB4-64E37A2DE222}" type="slidenum">
              <a:rPr lang="en-US"/>
              <a:pPr/>
              <a:t>‹Nº›</a:t>
            </a:fld>
            <a:endParaRPr lang="en-US"/>
          </a:p>
        </p:txBody>
      </p:sp>
    </p:spTree>
    <p:extLst>
      <p:ext uri="{BB962C8B-B14F-4D97-AF65-F5344CB8AC3E}">
        <p14:creationId xmlns:p14="http://schemas.microsoft.com/office/powerpoint/2010/main" val="912047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ítulo, imágenes prediseñadas y texto">
    <p:spTree>
      <p:nvGrpSpPr>
        <p:cNvPr id="1" name=""/>
        <p:cNvGrpSpPr/>
        <p:nvPr/>
      </p:nvGrpSpPr>
      <p:grpSpPr>
        <a:xfrm>
          <a:off x="0" y="0"/>
          <a:ext cx="0" cy="0"/>
          <a:chOff x="0" y="0"/>
          <a:chExt cx="0" cy="0"/>
        </a:xfrm>
      </p:grpSpPr>
      <p:sp>
        <p:nvSpPr>
          <p:cNvPr id="2" name="1 Título"/>
          <p:cNvSpPr>
            <a:spLocks noGrp="1"/>
          </p:cNvSpPr>
          <p:nvPr>
            <p:ph type="title"/>
          </p:nvPr>
        </p:nvSpPr>
        <p:spPr>
          <a:xfrm>
            <a:off x="685800" y="609600"/>
            <a:ext cx="7772400" cy="1143000"/>
          </a:xfrm>
        </p:spPr>
        <p:txBody>
          <a:bodyPr/>
          <a:lstStyle/>
          <a:p>
            <a:r>
              <a:rPr lang="es-ES" smtClean="0"/>
              <a:t>Haga clic para modificar el estilo de título del patrón</a:t>
            </a:r>
            <a:endParaRPr lang="es-MX"/>
          </a:p>
        </p:txBody>
      </p:sp>
      <p:sp>
        <p:nvSpPr>
          <p:cNvPr id="3" name="2 Marcador de imágenes prediseñadas"/>
          <p:cNvSpPr>
            <a:spLocks noGrp="1"/>
          </p:cNvSpPr>
          <p:nvPr>
            <p:ph type="clipArt" sz="half" idx="1"/>
          </p:nvPr>
        </p:nvSpPr>
        <p:spPr>
          <a:xfrm>
            <a:off x="685800" y="1981200"/>
            <a:ext cx="3810000" cy="4114800"/>
          </a:xfrm>
        </p:spPr>
        <p:txBody>
          <a:bodyPr/>
          <a:lstStyle/>
          <a:p>
            <a:r>
              <a:rPr lang="es-ES" smtClean="0"/>
              <a:t>Haga clic en el icono para agregar una imagen prediseñada</a:t>
            </a:r>
            <a:endParaRPr lang="es-MX"/>
          </a:p>
        </p:txBody>
      </p:sp>
      <p:sp>
        <p:nvSpPr>
          <p:cNvPr id="4" name="3 Marcador de texto"/>
          <p:cNvSpPr>
            <a:spLocks noGrp="1"/>
          </p:cNvSpPr>
          <p:nvPr>
            <p:ph type="body" sz="half" idx="2"/>
          </p:nvPr>
        </p:nvSpPr>
        <p:spPr>
          <a:xfrm>
            <a:off x="46482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4 Marcador de fecha"/>
          <p:cNvSpPr>
            <a:spLocks noGrp="1"/>
          </p:cNvSpPr>
          <p:nvPr>
            <p:ph type="dt" sz="half" idx="10"/>
          </p:nvPr>
        </p:nvSpPr>
        <p:spPr>
          <a:xfrm>
            <a:off x="685800" y="6248400"/>
            <a:ext cx="1905000" cy="457200"/>
          </a:xfrm>
        </p:spPr>
        <p:txBody>
          <a:bodyPr/>
          <a:lstStyle>
            <a:lvl1pPr>
              <a:defRPr/>
            </a:lvl1pPr>
          </a:lstStyle>
          <a:p>
            <a:endParaRPr lang="en-US"/>
          </a:p>
        </p:txBody>
      </p:sp>
      <p:sp>
        <p:nvSpPr>
          <p:cNvPr id="6" name="5 Marcador de pie de página"/>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6 Marcador de número de diapositiva"/>
          <p:cNvSpPr>
            <a:spLocks noGrp="1"/>
          </p:cNvSpPr>
          <p:nvPr>
            <p:ph type="sldNum" sz="quarter" idx="12"/>
          </p:nvPr>
        </p:nvSpPr>
        <p:spPr>
          <a:xfrm>
            <a:off x="6553200" y="6248400"/>
            <a:ext cx="1905000" cy="457200"/>
          </a:xfrm>
        </p:spPr>
        <p:txBody>
          <a:bodyPr/>
          <a:lstStyle>
            <a:lvl1pPr>
              <a:defRPr/>
            </a:lvl1pPr>
          </a:lstStyle>
          <a:p>
            <a:fld id="{D03CAF3A-56F4-4C28-8852-50BC18C1A44B}" type="slidenum">
              <a:rPr lang="en-US"/>
              <a:pPr/>
              <a:t>‹Nº›</a:t>
            </a:fld>
            <a:endParaRPr lang="en-US"/>
          </a:p>
        </p:txBody>
      </p:sp>
    </p:spTree>
    <p:extLst>
      <p:ext uri="{BB962C8B-B14F-4D97-AF65-F5344CB8AC3E}">
        <p14:creationId xmlns:p14="http://schemas.microsoft.com/office/powerpoint/2010/main" val="2198801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endParaRPr lang="en-US" smtClean="0"/>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6D154332-7760-4FD9-B45D-590AAAA01AAC}" type="slidenum">
              <a:rPr lang="en-US"/>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fontAlgn="base" hangingPunct="1">
        <a:spcBef>
          <a:spcPct val="0"/>
        </a:spcBef>
        <a:spcAft>
          <a:spcPct val="0"/>
        </a:spcAft>
        <a:defRPr sz="4400" i="1">
          <a:solidFill>
            <a:schemeClr val="tx2"/>
          </a:solidFill>
          <a:latin typeface="+mj-lt"/>
          <a:ea typeface="+mj-ea"/>
          <a:cs typeface="+mj-cs"/>
        </a:defRPr>
      </a:lvl1pPr>
      <a:lvl2pPr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2pPr>
      <a:lvl3pPr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3pPr>
      <a:lvl4pPr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4pPr>
      <a:lvl5pPr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5pPr>
      <a:lvl6pPr marL="457200"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6pPr>
      <a:lvl7pPr marL="914400"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7pPr>
      <a:lvl8pPr marL="1371600"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8pPr>
      <a:lvl9pPr marL="1828800" algn="ctr" rtl="0" eaLnBrk="1" fontAlgn="base" hangingPunct="1">
        <a:spcBef>
          <a:spcPct val="0"/>
        </a:spcBef>
        <a:spcAft>
          <a:spcPct val="0"/>
        </a:spcAft>
        <a:defRPr sz="4400" i="1">
          <a:solidFill>
            <a:schemeClr val="tx2"/>
          </a:solidFill>
          <a:latin typeface="Times New Roman" pitchFamily="18" charset="0"/>
          <a:cs typeface="Times New Roman" pitchFamily="18" charset="0"/>
        </a:defRPr>
      </a:lvl9pPr>
    </p:titleStyle>
    <p:bodyStyle>
      <a:lvl1pPr marL="342900" indent="-342900" algn="l" rtl="0" eaLnBrk="1" fontAlgn="base" hangingPunct="1">
        <a:spcBef>
          <a:spcPct val="20000"/>
        </a:spcBef>
        <a:spcAft>
          <a:spcPct val="0"/>
        </a:spcAft>
        <a:buChar char="•"/>
        <a:defRPr sz="3200" i="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i="1">
          <a:solidFill>
            <a:schemeClr val="tx1"/>
          </a:solidFill>
          <a:latin typeface="+mn-lt"/>
          <a:cs typeface="+mn-cs"/>
        </a:defRPr>
      </a:lvl2pPr>
      <a:lvl3pPr marL="1143000" indent="-228600" algn="l" rtl="0" eaLnBrk="1" fontAlgn="base" hangingPunct="1">
        <a:spcBef>
          <a:spcPct val="20000"/>
        </a:spcBef>
        <a:spcAft>
          <a:spcPct val="0"/>
        </a:spcAft>
        <a:buChar char="•"/>
        <a:defRPr sz="2400" i="1">
          <a:solidFill>
            <a:schemeClr val="tx1"/>
          </a:solidFill>
          <a:latin typeface="+mn-lt"/>
          <a:cs typeface="+mn-cs"/>
        </a:defRPr>
      </a:lvl3pPr>
      <a:lvl4pPr marL="1600200" indent="-228600" algn="l" rtl="0" eaLnBrk="1" fontAlgn="base" hangingPunct="1">
        <a:spcBef>
          <a:spcPct val="20000"/>
        </a:spcBef>
        <a:spcAft>
          <a:spcPct val="0"/>
        </a:spcAft>
        <a:buChar char="–"/>
        <a:defRPr sz="2000" i="1">
          <a:solidFill>
            <a:schemeClr val="tx1"/>
          </a:solidFill>
          <a:latin typeface="+mn-lt"/>
          <a:cs typeface="+mn-cs"/>
        </a:defRPr>
      </a:lvl4pPr>
      <a:lvl5pPr marL="2057400" indent="-228600" algn="l" rtl="0" eaLnBrk="1" fontAlgn="base" hangingPunct="1">
        <a:spcBef>
          <a:spcPct val="20000"/>
        </a:spcBef>
        <a:spcAft>
          <a:spcPct val="0"/>
        </a:spcAft>
        <a:buChar char="»"/>
        <a:defRPr sz="2000" i="1">
          <a:solidFill>
            <a:schemeClr val="tx1"/>
          </a:solidFill>
          <a:latin typeface="+mn-lt"/>
          <a:cs typeface="+mn-cs"/>
        </a:defRPr>
      </a:lvl5pPr>
      <a:lvl6pPr marL="2514600" indent="-228600" algn="l" rtl="0" eaLnBrk="1" fontAlgn="base" hangingPunct="1">
        <a:spcBef>
          <a:spcPct val="20000"/>
        </a:spcBef>
        <a:spcAft>
          <a:spcPct val="0"/>
        </a:spcAft>
        <a:buChar char="»"/>
        <a:defRPr sz="2000" i="1">
          <a:solidFill>
            <a:schemeClr val="tx1"/>
          </a:solidFill>
          <a:latin typeface="+mn-lt"/>
          <a:cs typeface="+mn-cs"/>
        </a:defRPr>
      </a:lvl6pPr>
      <a:lvl7pPr marL="2971800" indent="-228600" algn="l" rtl="0" eaLnBrk="1" fontAlgn="base" hangingPunct="1">
        <a:spcBef>
          <a:spcPct val="20000"/>
        </a:spcBef>
        <a:spcAft>
          <a:spcPct val="0"/>
        </a:spcAft>
        <a:buChar char="»"/>
        <a:defRPr sz="2000" i="1">
          <a:solidFill>
            <a:schemeClr val="tx1"/>
          </a:solidFill>
          <a:latin typeface="+mn-lt"/>
          <a:cs typeface="+mn-cs"/>
        </a:defRPr>
      </a:lvl7pPr>
      <a:lvl8pPr marL="3429000" indent="-228600" algn="l" rtl="0" eaLnBrk="1" fontAlgn="base" hangingPunct="1">
        <a:spcBef>
          <a:spcPct val="20000"/>
        </a:spcBef>
        <a:spcAft>
          <a:spcPct val="0"/>
        </a:spcAft>
        <a:buChar char="»"/>
        <a:defRPr sz="2000" i="1">
          <a:solidFill>
            <a:schemeClr val="tx1"/>
          </a:solidFill>
          <a:latin typeface="+mn-lt"/>
          <a:cs typeface="+mn-cs"/>
        </a:defRPr>
      </a:lvl8pPr>
      <a:lvl9pPr marL="3886200" indent="-228600" algn="l" rtl="0" eaLnBrk="1" fontAlgn="base" hangingPunct="1">
        <a:spcBef>
          <a:spcPct val="20000"/>
        </a:spcBef>
        <a:spcAft>
          <a:spcPct val="0"/>
        </a:spcAft>
        <a:buChar char="»"/>
        <a:defRPr sz="2000" i="1">
          <a:solidFill>
            <a:schemeClr val="tx1"/>
          </a:solidFill>
          <a:latin typeface="+mn-lt"/>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753616" y="2132856"/>
            <a:ext cx="7706816" cy="2232248"/>
          </a:xfrm>
          <a:solidFill>
            <a:schemeClr val="accent5">
              <a:lumMod val="75000"/>
            </a:schemeClr>
          </a:solidFill>
        </p:spPr>
        <p:txBody>
          <a:bodyPr/>
          <a:lstStyle/>
          <a:p>
            <a:r>
              <a:rPr lang="es-MX" sz="2800" dirty="0" smtClean="0">
                <a:solidFill>
                  <a:schemeClr val="tx2"/>
                </a:solidFill>
              </a:rPr>
              <a:t>   </a:t>
            </a:r>
            <a:br>
              <a:rPr lang="es-MX" sz="2800" dirty="0" smtClean="0">
                <a:solidFill>
                  <a:schemeClr val="tx2"/>
                </a:solidFill>
              </a:rPr>
            </a:br>
            <a:r>
              <a:rPr lang="es-MX" sz="2800" dirty="0"/>
              <a:t/>
            </a:r>
            <a:br>
              <a:rPr lang="es-MX" sz="2800" dirty="0"/>
            </a:br>
            <a:r>
              <a:rPr lang="es-MX" sz="3600" b="1" i="0" kern="1200" dirty="0">
                <a:solidFill>
                  <a:schemeClr val="accent2">
                    <a:lumMod val="50000"/>
                  </a:schemeClr>
                </a:solidFill>
                <a:latin typeface="Lucida Calligraphy" pitchFamily="66" charset="0"/>
                <a:ea typeface="+mn-ea"/>
                <a:cs typeface="Times New Roman" pitchFamily="18" charset="0"/>
              </a:rPr>
              <a:t>2.5 Fase de evaluación e </a:t>
            </a:r>
            <a:r>
              <a:rPr lang="es-MX" sz="3600" b="1" i="0" kern="1200" dirty="0" smtClean="0">
                <a:solidFill>
                  <a:schemeClr val="accent2">
                    <a:lumMod val="50000"/>
                  </a:schemeClr>
                </a:solidFill>
                <a:latin typeface="Lucida Calligraphy" pitchFamily="66" charset="0"/>
                <a:ea typeface="+mn-ea"/>
                <a:cs typeface="Times New Roman" pitchFamily="18" charset="0"/>
              </a:rPr>
              <a:t>interpretación.</a:t>
            </a:r>
            <a:r>
              <a:rPr lang="es-MX" sz="3600" b="1" i="0" kern="1200" dirty="0">
                <a:solidFill>
                  <a:schemeClr val="accent2">
                    <a:lumMod val="50000"/>
                  </a:schemeClr>
                </a:solidFill>
                <a:latin typeface="Lucida Calligraphy" pitchFamily="66" charset="0"/>
                <a:ea typeface="+mn-ea"/>
                <a:cs typeface="Times New Roman" pitchFamily="18" charset="0"/>
              </a:rPr>
              <a:t/>
            </a:r>
            <a:br>
              <a:rPr lang="es-MX" sz="3600" b="1" i="0" kern="1200" dirty="0">
                <a:solidFill>
                  <a:schemeClr val="accent2">
                    <a:lumMod val="50000"/>
                  </a:schemeClr>
                </a:solidFill>
                <a:latin typeface="Lucida Calligraphy" pitchFamily="66" charset="0"/>
                <a:ea typeface="+mn-ea"/>
                <a:cs typeface="Times New Roman" pitchFamily="18" charset="0"/>
              </a:rPr>
            </a:br>
            <a:r>
              <a:rPr lang="es-MX" sz="3600" b="1" i="0" kern="1200" dirty="0">
                <a:solidFill>
                  <a:schemeClr val="accent2">
                    <a:lumMod val="50000"/>
                  </a:schemeClr>
                </a:solidFill>
                <a:latin typeface="Lucida Calligraphy" pitchFamily="66" charset="0"/>
                <a:ea typeface="+mn-ea"/>
                <a:cs typeface="Times New Roman" pitchFamily="18" charset="0"/>
              </a:rPr>
              <a:t>2.5.1 Técnicas de evaluación </a:t>
            </a:r>
            <a:r>
              <a:rPr lang="es-MX" sz="2800" b="1" dirty="0"/>
              <a:t/>
            </a:r>
            <a:br>
              <a:rPr lang="es-MX" sz="2800" b="1" dirty="0"/>
            </a:br>
            <a:r>
              <a:rPr lang="es-MX" sz="2800" b="1" dirty="0"/>
              <a:t/>
            </a:r>
            <a:br>
              <a:rPr lang="es-MX" sz="2800" b="1" dirty="0"/>
            </a:br>
            <a:endParaRPr lang="es-MX" sz="2800" b="1" dirty="0"/>
          </a:p>
        </p:txBody>
      </p:sp>
    </p:spTree>
    <p:extLst>
      <p:ext uri="{BB962C8B-B14F-4D97-AF65-F5344CB8AC3E}">
        <p14:creationId xmlns:p14="http://schemas.microsoft.com/office/powerpoint/2010/main" val="3738740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s-MX" sz="3600" b="1" i="0" kern="1200" dirty="0">
                <a:solidFill>
                  <a:schemeClr val="accent2">
                    <a:lumMod val="50000"/>
                  </a:schemeClr>
                </a:solidFill>
                <a:latin typeface="Lucida Calligraphy" pitchFamily="66" charset="0"/>
                <a:ea typeface="+mn-ea"/>
                <a:cs typeface="Times New Roman" pitchFamily="18" charset="0"/>
              </a:rPr>
              <a:t>Introducción</a:t>
            </a:r>
            <a:r>
              <a:rPr lang="es-MX" dirty="0" smtClean="0"/>
              <a:t> </a:t>
            </a:r>
            <a:endParaRPr lang="es-MX" dirty="0"/>
          </a:p>
        </p:txBody>
      </p:sp>
      <p:sp>
        <p:nvSpPr>
          <p:cNvPr id="2" name="1 CuadroTexto"/>
          <p:cNvSpPr txBox="1"/>
          <p:nvPr/>
        </p:nvSpPr>
        <p:spPr>
          <a:xfrm>
            <a:off x="1475656" y="2204864"/>
            <a:ext cx="6768752" cy="3046988"/>
          </a:xfrm>
          <a:prstGeom prst="rect">
            <a:avLst/>
          </a:prstGeom>
          <a:noFill/>
        </p:spPr>
        <p:txBody>
          <a:bodyPr wrap="square" rtlCol="0">
            <a:spAutoFit/>
          </a:bodyPr>
          <a:lstStyle/>
          <a:p>
            <a:pPr algn="just"/>
            <a:r>
              <a:rPr lang="es-MX" sz="3200" dirty="0" smtClean="0">
                <a:latin typeface="+mj-lt"/>
                <a:cs typeface="Andalus" pitchFamily="18" charset="-78"/>
              </a:rPr>
              <a:t>Medir </a:t>
            </a:r>
            <a:r>
              <a:rPr lang="es-MX" sz="3200" dirty="0">
                <a:latin typeface="+mj-lt"/>
                <a:cs typeface="Andalus" pitchFamily="18" charset="-78"/>
              </a:rPr>
              <a:t>la calidad de los patrones descubiertos por un algoritmo de minería de datos no es un problema trivial, ya que esta medida </a:t>
            </a:r>
            <a:r>
              <a:rPr lang="es-MX" sz="3200" dirty="0" smtClean="0">
                <a:latin typeface="+mj-lt"/>
                <a:cs typeface="Andalus" pitchFamily="18" charset="-78"/>
              </a:rPr>
              <a:t>puede tener varios </a:t>
            </a:r>
            <a:r>
              <a:rPr lang="es-MX" sz="3200" dirty="0">
                <a:latin typeface="+mj-lt"/>
                <a:cs typeface="Andalus" pitchFamily="18" charset="-78"/>
              </a:rPr>
              <a:t>criterios, algunos </a:t>
            </a:r>
            <a:r>
              <a:rPr lang="es-MX" sz="3200" dirty="0" smtClean="0">
                <a:latin typeface="+mj-lt"/>
                <a:cs typeface="Andalus" pitchFamily="18" charset="-78"/>
              </a:rPr>
              <a:t>de </a:t>
            </a:r>
            <a:r>
              <a:rPr lang="es-MX" sz="3200" dirty="0">
                <a:latin typeface="+mj-lt"/>
                <a:cs typeface="Andalus" pitchFamily="18" charset="-78"/>
              </a:rPr>
              <a:t>ellos bastante </a:t>
            </a:r>
            <a:r>
              <a:rPr lang="es-MX" sz="3200" dirty="0" smtClean="0">
                <a:latin typeface="+mj-lt"/>
                <a:cs typeface="Andalus" pitchFamily="18" charset="-78"/>
              </a:rPr>
              <a:t>subjetivos.</a:t>
            </a:r>
            <a:endParaRPr lang="es-MX" sz="3200" dirty="0">
              <a:latin typeface="+mj-lt"/>
              <a:cs typeface="Andalus" pitchFamily="18" charset="-78"/>
            </a:endParaRPr>
          </a:p>
        </p:txBody>
      </p:sp>
    </p:spTree>
    <p:extLst>
      <p:ext uri="{BB962C8B-B14F-4D97-AF65-F5344CB8AC3E}">
        <p14:creationId xmlns:p14="http://schemas.microsoft.com/office/powerpoint/2010/main" val="2239693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inta perforada"/>
          <p:cNvSpPr/>
          <p:nvPr/>
        </p:nvSpPr>
        <p:spPr>
          <a:xfrm>
            <a:off x="1331640" y="1412776"/>
            <a:ext cx="6552728" cy="4104456"/>
          </a:xfrm>
          <a:prstGeom prst="flowChartPunchedTape">
            <a:avLst/>
          </a:prstGeom>
          <a:ln w="571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dirty="0">
                <a:solidFill>
                  <a:schemeClr val="tx1"/>
                </a:solidFill>
                <a:cs typeface="Andalus" pitchFamily="18" charset="-78"/>
              </a:rPr>
              <a:t>Los patrones descubiertos deben tener tres cualidades: ser precisos, comprensibles (es decir inteligibles) e interesantes (útiles y novedosos).</a:t>
            </a:r>
            <a:endParaRPr lang="es-MX" dirty="0">
              <a:solidFill>
                <a:schemeClr val="tx1"/>
              </a:solidFill>
            </a:endParaRPr>
          </a:p>
        </p:txBody>
      </p:sp>
    </p:spTree>
    <p:extLst>
      <p:ext uri="{BB962C8B-B14F-4D97-AF65-F5344CB8AC3E}">
        <p14:creationId xmlns:p14="http://schemas.microsoft.com/office/powerpoint/2010/main" val="1502691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899592" y="1700808"/>
            <a:ext cx="7704856" cy="3539430"/>
          </a:xfrm>
          <a:prstGeom prst="rect">
            <a:avLst/>
          </a:prstGeom>
          <a:solidFill>
            <a:schemeClr val="bg2">
              <a:lumMod val="20000"/>
              <a:lumOff val="80000"/>
            </a:schemeClr>
          </a:solidFill>
          <a:ln w="38100">
            <a:solidFill>
              <a:schemeClr val="bg2">
                <a:lumMod val="75000"/>
              </a:schemeClr>
            </a:solidFill>
          </a:ln>
        </p:spPr>
        <p:txBody>
          <a:bodyPr wrap="square" rtlCol="0">
            <a:spAutoFit/>
          </a:bodyPr>
          <a:lstStyle/>
          <a:p>
            <a:pPr marL="571500" indent="-571500" algn="just">
              <a:buFont typeface="Wingdings" pitchFamily="2" charset="2"/>
              <a:buChar char="v"/>
            </a:pPr>
            <a:endParaRPr lang="es-MX" sz="3200" dirty="0" smtClean="0">
              <a:solidFill>
                <a:schemeClr val="tx2"/>
              </a:solidFill>
            </a:endParaRPr>
          </a:p>
          <a:p>
            <a:pPr algn="just"/>
            <a:r>
              <a:rPr lang="es-MX" sz="3200" dirty="0" smtClean="0"/>
              <a:t>P</a:t>
            </a:r>
            <a:r>
              <a:rPr lang="es-MX" sz="3200" dirty="0" smtClean="0">
                <a:solidFill>
                  <a:schemeClr val="tx2"/>
                </a:solidFill>
              </a:rPr>
              <a:t>ara entrenar y probar un modelo se parten los datos en dos conjuntos:</a:t>
            </a:r>
            <a:endParaRPr lang="es-MX" sz="3200" dirty="0">
              <a:solidFill>
                <a:schemeClr val="tx2"/>
              </a:solidFill>
            </a:endParaRPr>
          </a:p>
          <a:p>
            <a:pPr marL="571500" indent="-571500" algn="just">
              <a:buFont typeface="Wingdings" pitchFamily="2" charset="2"/>
              <a:buChar char="v"/>
            </a:pPr>
            <a:endParaRPr lang="es-MX" sz="3200" dirty="0" smtClean="0">
              <a:solidFill>
                <a:schemeClr val="tx2"/>
              </a:solidFill>
            </a:endParaRPr>
          </a:p>
          <a:p>
            <a:pPr marL="571500" indent="-571500" algn="just">
              <a:buFont typeface="Wingdings" pitchFamily="2" charset="2"/>
              <a:buChar char="v"/>
            </a:pPr>
            <a:r>
              <a:rPr lang="es-MX" sz="3200" dirty="0">
                <a:solidFill>
                  <a:schemeClr val="tx2"/>
                </a:solidFill>
              </a:rPr>
              <a:t>E</a:t>
            </a:r>
            <a:r>
              <a:rPr lang="es-MX" sz="3200" dirty="0" smtClean="0">
                <a:solidFill>
                  <a:schemeClr val="tx2"/>
                </a:solidFill>
              </a:rPr>
              <a:t>l conjunto de entrenamiento (training set) y </a:t>
            </a:r>
          </a:p>
          <a:p>
            <a:pPr marL="571500" indent="-571500" algn="just">
              <a:buFont typeface="Wingdings" pitchFamily="2" charset="2"/>
              <a:buChar char="v"/>
            </a:pPr>
            <a:r>
              <a:rPr lang="es-MX" sz="3200" dirty="0">
                <a:solidFill>
                  <a:schemeClr val="tx2"/>
                </a:solidFill>
              </a:rPr>
              <a:t>E</a:t>
            </a:r>
            <a:r>
              <a:rPr lang="es-MX" sz="3200" dirty="0" smtClean="0">
                <a:solidFill>
                  <a:schemeClr val="tx2"/>
                </a:solidFill>
              </a:rPr>
              <a:t>l conjunto de prueba o de test (test set).</a:t>
            </a:r>
            <a:endParaRPr lang="es-MX" sz="3200" dirty="0"/>
          </a:p>
        </p:txBody>
      </p:sp>
    </p:spTree>
    <p:extLst>
      <p:ext uri="{BB962C8B-B14F-4D97-AF65-F5344CB8AC3E}">
        <p14:creationId xmlns:p14="http://schemas.microsoft.com/office/powerpoint/2010/main" val="6996731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901824" y="1484784"/>
            <a:ext cx="7702624" cy="4611216"/>
          </a:xfrm>
          <a:blipFill>
            <a:blip r:embed="rId2"/>
            <a:tile tx="0" ty="0" sx="100000" sy="100000" flip="none" algn="tl"/>
          </a:blipFill>
          <a:effectLst>
            <a:glow rad="228600">
              <a:schemeClr val="accent4">
                <a:satMod val="175000"/>
                <a:alpha val="40000"/>
              </a:schemeClr>
            </a:glow>
          </a:effectLst>
        </p:spPr>
        <p:txBody>
          <a:bodyPr/>
          <a:lstStyle/>
          <a:p>
            <a:pPr algn="just"/>
            <a:r>
              <a:rPr lang="es-MX" i="0" dirty="0" smtClean="0">
                <a:solidFill>
                  <a:schemeClr val="tx1"/>
                </a:solidFill>
              </a:rPr>
              <a:t>Esta </a:t>
            </a:r>
            <a:r>
              <a:rPr lang="es-MX" i="0" dirty="0">
                <a:solidFill>
                  <a:schemeClr val="tx1"/>
                </a:solidFill>
              </a:rPr>
              <a:t>separación es necesaria para garantizar que la validación de la precisión del modelo es una medida independiente</a:t>
            </a:r>
            <a:r>
              <a:rPr lang="es-MX" i="0" dirty="0" smtClean="0">
                <a:solidFill>
                  <a:schemeClr val="tx1"/>
                </a:solidFill>
              </a:rPr>
              <a:t>.</a:t>
            </a:r>
          </a:p>
          <a:p>
            <a:pPr marL="0" indent="0" algn="just">
              <a:buNone/>
            </a:pPr>
            <a:endParaRPr lang="es-MX" i="0" dirty="0" smtClean="0">
              <a:solidFill>
                <a:schemeClr val="tx1"/>
              </a:solidFill>
            </a:endParaRPr>
          </a:p>
          <a:p>
            <a:pPr algn="just"/>
            <a:r>
              <a:rPr lang="es-MX" i="0" dirty="0" smtClean="0"/>
              <a:t>S</a:t>
            </a:r>
            <a:r>
              <a:rPr lang="es-MX" i="0" dirty="0" smtClean="0">
                <a:solidFill>
                  <a:schemeClr val="tx1"/>
                </a:solidFill>
              </a:rPr>
              <a:t>i </a:t>
            </a:r>
            <a:r>
              <a:rPr lang="es-MX" i="0" dirty="0">
                <a:solidFill>
                  <a:schemeClr val="tx1"/>
                </a:solidFill>
              </a:rPr>
              <a:t>no se usan conjuntos diferentes de entrenamiento y prueba, la precisión del modelo será </a:t>
            </a:r>
            <a:r>
              <a:rPr lang="es-MX" i="0" dirty="0" smtClean="0">
                <a:solidFill>
                  <a:schemeClr val="tx1"/>
                </a:solidFill>
              </a:rPr>
              <a:t>sobreestimada, </a:t>
            </a:r>
            <a:r>
              <a:rPr lang="es-MX" i="0" dirty="0">
                <a:solidFill>
                  <a:schemeClr val="tx1"/>
                </a:solidFill>
              </a:rPr>
              <a:t>es decir, tendremos estimaciones muy optimistas.</a:t>
            </a:r>
            <a:endParaRPr lang="es-MX" i="0" dirty="0"/>
          </a:p>
        </p:txBody>
      </p:sp>
    </p:spTree>
    <p:extLst>
      <p:ext uri="{BB962C8B-B14F-4D97-AF65-F5344CB8AC3E}">
        <p14:creationId xmlns:p14="http://schemas.microsoft.com/office/powerpoint/2010/main" val="22301001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611560" y="908720"/>
            <a:ext cx="8352928" cy="5688632"/>
          </a:xfrm>
        </p:spPr>
        <p:txBody>
          <a:bodyPr/>
          <a:lstStyle/>
          <a:p>
            <a:r>
              <a:rPr lang="es-MX" sz="2800" i="0" dirty="0"/>
              <a:t>En los modelos predictivos el uso de esta separación entre entrenamiento y prueba es fácil de interpretar</a:t>
            </a:r>
            <a:r>
              <a:rPr lang="es-MX" sz="2800" dirty="0" smtClean="0">
                <a:solidFill>
                  <a:schemeClr val="tx1"/>
                </a:solidFill>
              </a:rPr>
              <a:t>.</a:t>
            </a:r>
          </a:p>
          <a:p>
            <a:pPr marL="0" indent="0">
              <a:buNone/>
            </a:pPr>
            <a:endParaRPr lang="es-MX" sz="2800" dirty="0" smtClean="0">
              <a:solidFill>
                <a:schemeClr val="tx1"/>
              </a:solidFill>
              <a:latin typeface="+mn-lt"/>
              <a:ea typeface="+mn-ea"/>
              <a:cs typeface="+mn-cs"/>
            </a:endParaRPr>
          </a:p>
          <a:p>
            <a:pPr algn="just"/>
            <a:r>
              <a:rPr lang="es-MX" sz="2800" i="0" dirty="0"/>
              <a:t>Por ejemplo para una tarea de clasificación después de generar el modelo con el conjunto de entrenamiento este se puede usar para predecir la clase de los datos de prueba (test).Entonces la razón de precisión se obtiene dividiendo el numero de las clasificaciones correctas por el numero total de instancias</a:t>
            </a:r>
            <a:r>
              <a:rPr lang="es-MX" sz="2800" dirty="0">
                <a:solidFill>
                  <a:schemeClr val="tx1"/>
                </a:solidFill>
              </a:rPr>
              <a:t>.</a:t>
            </a:r>
            <a:endParaRPr lang="es-MX" sz="2800" dirty="0"/>
          </a:p>
        </p:txBody>
      </p:sp>
    </p:spTree>
    <p:extLst>
      <p:ext uri="{BB962C8B-B14F-4D97-AF65-F5344CB8AC3E}">
        <p14:creationId xmlns:p14="http://schemas.microsoft.com/office/powerpoint/2010/main" val="3624563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683568" y="836712"/>
            <a:ext cx="8208912" cy="5259288"/>
          </a:xfrm>
          <a:solidFill>
            <a:schemeClr val="bg1">
              <a:alpha val="81176"/>
            </a:schemeClr>
          </a:solidFill>
          <a:ln w="57150">
            <a:solidFill>
              <a:schemeClr val="accent2">
                <a:lumMod val="75000"/>
              </a:schemeClr>
            </a:solidFill>
          </a:ln>
        </p:spPr>
        <p:txBody>
          <a:bodyPr/>
          <a:lstStyle/>
          <a:p>
            <a:pPr marL="0" indent="0">
              <a:buNone/>
            </a:pPr>
            <a:r>
              <a:rPr lang="es-MX" sz="2800" i="0" dirty="0" smtClean="0">
                <a:latin typeface="+mj-lt"/>
                <a:cs typeface="Andalus" pitchFamily="18" charset="-78"/>
              </a:rPr>
              <a:t>La precisión</a:t>
            </a:r>
            <a:r>
              <a:rPr lang="es-MX" sz="2800" i="0" dirty="0" smtClean="0">
                <a:solidFill>
                  <a:schemeClr val="tx1"/>
                </a:solidFill>
                <a:latin typeface="+mj-lt"/>
                <a:cs typeface="Andalus" pitchFamily="18" charset="-78"/>
              </a:rPr>
              <a:t> </a:t>
            </a:r>
            <a:r>
              <a:rPr lang="es-MX" sz="2800" i="0" dirty="0">
                <a:solidFill>
                  <a:schemeClr val="tx1"/>
                </a:solidFill>
                <a:latin typeface="+mj-lt"/>
                <a:cs typeface="Andalus" pitchFamily="18" charset="-78"/>
              </a:rPr>
              <a:t>es una buena estimación de como se comportara el modelo para datos futuros similares a los de test</a:t>
            </a:r>
            <a:r>
              <a:rPr lang="es-MX" sz="2800" i="0" dirty="0" smtClean="0">
                <a:solidFill>
                  <a:schemeClr val="tx1"/>
                </a:solidFill>
                <a:latin typeface="+mj-lt"/>
                <a:cs typeface="Andalus" pitchFamily="18" charset="-78"/>
              </a:rPr>
              <a:t>.</a:t>
            </a:r>
          </a:p>
          <a:p>
            <a:pPr marL="0" indent="0">
              <a:buNone/>
            </a:pPr>
            <a:endParaRPr lang="es-MX" sz="2800" i="0" dirty="0" smtClean="0">
              <a:solidFill>
                <a:schemeClr val="tx1"/>
              </a:solidFill>
              <a:latin typeface="+mj-lt"/>
              <a:cs typeface="Andalus" pitchFamily="18" charset="-78"/>
            </a:endParaRPr>
          </a:p>
          <a:p>
            <a:pPr marL="0" indent="0" algn="just">
              <a:buNone/>
            </a:pPr>
            <a:r>
              <a:rPr lang="es-MX" sz="2800" i="0" dirty="0" smtClean="0">
                <a:latin typeface="+mj-lt"/>
                <a:cs typeface="Andalus" pitchFamily="18" charset="-78"/>
              </a:rPr>
              <a:t>L</a:t>
            </a:r>
            <a:r>
              <a:rPr lang="es-MX" sz="2800" i="0" dirty="0" smtClean="0">
                <a:solidFill>
                  <a:schemeClr val="tx1"/>
                </a:solidFill>
                <a:latin typeface="+mj-lt"/>
                <a:cs typeface="Andalus" pitchFamily="18" charset="-78"/>
              </a:rPr>
              <a:t>a </a:t>
            </a:r>
            <a:r>
              <a:rPr lang="es-MX" sz="2800" i="0" dirty="0">
                <a:solidFill>
                  <a:schemeClr val="tx1"/>
                </a:solidFill>
                <a:latin typeface="+mj-lt"/>
                <a:cs typeface="Andalus" pitchFamily="18" charset="-78"/>
              </a:rPr>
              <a:t>validación simple reserva un porcentaje de la base de datos como conjunto de prueba, y no lo usa para construir el </a:t>
            </a:r>
            <a:r>
              <a:rPr lang="es-MX" sz="2800" i="0" dirty="0" smtClean="0">
                <a:solidFill>
                  <a:schemeClr val="tx1"/>
                </a:solidFill>
                <a:latin typeface="+mj-lt"/>
                <a:cs typeface="Andalus" pitchFamily="18" charset="-78"/>
              </a:rPr>
              <a:t>modelo, </a:t>
            </a:r>
            <a:r>
              <a:rPr lang="es-MX" sz="2800" i="0" dirty="0">
                <a:solidFill>
                  <a:schemeClr val="tx1"/>
                </a:solidFill>
                <a:latin typeface="+mj-lt"/>
              </a:rPr>
              <a:t>este porcentaje suele variar entre el </a:t>
            </a:r>
            <a:r>
              <a:rPr lang="es-MX" sz="2800" i="0" dirty="0" smtClean="0">
                <a:solidFill>
                  <a:schemeClr val="tx1"/>
                </a:solidFill>
                <a:latin typeface="+mj-lt"/>
              </a:rPr>
              <a:t>5% y </a:t>
            </a:r>
            <a:r>
              <a:rPr lang="es-MX" sz="2800" i="0" dirty="0">
                <a:solidFill>
                  <a:schemeClr val="tx1"/>
                </a:solidFill>
                <a:latin typeface="+mj-lt"/>
              </a:rPr>
              <a:t>el 50 </a:t>
            </a:r>
            <a:r>
              <a:rPr lang="es-MX" sz="2800" i="0" dirty="0" smtClean="0">
                <a:solidFill>
                  <a:schemeClr val="tx1"/>
                </a:solidFill>
                <a:latin typeface="+mj-lt"/>
              </a:rPr>
              <a:t>% la </a:t>
            </a:r>
            <a:r>
              <a:rPr lang="es-MX" sz="2800" i="0" dirty="0">
                <a:solidFill>
                  <a:schemeClr val="tx1"/>
                </a:solidFill>
                <a:latin typeface="+mj-lt"/>
              </a:rPr>
              <a:t>división de los datos en estos dos grupos debe ser aleatoria para que la estimación sea correcta</a:t>
            </a:r>
            <a:r>
              <a:rPr lang="es-MX" dirty="0">
                <a:solidFill>
                  <a:schemeClr val="tx1"/>
                </a:solidFill>
                <a:latin typeface="+mn-lt"/>
                <a:ea typeface="+mn-ea"/>
                <a:cs typeface="+mn-cs"/>
              </a:rPr>
              <a:t>.</a:t>
            </a:r>
          </a:p>
          <a:p>
            <a:pPr marL="0" indent="0">
              <a:buNone/>
            </a:pPr>
            <a:endParaRPr lang="es-MX" dirty="0">
              <a:latin typeface="Andalus" pitchFamily="18" charset="-78"/>
              <a:cs typeface="Andalus" pitchFamily="18" charset="-78"/>
            </a:endParaRPr>
          </a:p>
        </p:txBody>
      </p:sp>
    </p:spTree>
    <p:extLst>
      <p:ext uri="{BB962C8B-B14F-4D97-AF65-F5344CB8AC3E}">
        <p14:creationId xmlns:p14="http://schemas.microsoft.com/office/powerpoint/2010/main" val="13908171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755576" y="1196752"/>
            <a:ext cx="7702624" cy="3744416"/>
          </a:xfrm>
        </p:spPr>
        <p:txBody>
          <a:bodyPr/>
          <a:lstStyle/>
          <a:p>
            <a:pPr marL="0" indent="0" algn="just">
              <a:buNone/>
            </a:pPr>
            <a:r>
              <a:rPr lang="es-MX" sz="2800" i="0" dirty="0" smtClean="0">
                <a:latin typeface="+mj-lt"/>
                <a:cs typeface="Andalus" pitchFamily="18" charset="-78"/>
              </a:rPr>
              <a:t>S</a:t>
            </a:r>
            <a:r>
              <a:rPr lang="es-MX" sz="2800" i="0" dirty="0" smtClean="0">
                <a:solidFill>
                  <a:schemeClr val="tx1"/>
                </a:solidFill>
                <a:latin typeface="+mj-lt"/>
                <a:cs typeface="Andalus" pitchFamily="18" charset="-78"/>
              </a:rPr>
              <a:t>i </a:t>
            </a:r>
            <a:r>
              <a:rPr lang="es-MX" sz="2800" i="0" dirty="0">
                <a:solidFill>
                  <a:schemeClr val="tx1"/>
                </a:solidFill>
                <a:latin typeface="+mj-lt"/>
                <a:cs typeface="Andalus" pitchFamily="18" charset="-78"/>
              </a:rPr>
              <a:t>tenemos una cantidad no muy elevada de datos para construir el modelo, puede  que no podamos </a:t>
            </a:r>
            <a:r>
              <a:rPr lang="es-MX" sz="2800" i="0" dirty="0" smtClean="0">
                <a:solidFill>
                  <a:schemeClr val="tx1"/>
                </a:solidFill>
                <a:latin typeface="+mj-lt"/>
                <a:cs typeface="Andalus" pitchFamily="18" charset="-78"/>
              </a:rPr>
              <a:t>permitimos </a:t>
            </a:r>
            <a:r>
              <a:rPr lang="es-MX" sz="2800" i="0" dirty="0">
                <a:solidFill>
                  <a:schemeClr val="tx1"/>
                </a:solidFill>
                <a:latin typeface="+mj-lt"/>
                <a:cs typeface="Andalus" pitchFamily="18" charset="-78"/>
              </a:rPr>
              <a:t>el lujo de reservar parte de los mismos para a etapa de </a:t>
            </a:r>
            <a:r>
              <a:rPr lang="es-MX" sz="2800" i="0" dirty="0" smtClean="0">
                <a:solidFill>
                  <a:schemeClr val="tx1"/>
                </a:solidFill>
                <a:latin typeface="+mj-lt"/>
                <a:cs typeface="Andalus" pitchFamily="18" charset="-78"/>
              </a:rPr>
              <a:t>evaluación, en </a:t>
            </a:r>
            <a:r>
              <a:rPr lang="es-MX" sz="2800" i="0" dirty="0">
                <a:solidFill>
                  <a:schemeClr val="tx1"/>
                </a:solidFill>
                <a:latin typeface="+mj-lt"/>
                <a:cs typeface="Andalus" pitchFamily="18" charset="-78"/>
              </a:rPr>
              <a:t>estos casos se usa un método conocido como validación cruzada (</a:t>
            </a:r>
            <a:r>
              <a:rPr lang="es-MX" sz="2800" i="0" dirty="0" err="1">
                <a:solidFill>
                  <a:schemeClr val="tx1"/>
                </a:solidFill>
                <a:latin typeface="+mj-lt"/>
                <a:cs typeface="Andalus" pitchFamily="18" charset="-78"/>
              </a:rPr>
              <a:t>croos</a:t>
            </a:r>
            <a:r>
              <a:rPr lang="es-MX" sz="2800" i="0" dirty="0">
                <a:solidFill>
                  <a:schemeClr val="tx1"/>
                </a:solidFill>
                <a:latin typeface="+mj-lt"/>
                <a:cs typeface="Andalus" pitchFamily="18" charset="-78"/>
              </a:rPr>
              <a:t> </a:t>
            </a:r>
            <a:r>
              <a:rPr lang="es-MX" sz="2800" i="0" dirty="0" err="1">
                <a:solidFill>
                  <a:schemeClr val="tx1"/>
                </a:solidFill>
                <a:latin typeface="+mj-lt"/>
                <a:cs typeface="Andalus" pitchFamily="18" charset="-78"/>
              </a:rPr>
              <a:t>validation</a:t>
            </a:r>
            <a:r>
              <a:rPr lang="es-MX" sz="2800" i="0" dirty="0">
                <a:solidFill>
                  <a:schemeClr val="tx1"/>
                </a:solidFill>
                <a:latin typeface="+mj-lt"/>
                <a:cs typeface="Andalus" pitchFamily="18" charset="-78"/>
              </a:rPr>
              <a:t>). </a:t>
            </a:r>
          </a:p>
          <a:p>
            <a:endParaRPr lang="es-MX" dirty="0"/>
          </a:p>
        </p:txBody>
      </p:sp>
    </p:spTree>
    <p:extLst>
      <p:ext uri="{BB962C8B-B14F-4D97-AF65-F5344CB8AC3E}">
        <p14:creationId xmlns:p14="http://schemas.microsoft.com/office/powerpoint/2010/main" val="5709110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683568" y="1340768"/>
            <a:ext cx="7774632" cy="3888432"/>
          </a:xfrm>
        </p:spPr>
        <p:txBody>
          <a:bodyPr/>
          <a:lstStyle/>
          <a:p>
            <a:pPr marL="0" indent="0" algn="just">
              <a:buNone/>
            </a:pPr>
            <a:r>
              <a:rPr lang="es-MX" i="0" dirty="0" smtClean="0">
                <a:solidFill>
                  <a:schemeClr val="tx1"/>
                </a:solidFill>
                <a:latin typeface="+mj-lt"/>
                <a:cs typeface="Andalus" pitchFamily="18" charset="-78"/>
              </a:rPr>
              <a:t>Los </a:t>
            </a:r>
            <a:r>
              <a:rPr lang="es-MX" i="0" dirty="0">
                <a:solidFill>
                  <a:schemeClr val="tx1"/>
                </a:solidFill>
                <a:latin typeface="+mj-lt"/>
                <a:cs typeface="Andalus" pitchFamily="18" charset="-78"/>
              </a:rPr>
              <a:t>datos se dividen aleatoriamente en dos conjuntos equitativos con los que se estima la precisión </a:t>
            </a:r>
            <a:r>
              <a:rPr lang="es-MX" i="0" dirty="0" smtClean="0">
                <a:solidFill>
                  <a:schemeClr val="tx1"/>
                </a:solidFill>
                <a:latin typeface="+mj-lt"/>
                <a:cs typeface="Andalus" pitchFamily="18" charset="-78"/>
              </a:rPr>
              <a:t>predictiva </a:t>
            </a:r>
            <a:r>
              <a:rPr lang="es-MX" i="0" dirty="0">
                <a:solidFill>
                  <a:schemeClr val="tx1"/>
                </a:solidFill>
                <a:latin typeface="+mj-lt"/>
                <a:cs typeface="Andalus" pitchFamily="18" charset="-78"/>
              </a:rPr>
              <a:t>del </a:t>
            </a:r>
            <a:r>
              <a:rPr lang="es-MX" i="0" dirty="0" smtClean="0">
                <a:solidFill>
                  <a:schemeClr val="tx1"/>
                </a:solidFill>
                <a:latin typeface="+mj-lt"/>
                <a:cs typeface="Andalus" pitchFamily="18" charset="-78"/>
              </a:rPr>
              <a:t>modelo para ello </a:t>
            </a:r>
            <a:r>
              <a:rPr lang="es-MX" i="0" dirty="0">
                <a:solidFill>
                  <a:schemeClr val="tx1"/>
                </a:solidFill>
                <a:latin typeface="+mj-lt"/>
                <a:cs typeface="Andalus" pitchFamily="18" charset="-78"/>
              </a:rPr>
              <a:t>primero se construye un modelo con el primer conjunto y se usa para predecir los resultados en el segundo conjunto y calcular un ratio de error(o de precisión).</a:t>
            </a:r>
            <a:endParaRPr lang="es-MX" i="0" dirty="0">
              <a:latin typeface="+mj-lt"/>
              <a:cs typeface="Andalus" pitchFamily="18" charset="-78"/>
            </a:endParaRPr>
          </a:p>
        </p:txBody>
      </p:sp>
    </p:spTree>
    <p:extLst>
      <p:ext uri="{BB962C8B-B14F-4D97-AF65-F5344CB8AC3E}">
        <p14:creationId xmlns:p14="http://schemas.microsoft.com/office/powerpoint/2010/main" val="4091614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611560" y="980728"/>
            <a:ext cx="7846640" cy="4392488"/>
          </a:xfrm>
        </p:spPr>
        <p:txBody>
          <a:bodyPr/>
          <a:lstStyle/>
          <a:p>
            <a:pPr marL="0" indent="0" algn="just">
              <a:buNone/>
            </a:pPr>
            <a:r>
              <a:rPr lang="es-MX" i="0" dirty="0" smtClean="0">
                <a:latin typeface="+mj-lt"/>
                <a:cs typeface="Andalus" pitchFamily="18" charset="-78"/>
              </a:rPr>
              <a:t>S</a:t>
            </a:r>
            <a:r>
              <a:rPr lang="es-MX" i="0" dirty="0" smtClean="0">
                <a:solidFill>
                  <a:schemeClr val="tx1"/>
                </a:solidFill>
                <a:latin typeface="+mj-lt"/>
                <a:cs typeface="Andalus" pitchFamily="18" charset="-78"/>
              </a:rPr>
              <a:t>e </a:t>
            </a:r>
            <a:r>
              <a:rPr lang="es-MX" i="0" dirty="0">
                <a:solidFill>
                  <a:schemeClr val="tx1"/>
                </a:solidFill>
                <a:latin typeface="+mj-lt"/>
                <a:cs typeface="Andalus" pitchFamily="18" charset="-78"/>
              </a:rPr>
              <a:t>construye un modelo con el segundo conjunto y se usa para predecir los resultados del primer conjunto, obteniéndose un segundo ratio de </a:t>
            </a:r>
            <a:r>
              <a:rPr lang="es-MX" i="0" dirty="0" smtClean="0">
                <a:solidFill>
                  <a:schemeClr val="tx1"/>
                </a:solidFill>
                <a:latin typeface="+mj-lt"/>
                <a:cs typeface="Andalus" pitchFamily="18" charset="-78"/>
              </a:rPr>
              <a:t>error Finalmente</a:t>
            </a:r>
            <a:r>
              <a:rPr lang="es-MX" i="0" dirty="0">
                <a:solidFill>
                  <a:schemeClr val="tx1"/>
                </a:solidFill>
                <a:latin typeface="+mj-lt"/>
                <a:cs typeface="Andalus" pitchFamily="18" charset="-78"/>
              </a:rPr>
              <a:t>, se </a:t>
            </a:r>
            <a:r>
              <a:rPr lang="es-MX" i="0" dirty="0" smtClean="0">
                <a:solidFill>
                  <a:schemeClr val="tx1"/>
                </a:solidFill>
                <a:latin typeface="+mj-lt"/>
                <a:cs typeface="Andalus" pitchFamily="18" charset="-78"/>
              </a:rPr>
              <a:t>construye </a:t>
            </a:r>
            <a:r>
              <a:rPr lang="es-MX" i="0" dirty="0">
                <a:solidFill>
                  <a:schemeClr val="tx1"/>
                </a:solidFill>
                <a:latin typeface="+mj-lt"/>
                <a:cs typeface="Andalus" pitchFamily="18" charset="-78"/>
              </a:rPr>
              <a:t>un modelo con todos los datos, se calcula un promedio de los ratios de error y se usa para estimar mejor su precisión.</a:t>
            </a:r>
          </a:p>
          <a:p>
            <a:endParaRPr lang="es-MX" dirty="0"/>
          </a:p>
        </p:txBody>
      </p:sp>
    </p:spTree>
    <p:extLst>
      <p:ext uri="{BB962C8B-B14F-4D97-AF65-F5344CB8AC3E}">
        <p14:creationId xmlns:p14="http://schemas.microsoft.com/office/powerpoint/2010/main" val="33326953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5800" y="568896"/>
            <a:ext cx="7918648" cy="1419944"/>
          </a:xfrm>
          <a:solidFill>
            <a:schemeClr val="accent5">
              <a:lumMod val="60000"/>
              <a:lumOff val="40000"/>
            </a:schemeClr>
          </a:solidFill>
          <a:ln w="57150">
            <a:solidFill>
              <a:srgbClr val="00B050"/>
            </a:solidFill>
          </a:ln>
        </p:spPr>
        <p:txBody>
          <a:bodyPr/>
          <a:lstStyle/>
          <a:p>
            <a:pPr algn="just"/>
            <a:r>
              <a:rPr lang="es-MX" sz="2800" dirty="0" smtClean="0">
                <a:solidFill>
                  <a:schemeClr val="tx2"/>
                </a:solidFill>
                <a:latin typeface="+mj-lt"/>
                <a:ea typeface="+mj-ea"/>
                <a:cs typeface="+mj-cs"/>
              </a:rPr>
              <a:t/>
            </a:r>
            <a:br>
              <a:rPr lang="es-MX" sz="2800" dirty="0" smtClean="0">
                <a:solidFill>
                  <a:schemeClr val="tx2"/>
                </a:solidFill>
                <a:latin typeface="+mj-lt"/>
                <a:ea typeface="+mj-ea"/>
                <a:cs typeface="+mj-cs"/>
              </a:rPr>
            </a:br>
            <a:r>
              <a:rPr lang="es-MX" sz="2800" i="0" dirty="0" smtClean="0">
                <a:solidFill>
                  <a:schemeClr val="tx2"/>
                </a:solidFill>
                <a:latin typeface="+mj-lt"/>
                <a:ea typeface="+mj-ea"/>
                <a:cs typeface="+mj-cs"/>
              </a:rPr>
              <a:t>El </a:t>
            </a:r>
            <a:r>
              <a:rPr lang="es-MX" sz="2800" i="0" dirty="0">
                <a:solidFill>
                  <a:schemeClr val="tx2"/>
                </a:solidFill>
                <a:latin typeface="+mj-lt"/>
                <a:ea typeface="+mj-ea"/>
                <a:cs typeface="+mj-cs"/>
              </a:rPr>
              <a:t>método que se usa normalmente es la validación cruzada con n </a:t>
            </a:r>
            <a:r>
              <a:rPr lang="es-MX" sz="2800" i="0" dirty="0" smtClean="0">
                <a:solidFill>
                  <a:schemeClr val="tx2"/>
                </a:solidFill>
                <a:latin typeface="+mj-lt"/>
                <a:ea typeface="+mj-ea"/>
                <a:cs typeface="+mj-cs"/>
              </a:rPr>
              <a:t>pliegues (</a:t>
            </a:r>
            <a:r>
              <a:rPr lang="es-MX" sz="2800" i="0" dirty="0">
                <a:solidFill>
                  <a:schemeClr val="tx2"/>
                </a:solidFill>
                <a:latin typeface="+mj-lt"/>
                <a:ea typeface="+mj-ea"/>
                <a:cs typeface="+mj-cs"/>
              </a:rPr>
              <a:t>n-</a:t>
            </a:r>
            <a:r>
              <a:rPr lang="es-MX" sz="2800" i="0" dirty="0" err="1">
                <a:solidFill>
                  <a:schemeClr val="tx2"/>
                </a:solidFill>
                <a:latin typeface="+mj-lt"/>
                <a:ea typeface="+mj-ea"/>
                <a:cs typeface="+mj-cs"/>
              </a:rPr>
              <a:t>fold</a:t>
            </a:r>
            <a:r>
              <a:rPr lang="es-MX" sz="2800" i="0" dirty="0">
                <a:solidFill>
                  <a:schemeClr val="tx2"/>
                </a:solidFill>
                <a:latin typeface="+mj-lt"/>
                <a:ea typeface="+mj-ea"/>
                <a:cs typeface="+mj-cs"/>
              </a:rPr>
              <a:t> </a:t>
            </a:r>
            <a:r>
              <a:rPr lang="es-MX" sz="2800" i="0" dirty="0" err="1">
                <a:solidFill>
                  <a:schemeClr val="tx2"/>
                </a:solidFill>
                <a:latin typeface="+mj-lt"/>
                <a:ea typeface="+mj-ea"/>
                <a:cs typeface="+mj-cs"/>
              </a:rPr>
              <a:t>cross</a:t>
            </a:r>
            <a:r>
              <a:rPr lang="es-MX" sz="2800" i="0" dirty="0">
                <a:solidFill>
                  <a:schemeClr val="tx2"/>
                </a:solidFill>
                <a:latin typeface="+mj-lt"/>
                <a:ea typeface="+mj-ea"/>
                <a:cs typeface="+mj-cs"/>
              </a:rPr>
              <a:t> </a:t>
            </a:r>
            <a:r>
              <a:rPr lang="es-MX" sz="2800" i="0" dirty="0" err="1">
                <a:solidFill>
                  <a:schemeClr val="tx2"/>
                </a:solidFill>
                <a:latin typeface="+mj-lt"/>
                <a:ea typeface="+mj-ea"/>
                <a:cs typeface="+mj-cs"/>
              </a:rPr>
              <a:t>validation</a:t>
            </a:r>
            <a:r>
              <a:rPr lang="es-MX" sz="2800" i="0" dirty="0">
                <a:solidFill>
                  <a:schemeClr val="tx2"/>
                </a:solidFill>
                <a:latin typeface="+mj-lt"/>
                <a:ea typeface="+mj-ea"/>
                <a:cs typeface="+mj-cs"/>
              </a:rPr>
              <a:t>).</a:t>
            </a:r>
            <a:r>
              <a:rPr lang="es-MX" dirty="0">
                <a:solidFill>
                  <a:schemeClr val="tx2"/>
                </a:solidFill>
                <a:latin typeface="+mj-lt"/>
                <a:ea typeface="+mj-ea"/>
                <a:cs typeface="+mj-cs"/>
              </a:rPr>
              <a:t/>
            </a:r>
            <a:br>
              <a:rPr lang="es-MX" dirty="0">
                <a:solidFill>
                  <a:schemeClr val="tx2"/>
                </a:solidFill>
                <a:latin typeface="+mj-lt"/>
                <a:ea typeface="+mj-ea"/>
                <a:cs typeface="+mj-cs"/>
              </a:rPr>
            </a:br>
            <a:endParaRPr lang="es-MX" dirty="0"/>
          </a:p>
        </p:txBody>
      </p:sp>
      <p:sp>
        <p:nvSpPr>
          <p:cNvPr id="4" name="3 Marcador de texto"/>
          <p:cNvSpPr>
            <a:spLocks noGrp="1"/>
          </p:cNvSpPr>
          <p:nvPr>
            <p:ph type="body" sz="half" idx="2"/>
          </p:nvPr>
        </p:nvSpPr>
        <p:spPr>
          <a:xfrm>
            <a:off x="683568" y="2276872"/>
            <a:ext cx="7846640" cy="4107160"/>
          </a:xfrm>
        </p:spPr>
        <p:txBody>
          <a:bodyPr/>
          <a:lstStyle/>
          <a:p>
            <a:pPr marL="0" indent="0" algn="just">
              <a:buNone/>
            </a:pPr>
            <a:r>
              <a:rPr lang="es-MX" i="0" dirty="0">
                <a:latin typeface="+mj-lt"/>
                <a:cs typeface="Andalus" pitchFamily="18" charset="-78"/>
              </a:rPr>
              <a:t>En este método los datos se divide aleatoriamente en n grupos, un grupo se reserva para el conjunto de prueba y con los otros n-1 restantes (juntando todos sus datos) se construye un modelo y se usa para predecir el resultado de los datos del grupo reservado.</a:t>
            </a:r>
          </a:p>
        </p:txBody>
      </p:sp>
    </p:spTree>
    <p:extLst>
      <p:ext uri="{BB962C8B-B14F-4D97-AF65-F5344CB8AC3E}">
        <p14:creationId xmlns:p14="http://schemas.microsoft.com/office/powerpoint/2010/main" val="17412811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sz="3600" b="1" i="0" kern="1200" dirty="0" err="1">
                <a:solidFill>
                  <a:schemeClr val="accent2">
                    <a:lumMod val="50000"/>
                  </a:schemeClr>
                </a:solidFill>
                <a:latin typeface="Lucida Calligraphy" pitchFamily="66" charset="0"/>
                <a:ea typeface="+mn-ea"/>
                <a:cs typeface="Times New Roman" pitchFamily="18" charset="0"/>
              </a:rPr>
              <a:t>Bootstrapping</a:t>
            </a:r>
            <a:endParaRPr lang="es-MX" sz="3600" b="1" i="0" kern="1200" dirty="0">
              <a:solidFill>
                <a:schemeClr val="accent2">
                  <a:lumMod val="50000"/>
                </a:schemeClr>
              </a:solidFill>
              <a:latin typeface="Lucida Calligraphy" pitchFamily="66" charset="0"/>
              <a:ea typeface="+mn-ea"/>
              <a:cs typeface="Times New Roman" pitchFamily="18" charset="0"/>
            </a:endParaRPr>
          </a:p>
        </p:txBody>
      </p:sp>
      <p:sp>
        <p:nvSpPr>
          <p:cNvPr id="4" name="3 Marcador de texto"/>
          <p:cNvSpPr>
            <a:spLocks noGrp="1"/>
          </p:cNvSpPr>
          <p:nvPr>
            <p:ph type="body" sz="half" idx="2"/>
          </p:nvPr>
        </p:nvSpPr>
        <p:spPr>
          <a:xfrm>
            <a:off x="829816" y="1988840"/>
            <a:ext cx="7990656" cy="4107160"/>
          </a:xfrm>
        </p:spPr>
        <p:txBody>
          <a:bodyPr/>
          <a:lstStyle/>
          <a:p>
            <a:pPr marL="0" indent="0" algn="just">
              <a:buNone/>
            </a:pPr>
            <a:r>
              <a:rPr lang="es-MX" sz="2800" i="0" dirty="0">
                <a:latin typeface="+mj-lt"/>
                <a:cs typeface="Andalus" pitchFamily="18" charset="-78"/>
              </a:rPr>
              <a:t>E</a:t>
            </a:r>
            <a:r>
              <a:rPr lang="es-MX" sz="2800" i="0" dirty="0" smtClean="0">
                <a:solidFill>
                  <a:schemeClr val="tx1"/>
                </a:solidFill>
                <a:latin typeface="+mj-lt"/>
                <a:cs typeface="Andalus" pitchFamily="18" charset="-78"/>
              </a:rPr>
              <a:t>sta </a:t>
            </a:r>
            <a:r>
              <a:rPr lang="es-MX" sz="2800" i="0" dirty="0">
                <a:solidFill>
                  <a:schemeClr val="tx1"/>
                </a:solidFill>
                <a:latin typeface="+mj-lt"/>
                <a:cs typeface="Andalus" pitchFamily="18" charset="-78"/>
              </a:rPr>
              <a:t>consiste en construir primero un modelo con todos los datos </a:t>
            </a:r>
            <a:r>
              <a:rPr lang="es-MX" sz="2800" i="0" dirty="0" smtClean="0">
                <a:solidFill>
                  <a:schemeClr val="tx1"/>
                </a:solidFill>
                <a:latin typeface="+mj-lt"/>
                <a:cs typeface="Andalus" pitchFamily="18" charset="-78"/>
              </a:rPr>
              <a:t>iniciales entonces </a:t>
            </a:r>
            <a:r>
              <a:rPr lang="es-MX" sz="2800" i="0" dirty="0">
                <a:solidFill>
                  <a:schemeClr val="tx1"/>
                </a:solidFill>
                <a:latin typeface="+mj-lt"/>
                <a:cs typeface="Andalus" pitchFamily="18" charset="-78"/>
              </a:rPr>
              <a:t>se crean numerosos conjuntos de datos llamados </a:t>
            </a:r>
            <a:r>
              <a:rPr lang="es-MX" sz="2800" i="0" dirty="0" err="1">
                <a:solidFill>
                  <a:schemeClr val="tx1"/>
                </a:solidFill>
                <a:latin typeface="+mj-lt"/>
                <a:cs typeface="Andalus" pitchFamily="18" charset="-78"/>
              </a:rPr>
              <a:t>bootstrap</a:t>
            </a:r>
            <a:r>
              <a:rPr lang="es-MX" sz="2800" i="0" dirty="0">
                <a:solidFill>
                  <a:schemeClr val="tx1"/>
                </a:solidFill>
                <a:latin typeface="+mj-lt"/>
                <a:cs typeface="Andalus" pitchFamily="18" charset="-78"/>
              </a:rPr>
              <a:t> </a:t>
            </a:r>
            <a:r>
              <a:rPr lang="es-MX" sz="2800" i="0" dirty="0" err="1">
                <a:solidFill>
                  <a:schemeClr val="tx1"/>
                </a:solidFill>
                <a:latin typeface="+mj-lt"/>
                <a:cs typeface="Andalus" pitchFamily="18" charset="-78"/>
              </a:rPr>
              <a:t>samples</a:t>
            </a:r>
            <a:r>
              <a:rPr lang="es-MX" sz="2800" i="0" dirty="0">
                <a:solidFill>
                  <a:schemeClr val="tx1"/>
                </a:solidFill>
                <a:latin typeface="+mj-lt"/>
                <a:cs typeface="Andalus" pitchFamily="18" charset="-78"/>
              </a:rPr>
              <a:t>, haciendo un muestreo de los datos originales con </a:t>
            </a:r>
            <a:r>
              <a:rPr lang="es-MX" sz="2800" i="0" dirty="0" smtClean="0">
                <a:solidFill>
                  <a:schemeClr val="tx1"/>
                </a:solidFill>
                <a:latin typeface="+mj-lt"/>
                <a:cs typeface="Andalus" pitchFamily="18" charset="-78"/>
              </a:rPr>
              <a:t>reemplazo, se </a:t>
            </a:r>
            <a:r>
              <a:rPr lang="es-MX" sz="2800" i="0" dirty="0">
                <a:solidFill>
                  <a:schemeClr val="tx1"/>
                </a:solidFill>
                <a:latin typeface="+mj-lt"/>
                <a:cs typeface="Andalus" pitchFamily="18" charset="-78"/>
              </a:rPr>
              <a:t>van  seleccionando instancias del conjunto inicial pudiendo seleccionar la misma instancia varias veces.</a:t>
            </a:r>
            <a:endParaRPr lang="es-MX" sz="2800" i="0" dirty="0">
              <a:latin typeface="+mj-lt"/>
              <a:cs typeface="Andalus" pitchFamily="18" charset="-78"/>
            </a:endParaRPr>
          </a:p>
        </p:txBody>
      </p:sp>
    </p:spTree>
    <p:extLst>
      <p:ext uri="{BB962C8B-B14F-4D97-AF65-F5344CB8AC3E}">
        <p14:creationId xmlns:p14="http://schemas.microsoft.com/office/powerpoint/2010/main" val="42038411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solidFill>
                  <a:schemeClr val="tx2"/>
                </a:solidFill>
                <a:latin typeface="+mj-lt"/>
                <a:ea typeface="+mj-ea"/>
                <a:cs typeface="+mj-cs"/>
              </a:rPr>
              <a:t/>
            </a:r>
            <a:br>
              <a:rPr lang="es-MX" dirty="0" smtClean="0">
                <a:solidFill>
                  <a:schemeClr val="tx2"/>
                </a:solidFill>
                <a:latin typeface="+mj-lt"/>
                <a:ea typeface="+mj-ea"/>
                <a:cs typeface="+mj-cs"/>
              </a:rPr>
            </a:br>
            <a:r>
              <a:rPr lang="es-MX" sz="3600" b="1" i="0" kern="1200" dirty="0">
                <a:solidFill>
                  <a:schemeClr val="accent2">
                    <a:lumMod val="50000"/>
                  </a:schemeClr>
                </a:solidFill>
                <a:latin typeface="Lucida Calligraphy" pitchFamily="66" charset="0"/>
                <a:ea typeface="+mn-ea"/>
                <a:cs typeface="Times New Roman" pitchFamily="18" charset="0"/>
              </a:rPr>
              <a:t>2.5.2 medidas de evaluación de modelos</a:t>
            </a:r>
            <a:r>
              <a:rPr lang="es-MX" dirty="0">
                <a:solidFill>
                  <a:schemeClr val="tx2"/>
                </a:solidFill>
                <a:latin typeface="+mj-lt"/>
                <a:ea typeface="+mj-ea"/>
                <a:cs typeface="+mj-cs"/>
              </a:rPr>
              <a:t/>
            </a:r>
            <a:br>
              <a:rPr lang="es-MX" dirty="0">
                <a:solidFill>
                  <a:schemeClr val="tx2"/>
                </a:solidFill>
                <a:latin typeface="+mj-lt"/>
                <a:ea typeface="+mj-ea"/>
                <a:cs typeface="+mj-cs"/>
              </a:rPr>
            </a:br>
            <a:endParaRPr lang="es-MX" dirty="0"/>
          </a:p>
        </p:txBody>
      </p:sp>
      <p:sp>
        <p:nvSpPr>
          <p:cNvPr id="4" name="3 Marcador de texto"/>
          <p:cNvSpPr>
            <a:spLocks noGrp="1"/>
          </p:cNvSpPr>
          <p:nvPr>
            <p:ph type="body" sz="half" idx="2"/>
          </p:nvPr>
        </p:nvSpPr>
        <p:spPr>
          <a:xfrm>
            <a:off x="539552" y="2060848"/>
            <a:ext cx="8280920" cy="4536504"/>
          </a:xfrm>
        </p:spPr>
        <p:txBody>
          <a:bodyPr/>
          <a:lstStyle/>
          <a:p>
            <a:pPr marL="0" indent="0" algn="just">
              <a:buNone/>
            </a:pPr>
            <a:r>
              <a:rPr lang="es-MX" sz="2800" i="0" dirty="0" smtClean="0"/>
              <a:t>E</a:t>
            </a:r>
            <a:r>
              <a:rPr lang="es-MX" sz="2800" i="0" dirty="0" smtClean="0">
                <a:solidFill>
                  <a:schemeClr val="tx1"/>
                </a:solidFill>
              </a:rPr>
              <a:t>xisten </a:t>
            </a:r>
            <a:r>
              <a:rPr lang="es-MX" sz="2800" i="0" dirty="0">
                <a:solidFill>
                  <a:schemeClr val="tx1"/>
                </a:solidFill>
              </a:rPr>
              <a:t>diferentes medidas de evaluación de los </a:t>
            </a:r>
            <a:r>
              <a:rPr lang="es-MX" sz="2800" i="0" dirty="0" smtClean="0">
                <a:solidFill>
                  <a:schemeClr val="tx1"/>
                </a:solidFill>
              </a:rPr>
              <a:t>modelos por ejemplo:</a:t>
            </a:r>
          </a:p>
          <a:p>
            <a:pPr marL="0" indent="0" algn="just">
              <a:buNone/>
            </a:pPr>
            <a:r>
              <a:rPr lang="es-MX" sz="2800" i="0" dirty="0" smtClean="0"/>
              <a:t>E</a:t>
            </a:r>
            <a:r>
              <a:rPr lang="es-MX" sz="2800" i="0" dirty="0" smtClean="0">
                <a:solidFill>
                  <a:schemeClr val="tx1"/>
                </a:solidFill>
              </a:rPr>
              <a:t>n </a:t>
            </a:r>
            <a:r>
              <a:rPr lang="es-MX" sz="2800" i="0" dirty="0">
                <a:solidFill>
                  <a:schemeClr val="tx1"/>
                </a:solidFill>
              </a:rPr>
              <a:t>el contexto de la clasificación lo normal es evaluar la calidad de los patrones encontrados con respecto a su </a:t>
            </a:r>
            <a:r>
              <a:rPr lang="es-MX" sz="2800" b="1" i="0" dirty="0">
                <a:solidFill>
                  <a:schemeClr val="tx1"/>
                </a:solidFill>
              </a:rPr>
              <a:t>precisión predictiva </a:t>
            </a:r>
            <a:r>
              <a:rPr lang="es-MX" sz="2800" i="0" dirty="0">
                <a:solidFill>
                  <a:schemeClr val="tx1"/>
                </a:solidFill>
              </a:rPr>
              <a:t>la cual se calcula como el </a:t>
            </a:r>
            <a:r>
              <a:rPr lang="es-MX" sz="2800" i="0" dirty="0" smtClean="0">
                <a:solidFill>
                  <a:schemeClr val="tx1"/>
                </a:solidFill>
              </a:rPr>
              <a:t>número </a:t>
            </a:r>
            <a:r>
              <a:rPr lang="es-MX" sz="2800" i="0" dirty="0">
                <a:solidFill>
                  <a:schemeClr val="tx1"/>
                </a:solidFill>
              </a:rPr>
              <a:t>de instancias del conjunto de prueba clasificados correctamente dividido por el </a:t>
            </a:r>
            <a:r>
              <a:rPr lang="es-MX" sz="2800" i="0" dirty="0" smtClean="0">
                <a:solidFill>
                  <a:schemeClr val="tx1"/>
                </a:solidFill>
              </a:rPr>
              <a:t>número </a:t>
            </a:r>
            <a:r>
              <a:rPr lang="es-MX" sz="2800" i="0" dirty="0">
                <a:solidFill>
                  <a:schemeClr val="tx1"/>
                </a:solidFill>
              </a:rPr>
              <a:t>de instancias totales en el conjunto de </a:t>
            </a:r>
            <a:r>
              <a:rPr lang="es-MX" sz="2800" i="0" dirty="0" smtClean="0">
                <a:solidFill>
                  <a:schemeClr val="tx1"/>
                </a:solidFill>
              </a:rPr>
              <a:t>prueba.</a:t>
            </a:r>
            <a:endParaRPr lang="es-MX" sz="2800" i="0" dirty="0"/>
          </a:p>
        </p:txBody>
      </p:sp>
    </p:spTree>
    <p:extLst>
      <p:ext uri="{BB962C8B-B14F-4D97-AF65-F5344CB8AC3E}">
        <p14:creationId xmlns:p14="http://schemas.microsoft.com/office/powerpoint/2010/main" val="25130734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901824" y="908720"/>
            <a:ext cx="7774632" cy="5040560"/>
          </a:xfrm>
        </p:spPr>
        <p:txBody>
          <a:bodyPr/>
          <a:lstStyle/>
          <a:p>
            <a:pPr marL="0" indent="0" algn="just">
              <a:buNone/>
            </a:pPr>
            <a:r>
              <a:rPr lang="es-MX" i="0" dirty="0" smtClean="0">
                <a:latin typeface="+mj-lt"/>
              </a:rPr>
              <a:t>E</a:t>
            </a:r>
            <a:r>
              <a:rPr lang="es-MX" i="0" dirty="0" smtClean="0">
                <a:solidFill>
                  <a:schemeClr val="tx1"/>
                </a:solidFill>
                <a:latin typeface="+mj-lt"/>
              </a:rPr>
              <a:t>n </a:t>
            </a:r>
            <a:r>
              <a:rPr lang="es-MX" i="0" dirty="0">
                <a:solidFill>
                  <a:schemeClr val="tx1"/>
                </a:solidFill>
                <a:latin typeface="+mj-lt"/>
              </a:rPr>
              <a:t>el caso de que la tarea sea de reglas de asociación se suele evaluar de forma separada cada una de las reglas con objeto de restringirnos a aquellos que pueden aplicarse a un mayor numero de instancias y que tienen una precisión relativamente alta sobre estas </a:t>
            </a:r>
            <a:r>
              <a:rPr lang="es-MX" i="0" dirty="0" smtClean="0">
                <a:solidFill>
                  <a:schemeClr val="tx1"/>
                </a:solidFill>
                <a:latin typeface="+mj-lt"/>
              </a:rPr>
              <a:t>instancias esto </a:t>
            </a:r>
            <a:r>
              <a:rPr lang="es-MX" i="0" dirty="0">
                <a:solidFill>
                  <a:schemeClr val="tx1"/>
                </a:solidFill>
                <a:latin typeface="+mj-lt"/>
              </a:rPr>
              <a:t>se hace en base a dos conceptos</a:t>
            </a:r>
            <a:r>
              <a:rPr lang="es-MX" i="0" dirty="0" smtClean="0">
                <a:solidFill>
                  <a:schemeClr val="tx1"/>
                </a:solidFill>
                <a:latin typeface="+mj-lt"/>
              </a:rPr>
              <a:t>:</a:t>
            </a:r>
          </a:p>
          <a:p>
            <a:pPr algn="just">
              <a:buFont typeface="Wingdings" pitchFamily="2" charset="2"/>
              <a:buChar char="v"/>
            </a:pPr>
            <a:r>
              <a:rPr lang="es-MX" i="0" dirty="0">
                <a:solidFill>
                  <a:schemeClr val="tx1"/>
                </a:solidFill>
                <a:latin typeface="+mj-lt"/>
              </a:rPr>
              <a:t>cobertura (también referida como soporte</a:t>
            </a:r>
            <a:r>
              <a:rPr lang="es-MX" i="0" dirty="0" smtClean="0">
                <a:solidFill>
                  <a:schemeClr val="tx1"/>
                </a:solidFill>
                <a:latin typeface="+mj-lt"/>
              </a:rPr>
              <a:t>)</a:t>
            </a:r>
          </a:p>
          <a:p>
            <a:pPr algn="just">
              <a:buFont typeface="Wingdings" pitchFamily="2" charset="2"/>
              <a:buChar char="v"/>
            </a:pPr>
            <a:r>
              <a:rPr lang="es-MX" i="0" dirty="0" smtClean="0">
                <a:solidFill>
                  <a:schemeClr val="tx1"/>
                </a:solidFill>
                <a:latin typeface="+mj-lt"/>
              </a:rPr>
              <a:t>confianza </a:t>
            </a:r>
            <a:endParaRPr lang="es-MX" i="0" dirty="0">
              <a:solidFill>
                <a:schemeClr val="tx1"/>
              </a:solidFill>
              <a:latin typeface="+mj-lt"/>
            </a:endParaRPr>
          </a:p>
          <a:p>
            <a:endParaRPr lang="es-MX" dirty="0"/>
          </a:p>
        </p:txBody>
      </p:sp>
    </p:spTree>
    <p:extLst>
      <p:ext uri="{BB962C8B-B14F-4D97-AF65-F5344CB8AC3E}">
        <p14:creationId xmlns:p14="http://schemas.microsoft.com/office/powerpoint/2010/main" val="4235171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298776" y="476672"/>
            <a:ext cx="8665711" cy="6192688"/>
          </a:xfrm>
        </p:spPr>
        <p:txBody>
          <a:bodyPr/>
          <a:lstStyle/>
          <a:p>
            <a:pPr marL="0" indent="0">
              <a:buNone/>
            </a:pPr>
            <a:r>
              <a:rPr lang="es-MX" i="0" dirty="0" smtClean="0"/>
              <a:t>Ejemplo : </a:t>
            </a:r>
          </a:p>
          <a:p>
            <a:pPr marL="0" indent="0">
              <a:buNone/>
            </a:pPr>
            <a:endParaRPr lang="es-MX" dirty="0"/>
          </a:p>
          <a:p>
            <a:pPr marL="0" indent="0">
              <a:buNone/>
            </a:pPr>
            <a:endParaRPr lang="es-MX" dirty="0" smtClean="0"/>
          </a:p>
          <a:p>
            <a:pPr marL="0" indent="0">
              <a:buNone/>
            </a:pPr>
            <a:endParaRPr lang="es-MX" dirty="0"/>
          </a:p>
          <a:p>
            <a:pPr marL="0" indent="0">
              <a:buNone/>
            </a:pPr>
            <a:endParaRPr lang="es-MX" dirty="0" smtClean="0"/>
          </a:p>
          <a:p>
            <a:pPr marL="0" indent="0">
              <a:buNone/>
            </a:pPr>
            <a:endParaRPr lang="es-MX" dirty="0"/>
          </a:p>
          <a:p>
            <a:pPr marL="0" indent="0">
              <a:buNone/>
            </a:pPr>
            <a:endParaRPr lang="es-MX" sz="2800" b="1" dirty="0" smtClean="0"/>
          </a:p>
          <a:p>
            <a:pPr marL="0" indent="0" algn="just">
              <a:buNone/>
            </a:pPr>
            <a:r>
              <a:rPr lang="es-MX" sz="2800" b="1" i="0" dirty="0" smtClean="0"/>
              <a:t>T</a:t>
            </a:r>
            <a:r>
              <a:rPr lang="es-MX" sz="2800" b="1" i="0" dirty="0" smtClean="0">
                <a:solidFill>
                  <a:schemeClr val="tx1"/>
                </a:solidFill>
              </a:rPr>
              <a:t>endrá </a:t>
            </a:r>
            <a:r>
              <a:rPr lang="es-MX" sz="2800" b="1" i="0" dirty="0">
                <a:solidFill>
                  <a:schemeClr val="tx1"/>
                </a:solidFill>
              </a:rPr>
              <a:t>una cobertura de 1 es decir el </a:t>
            </a:r>
            <a:r>
              <a:rPr lang="es-MX" sz="2800" b="1" i="0" dirty="0" smtClean="0">
                <a:solidFill>
                  <a:schemeClr val="tx1"/>
                </a:solidFill>
              </a:rPr>
              <a:t>número </a:t>
            </a:r>
            <a:r>
              <a:rPr lang="es-MX" sz="2800" b="1" i="0" dirty="0">
                <a:solidFill>
                  <a:schemeClr val="tx1"/>
                </a:solidFill>
              </a:rPr>
              <a:t>de días soleados y con viento débil en los que se recomienda jugar(instancia 5); y una confianza de ½ (ya que la regla también se puede aplicar ala instancia 1)</a:t>
            </a:r>
          </a:p>
          <a:p>
            <a:pPr marL="0" indent="0">
              <a:buNone/>
            </a:pPr>
            <a:endParaRPr lang="es-MX" dirty="0"/>
          </a:p>
        </p:txBody>
      </p:sp>
      <p:pic>
        <p:nvPicPr>
          <p:cNvPr id="5" name="4 Imagen"/>
          <p:cNvPicPr/>
          <p:nvPr/>
        </p:nvPicPr>
        <p:blipFill>
          <a:blip r:embed="rId2"/>
          <a:stretch>
            <a:fillRect/>
          </a:stretch>
        </p:blipFill>
        <p:spPr>
          <a:xfrm>
            <a:off x="755576" y="1384144"/>
            <a:ext cx="8058720" cy="3024336"/>
          </a:xfrm>
          <a:prstGeom prst="rect">
            <a:avLst/>
          </a:prstGeom>
        </p:spPr>
      </p:pic>
      <p:pic>
        <p:nvPicPr>
          <p:cNvPr id="6" name="5 Imagen"/>
          <p:cNvPicPr/>
          <p:nvPr/>
        </p:nvPicPr>
        <p:blipFill>
          <a:blip r:embed="rId3"/>
          <a:stretch>
            <a:fillRect/>
          </a:stretch>
        </p:blipFill>
        <p:spPr>
          <a:xfrm>
            <a:off x="2195736" y="304024"/>
            <a:ext cx="5532264" cy="1080120"/>
          </a:xfrm>
          <a:prstGeom prst="rect">
            <a:avLst/>
          </a:prstGeom>
        </p:spPr>
      </p:pic>
    </p:spTree>
    <p:extLst>
      <p:ext uri="{BB962C8B-B14F-4D97-AF65-F5344CB8AC3E}">
        <p14:creationId xmlns:p14="http://schemas.microsoft.com/office/powerpoint/2010/main" val="14112031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Documento"/>
          <p:cNvSpPr/>
          <p:nvPr/>
        </p:nvSpPr>
        <p:spPr>
          <a:xfrm>
            <a:off x="1359818" y="1340768"/>
            <a:ext cx="6480720" cy="424847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sz="2800" dirty="0">
                <a:solidFill>
                  <a:schemeClr val="tx1"/>
                </a:solidFill>
              </a:rPr>
              <a:t>Si la tarea es regresión es decir la salida del modelo es un valor numérico la manera mas habitual de evaluar un modelo es mediante el error cuadrático medio del valor predicho respecto al valor que se utiliza como validación</a:t>
            </a:r>
          </a:p>
        </p:txBody>
      </p:sp>
    </p:spTree>
    <p:extLst>
      <p:ext uri="{BB962C8B-B14F-4D97-AF65-F5344CB8AC3E}">
        <p14:creationId xmlns:p14="http://schemas.microsoft.com/office/powerpoint/2010/main" val="2462550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1403648" y="548680"/>
            <a:ext cx="7344816" cy="1200329"/>
          </a:xfrm>
          <a:prstGeom prst="rect">
            <a:avLst/>
          </a:prstGeom>
          <a:noFill/>
        </p:spPr>
        <p:txBody>
          <a:bodyPr wrap="square" rtlCol="0">
            <a:spAutoFit/>
          </a:bodyPr>
          <a:lstStyle/>
          <a:p>
            <a:pPr algn="ctr"/>
            <a:r>
              <a:rPr lang="es-MX" sz="3600" b="1" dirty="0" smtClean="0">
                <a:solidFill>
                  <a:schemeClr val="accent2">
                    <a:lumMod val="50000"/>
                  </a:schemeClr>
                </a:solidFill>
                <a:latin typeface="Lucida Calligraphy" pitchFamily="66" charset="0"/>
              </a:rPr>
              <a:t>2.5.3 Interpretación  y Contextualización</a:t>
            </a:r>
            <a:endParaRPr lang="es-MX" sz="3600" b="1" dirty="0">
              <a:solidFill>
                <a:schemeClr val="accent2">
                  <a:lumMod val="50000"/>
                </a:schemeClr>
              </a:solidFill>
              <a:latin typeface="Lucida Calligraphy" pitchFamily="66" charset="0"/>
            </a:endParaRPr>
          </a:p>
        </p:txBody>
      </p:sp>
      <p:sp>
        <p:nvSpPr>
          <p:cNvPr id="4" name="3 CuadroTexto"/>
          <p:cNvSpPr txBox="1"/>
          <p:nvPr/>
        </p:nvSpPr>
        <p:spPr>
          <a:xfrm>
            <a:off x="683568" y="2204864"/>
            <a:ext cx="8064896" cy="4154984"/>
          </a:xfrm>
          <a:prstGeom prst="rect">
            <a:avLst/>
          </a:prstGeom>
          <a:solidFill>
            <a:schemeClr val="accent5">
              <a:lumMod val="20000"/>
              <a:lumOff val="80000"/>
            </a:schemeClr>
          </a:solidFill>
        </p:spPr>
        <p:txBody>
          <a:bodyPr wrap="square" rtlCol="0">
            <a:spAutoFit/>
          </a:bodyPr>
          <a:lstStyle/>
          <a:p>
            <a:pPr algn="just"/>
            <a:r>
              <a:rPr lang="es-MX" dirty="0"/>
              <a:t>Pese a todas las medidas  vistas anteriormente, en muchos casos hay que evaluar también el contexto donde el modelo se  va a utilizar. Por ejemplo, en el caso de la clasificación y las reglas de asociación, usar la precisión como medida de calidad tiene ciertas desventajas. </a:t>
            </a:r>
            <a:endParaRPr lang="es-MX" dirty="0" smtClean="0"/>
          </a:p>
          <a:p>
            <a:pPr algn="just"/>
            <a:endParaRPr lang="es-MX" dirty="0"/>
          </a:p>
          <a:p>
            <a:pPr algn="just"/>
            <a:r>
              <a:rPr lang="es-MX" dirty="0"/>
              <a:t>En primer lugar, no tiene en cuenta el problema de tener distribuciones de clases no balanceadas, es decir, tener muchas instancias de unas clases y muy pocas o ninguna de </a:t>
            </a:r>
            <a:r>
              <a:rPr lang="es-MX" dirty="0" smtClean="0"/>
              <a:t>otras.</a:t>
            </a:r>
            <a:r>
              <a:rPr lang="es-MX" dirty="0"/>
              <a:t> Esta situación es habitual en la detección de fraudes y en el diagnóstico médico. </a:t>
            </a:r>
          </a:p>
        </p:txBody>
      </p:sp>
    </p:spTree>
    <p:extLst>
      <p:ext uri="{BB962C8B-B14F-4D97-AF65-F5344CB8AC3E}">
        <p14:creationId xmlns:p14="http://schemas.microsoft.com/office/powerpoint/2010/main" val="125857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627212" y="692696"/>
            <a:ext cx="7956376" cy="5262979"/>
          </a:xfrm>
          <a:prstGeom prst="rect">
            <a:avLst/>
          </a:prstGeom>
          <a:ln w="57150">
            <a:solidFill>
              <a:schemeClr val="accent1">
                <a:lumMod val="50000"/>
              </a:schemeClr>
            </a:solidFill>
          </a:ln>
        </p:spPr>
        <p:txBody>
          <a:bodyPr wrap="square">
            <a:spAutoFit/>
          </a:bodyPr>
          <a:lstStyle/>
          <a:p>
            <a:pPr marL="342900" indent="-342900" algn="just">
              <a:buFont typeface="Arial" pitchFamily="34" charset="0"/>
              <a:buChar char="•"/>
            </a:pPr>
            <a:r>
              <a:rPr lang="es-MX" dirty="0"/>
              <a:t>En los problemas de clasificación se usa una </a:t>
            </a:r>
            <a:r>
              <a:rPr lang="es-MX" b="1" dirty="0"/>
              <a:t>matriz de confusión</a:t>
            </a:r>
            <a:r>
              <a:rPr lang="es-MX" dirty="0"/>
              <a:t>, la cual muestra el reencuentro de casos de clases predichas y sus valores </a:t>
            </a:r>
            <a:r>
              <a:rPr lang="es-MX" dirty="0" smtClean="0"/>
              <a:t>actuales. Si </a:t>
            </a:r>
            <a:r>
              <a:rPr lang="es-MX" dirty="0"/>
              <a:t>se dispone de información sobre el coste de cada error/ acierto en la clasificación, entonces las celdas de la matriz pueden asociarse con el coste de cometer un cierto error de clasificación o de efectuar unas clasificación correcta. En este caso, la matriz suele denominarse matriz de costes de clasificación. </a:t>
            </a:r>
            <a:endParaRPr lang="es-MX" dirty="0" smtClean="0"/>
          </a:p>
          <a:p>
            <a:pPr marL="342900" indent="-342900" algn="just">
              <a:buFont typeface="Arial" pitchFamily="34" charset="0"/>
              <a:buChar char="•"/>
            </a:pPr>
            <a:endParaRPr lang="es-MX" dirty="0"/>
          </a:p>
          <a:p>
            <a:pPr marL="342900" indent="-342900" algn="just">
              <a:buFont typeface="Arial" pitchFamily="34" charset="0"/>
              <a:buChar char="•"/>
            </a:pPr>
            <a:r>
              <a:rPr lang="es-MX" dirty="0"/>
              <a:t>L</a:t>
            </a:r>
            <a:r>
              <a:rPr lang="es-MX" dirty="0" smtClean="0"/>
              <a:t>a </a:t>
            </a:r>
            <a:r>
              <a:rPr lang="es-MX" dirty="0"/>
              <a:t>precisión de un modelo no garantiza que refleje el mundo real. Normalmente, esta situación se produce al cuando al construir el modelo no hemos tenido en cuenta algunos parámetros  que implícitamente  influyen en él.</a:t>
            </a:r>
          </a:p>
        </p:txBody>
      </p:sp>
    </p:spTree>
    <p:extLst>
      <p:ext uri="{BB962C8B-B14F-4D97-AF65-F5344CB8AC3E}">
        <p14:creationId xmlns:p14="http://schemas.microsoft.com/office/powerpoint/2010/main" val="37480137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sz="3600" b="1" i="0" kern="1200" dirty="0">
                <a:solidFill>
                  <a:schemeClr val="accent2">
                    <a:lumMod val="50000"/>
                  </a:schemeClr>
                </a:solidFill>
                <a:latin typeface="Lucida Calligraphy" pitchFamily="66" charset="0"/>
                <a:ea typeface="+mn-ea"/>
                <a:cs typeface="Times New Roman" pitchFamily="18" charset="0"/>
              </a:rPr>
              <a:t>2.6 fase difusión, uso y monitorización</a:t>
            </a:r>
            <a:r>
              <a:rPr lang="es-MX" dirty="0"/>
              <a:t/>
            </a:r>
            <a:br>
              <a:rPr lang="es-MX" dirty="0"/>
            </a:br>
            <a:endParaRPr lang="es-MX" dirty="0"/>
          </a:p>
        </p:txBody>
      </p:sp>
      <p:sp>
        <p:nvSpPr>
          <p:cNvPr id="3" name="2 Rectángulo"/>
          <p:cNvSpPr/>
          <p:nvPr/>
        </p:nvSpPr>
        <p:spPr>
          <a:xfrm>
            <a:off x="683568" y="1938312"/>
            <a:ext cx="8136904" cy="4154984"/>
          </a:xfrm>
          <a:prstGeom prst="rect">
            <a:avLst/>
          </a:prstGeom>
          <a:solidFill>
            <a:schemeClr val="bg2">
              <a:lumMod val="40000"/>
              <a:lumOff val="60000"/>
            </a:schemeClr>
          </a:solidFill>
          <a:ln w="57150">
            <a:solidFill>
              <a:schemeClr val="accent2">
                <a:lumMod val="75000"/>
              </a:schemeClr>
            </a:solidFill>
          </a:ln>
        </p:spPr>
        <p:txBody>
          <a:bodyPr wrap="square">
            <a:spAutoFit/>
          </a:bodyPr>
          <a:lstStyle/>
          <a:p>
            <a:pPr marL="342900" indent="-342900" algn="just">
              <a:buFont typeface="Arial" pitchFamily="34" charset="0"/>
              <a:buChar char="•"/>
            </a:pPr>
            <a:r>
              <a:rPr lang="es-MX" dirty="0"/>
              <a:t>Una vez construido y validado el modelo puede usarse principalmente con dos finalidades: para que un analista recomiende acciones basándose en el modelo y sus resultados, o bien para aplicar el modelo a diferentes conjuntos de </a:t>
            </a:r>
            <a:r>
              <a:rPr lang="es-MX" dirty="0" smtClean="0"/>
              <a:t>datos.</a:t>
            </a:r>
          </a:p>
          <a:p>
            <a:pPr algn="just"/>
            <a:endParaRPr lang="es-MX" dirty="0"/>
          </a:p>
          <a:p>
            <a:pPr marL="342900" indent="-342900" algn="just">
              <a:buFont typeface="Arial" pitchFamily="34" charset="0"/>
              <a:buChar char="•"/>
            </a:pPr>
            <a:r>
              <a:rPr lang="es-MX" dirty="0"/>
              <a:t>Tanto el caso de una aplicación manual o automática del modelo, es necesarios su difusión, es decir que se distribuya y se comunique a los posibles usuarios, ya sea por cauces habituales dentro de la organización, reuniones, intranet, etc. El nuevo conocimiento extraído debe integrar el know-how de la organización.</a:t>
            </a:r>
          </a:p>
        </p:txBody>
      </p:sp>
    </p:spTree>
    <p:extLst>
      <p:ext uri="{BB962C8B-B14F-4D97-AF65-F5344CB8AC3E}">
        <p14:creationId xmlns:p14="http://schemas.microsoft.com/office/powerpoint/2010/main" val="18135574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755576" y="748358"/>
            <a:ext cx="7920880" cy="5632311"/>
          </a:xfrm>
          <a:prstGeom prst="rect">
            <a:avLst/>
          </a:prstGeom>
          <a:blipFill>
            <a:blip r:embed="rId2"/>
            <a:tile tx="0" ty="0" sx="100000" sy="100000" flip="none" algn="tl"/>
          </a:blipFill>
          <a:ln w="57150">
            <a:solidFill>
              <a:srgbClr val="FFC000"/>
            </a:solidFill>
          </a:ln>
        </p:spPr>
        <p:txBody>
          <a:bodyPr wrap="square">
            <a:spAutoFit/>
          </a:bodyPr>
          <a:lstStyle/>
          <a:p>
            <a:pPr marL="342900" indent="-342900" algn="just">
              <a:buFont typeface="Arial" pitchFamily="34" charset="0"/>
              <a:buChar char="•"/>
            </a:pPr>
            <a:r>
              <a:rPr lang="es-MX" dirty="0"/>
              <a:t>También es importante medir lo bien que el </a:t>
            </a:r>
            <a:r>
              <a:rPr lang="es-MX" dirty="0" smtClean="0"/>
              <a:t>modelo evoluciona</a:t>
            </a:r>
            <a:r>
              <a:rPr lang="es-MX" dirty="0"/>
              <a:t>. Aun cuando el modelo funcione bien debemos continuamente comprobar las prestaciones  del mismo. Esto se debe principalmente a que los patrones pueden </a:t>
            </a:r>
            <a:r>
              <a:rPr lang="es-MX" dirty="0" smtClean="0"/>
              <a:t>cambiar.</a:t>
            </a:r>
          </a:p>
          <a:p>
            <a:pPr algn="just"/>
            <a:endParaRPr lang="es-MX" dirty="0"/>
          </a:p>
          <a:p>
            <a:pPr algn="just"/>
            <a:endParaRPr lang="es-MX" dirty="0" smtClean="0"/>
          </a:p>
          <a:p>
            <a:pPr marL="342900" indent="-342900" algn="just">
              <a:buFont typeface="Arial" pitchFamily="34" charset="0"/>
              <a:buChar char="•"/>
            </a:pPr>
            <a:r>
              <a:rPr lang="es-MX" dirty="0"/>
              <a:t>Por ejemplo, todos los vendedores saben que las ventas se ven afectadas por factores externos como la tasa de inflación, la cual altera el comportamiento de compra de la gente. Por lo tanto, el modelo deberá ser monitorizado, lo cual significa que de tiempo en tiempo el modelo tendrá que ser re-evaluado, re-entrenado y posiblemente reconstruido completamente.</a:t>
            </a:r>
          </a:p>
          <a:p>
            <a:r>
              <a:rPr lang="es-MX" b="1" dirty="0"/>
              <a:t> </a:t>
            </a:r>
            <a:endParaRPr lang="es-MX" dirty="0"/>
          </a:p>
          <a:p>
            <a:pPr algn="just"/>
            <a:endParaRPr lang="es-MX" dirty="0"/>
          </a:p>
        </p:txBody>
      </p:sp>
    </p:spTree>
    <p:extLst>
      <p:ext uri="{BB962C8B-B14F-4D97-AF65-F5344CB8AC3E}">
        <p14:creationId xmlns:p14="http://schemas.microsoft.com/office/powerpoint/2010/main" val="3428180843"/>
      </p:ext>
    </p:extLst>
  </p:cSld>
  <p:clrMapOvr>
    <a:masterClrMapping/>
  </p:clrMapOvr>
  <p:timing>
    <p:tnLst>
      <p:par>
        <p:cTn id="1" dur="indefinite" restart="never" nodeType="tmRoot"/>
      </p:par>
    </p:tnLst>
  </p:timing>
</p:sld>
</file>

<file path=ppt/theme/theme1.xml><?xml version="1.0" encoding="utf-8"?>
<a:theme xmlns:a="http://schemas.openxmlformats.org/drawingml/2006/main" name="3">
  <a:themeElements>
    <a:clrScheme name="Tema de Offic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ema de Offic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3</Template>
  <TotalTime>523</TotalTime>
  <Words>1182</Words>
  <Application>Microsoft Office PowerPoint</Application>
  <PresentationFormat>Presentación en pantalla (4:3)</PresentationFormat>
  <Paragraphs>56</Paragraphs>
  <Slides>20</Slides>
  <Notes>0</Notes>
  <HiddenSlides>0</HiddenSlides>
  <MMClips>0</MMClips>
  <ScaleCrop>false</ScaleCrop>
  <HeadingPairs>
    <vt:vector size="4" baseType="variant">
      <vt:variant>
        <vt:lpstr>Tema</vt:lpstr>
      </vt:variant>
      <vt:variant>
        <vt:i4>1</vt:i4>
      </vt:variant>
      <vt:variant>
        <vt:lpstr>Títulos de diapositiva</vt:lpstr>
      </vt:variant>
      <vt:variant>
        <vt:i4>20</vt:i4>
      </vt:variant>
    </vt:vector>
  </HeadingPairs>
  <TitlesOfParts>
    <vt:vector size="21" baseType="lpstr">
      <vt:lpstr>3</vt:lpstr>
      <vt:lpstr>     2.5 Fase de evaluación e interpretación. 2.5.1 Técnicas de evaluación   </vt:lpstr>
      <vt:lpstr>Introducción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 El método que se usa normalmente es la validación cruzada con n pliegues (n-fold cross validation). </vt:lpstr>
      <vt:lpstr>Bootstrapping</vt:lpstr>
      <vt:lpstr> 2.5.2 medidas de evaluación de modelos </vt:lpstr>
      <vt:lpstr>Presentación de PowerPoint</vt:lpstr>
      <vt:lpstr>Presentación de PowerPoint</vt:lpstr>
      <vt:lpstr>Presentación de PowerPoint</vt:lpstr>
      <vt:lpstr>Presentación de PowerPoint</vt:lpstr>
      <vt:lpstr>Presentación de PowerPoint</vt:lpstr>
      <vt:lpstr>2.6 fase difusión, uso y monitorización </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ZALMATHADIS</dc:creator>
  <cp:lastModifiedBy>Usuario</cp:lastModifiedBy>
  <cp:revision>14</cp:revision>
  <dcterms:created xsi:type="dcterms:W3CDTF">2014-03-18T00:09:21Z</dcterms:created>
  <dcterms:modified xsi:type="dcterms:W3CDTF">2014-04-04T17:46:14Z</dcterms:modified>
</cp:coreProperties>
</file>