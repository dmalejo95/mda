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58" r:id="rId3"/>
    <p:sldId id="259" r:id="rId4"/>
    <p:sldId id="260" r:id="rId5"/>
    <p:sldId id="261" r:id="rId6"/>
    <p:sldId id="262" r:id="rId7"/>
    <p:sldId id="266" r:id="rId8"/>
    <p:sldId id="263" r:id="rId9"/>
    <p:sldId id="264" r:id="rId10"/>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839824-1BBA-49E4-BE41-AFC17296BF6E}" type="datetimeFigureOut">
              <a:rPr lang="es-MX" smtClean="0"/>
              <a:t>04/04/2014</a:t>
            </a:fld>
            <a:endParaRPr lang="es-MX"/>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7A8A22-DE09-4527-BD46-FE33951784E1}" type="slidenum">
              <a:rPr lang="es-MX" smtClean="0"/>
              <a:t>‹Nº›</a:t>
            </a:fld>
            <a:endParaRPr lang="es-MX"/>
          </a:p>
        </p:txBody>
      </p:sp>
    </p:spTree>
    <p:extLst>
      <p:ext uri="{BB962C8B-B14F-4D97-AF65-F5344CB8AC3E}">
        <p14:creationId xmlns:p14="http://schemas.microsoft.com/office/powerpoint/2010/main" val="2914566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2EB4157-960E-4722-BE2D-DF4D9F0F435F}" type="datetimeFigureOut">
              <a:rPr lang="es-MX" smtClean="0"/>
              <a:t>04/04/2014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2EB4157-960E-4722-BE2D-DF4D9F0F435F}" type="datetimeFigureOut">
              <a:rPr lang="es-MX" smtClean="0"/>
              <a:t>04/04/2014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ES" smtClean="0"/>
              <a:t>Haga clic para modificar el estilo de título del patrón</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s-ES" smtClean="0"/>
              <a:t>Haga clic para modificar el estilo de texto del patrón</a:t>
            </a:r>
          </a:p>
        </p:txBody>
      </p:sp>
      <p:sp>
        <p:nvSpPr>
          <p:cNvPr id="4" name="Date Placeholder 3"/>
          <p:cNvSpPr>
            <a:spLocks noGrp="1"/>
          </p:cNvSpPr>
          <p:nvPr>
            <p:ph type="dt" sz="half" idx="10"/>
          </p:nvPr>
        </p:nvSpPr>
        <p:spPr/>
        <p:txBody>
          <a:bodyPr/>
          <a:lstStyle/>
          <a:p>
            <a:fld id="{E2EB4157-960E-4722-BE2D-DF4D9F0F435F}" type="datetimeFigureOut">
              <a:rPr lang="es-MX" smtClean="0"/>
              <a:t>04/04/2014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2EB4157-960E-4722-BE2D-DF4D9F0F435F}" type="datetimeFigureOut">
              <a:rPr lang="es-MX" smtClean="0"/>
              <a:t>04/04/2014</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4CFB078-A498-4914-9DE2-C9997D17F49B}" type="slidenum">
              <a:rPr lang="es-MX" smtClean="0"/>
              <a:t>‹Nº›</a:t>
            </a:fld>
            <a:endParaRPr lang="es-MX"/>
          </a:p>
        </p:txBody>
      </p:sp>
      <p:sp>
        <p:nvSpPr>
          <p:cNvPr id="8" name="Title 7"/>
          <p:cNvSpPr>
            <a:spLocks noGrp="1"/>
          </p:cNvSpPr>
          <p:nvPr>
            <p:ph type="title"/>
          </p:nvPr>
        </p:nvSpPr>
        <p:spPr/>
        <p:txBody>
          <a:bodyPr/>
          <a:lstStyle/>
          <a:p>
            <a:r>
              <a:rPr lang="es-ES" smtClean="0"/>
              <a:t>Haga clic para modificar el estilo de título del patrón</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s-ES" smtClean="0"/>
              <a:t>Haga clic para modificar el estilo de texto del patrón</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s-ES" smtClean="0"/>
              <a:t>Haga clic para modificar el estilo de texto del patrón</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2EB4157-960E-4722-BE2D-DF4D9F0F435F}" type="datetimeFigureOut">
              <a:rPr lang="es-MX" smtClean="0"/>
              <a:t>04/04/2014</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E2EB4157-960E-4722-BE2D-DF4D9F0F435F}" type="datetimeFigureOut">
              <a:rPr lang="es-MX" smtClean="0"/>
              <a:t>04/04/2014</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EB4157-960E-4722-BE2D-DF4D9F0F435F}" type="datetimeFigureOut">
              <a:rPr lang="es-MX" smtClean="0"/>
              <a:t>04/04/2014</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ES" smtClean="0"/>
              <a:t>Haga clic para modificar el estilo de título del patrón</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s-ES" smtClean="0"/>
              <a:t>Haga clic para modificar el estilo de texto del patrón</a:t>
            </a:r>
          </a:p>
        </p:txBody>
      </p:sp>
      <p:sp>
        <p:nvSpPr>
          <p:cNvPr id="5" name="Date Placeholder 4"/>
          <p:cNvSpPr>
            <a:spLocks noGrp="1"/>
          </p:cNvSpPr>
          <p:nvPr>
            <p:ph type="dt" sz="half" idx="10"/>
          </p:nvPr>
        </p:nvSpPr>
        <p:spPr/>
        <p:txBody>
          <a:bodyPr/>
          <a:lstStyle/>
          <a:p>
            <a:fld id="{E2EB4157-960E-4722-BE2D-DF4D9F0F435F}" type="datetimeFigureOut">
              <a:rPr lang="es-MX" smtClean="0"/>
              <a:t>04/04/2014</a:t>
            </a:fld>
            <a:endParaRPr lang="es-MX"/>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s-MX"/>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4CFB078-A498-4914-9DE2-C9997D17F49B}" type="slidenum">
              <a:rPr lang="es-MX" smtClean="0"/>
              <a:t>‹Nº›</a:t>
            </a:fld>
            <a:endParaRPr lang="es-MX"/>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s-ES" smtClean="0"/>
              <a:t>Haga clic en el icono para agregar una imagen</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2EB4157-960E-4722-BE2D-DF4D9F0F435F}" type="datetimeFigureOut">
              <a:rPr lang="es-MX" smtClean="0"/>
              <a:t>04/04/2014</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2EB4157-960E-4722-BE2D-DF4D9F0F435F}" type="datetimeFigureOut">
              <a:rPr lang="es-MX" smtClean="0"/>
              <a:t>04/04/2014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2EB4157-960E-4722-BE2D-DF4D9F0F435F}" type="datetimeFigureOut">
              <a:rPr lang="es-MX" smtClean="0"/>
              <a:t>04/04/2014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4CFB078-A498-4914-9DE2-C9997D17F49B}" type="slidenum">
              <a:rPr lang="es-MX" smtClean="0"/>
              <a:t>‹Nº›</a:t>
            </a:fld>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E2EB4157-960E-4722-BE2D-DF4D9F0F435F}" type="datetimeFigureOut">
              <a:rPr lang="es-MX" smtClean="0"/>
              <a:t>04/04/2014</a:t>
            </a:fld>
            <a:endParaRPr lang="es-MX"/>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s-MX"/>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4CFB078-A498-4914-9DE2-C9997D17F49B}" type="slidenum">
              <a:rPr lang="es-MX" smtClean="0"/>
              <a:t>‹Nº›</a:t>
            </a:fld>
            <a:endParaRPr lang="es-MX"/>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539552" y="1100629"/>
            <a:ext cx="7804348" cy="3192468"/>
          </a:xfrm>
        </p:spPr>
        <p:style>
          <a:lnRef idx="2">
            <a:schemeClr val="accent3"/>
          </a:lnRef>
          <a:fillRef idx="1">
            <a:schemeClr val="lt1"/>
          </a:fillRef>
          <a:effectRef idx="0">
            <a:schemeClr val="accent3"/>
          </a:effectRef>
          <a:fontRef idx="minor">
            <a:schemeClr val="dk1"/>
          </a:fontRef>
        </p:style>
        <p:txBody>
          <a:bodyPr>
            <a:normAutofit/>
          </a:bodyPr>
          <a:lstStyle/>
          <a:p>
            <a:pPr algn="just">
              <a:buFont typeface="Wingdings" panose="05000000000000000000" pitchFamily="2" charset="2"/>
              <a:buChar char="Ø"/>
            </a:pPr>
            <a:r>
              <a:rPr lang="es-MX" sz="2000" b="0" dirty="0">
                <a:latin typeface="Arial" panose="020B0604020202020204" pitchFamily="34" charset="0"/>
                <a:cs typeface="Arial" panose="020B0604020202020204" pitchFamily="34" charset="0"/>
              </a:rPr>
              <a:t>El proceso tradicional de base de datos más parecido a la carga de un almacén de datos es el proceso de </a:t>
            </a:r>
            <a:r>
              <a:rPr lang="es-MX" sz="2000" b="0" i="1" dirty="0">
                <a:latin typeface="Arial" panose="020B0604020202020204" pitchFamily="34" charset="0"/>
                <a:cs typeface="Arial" panose="020B0604020202020204" pitchFamily="34" charset="0"/>
              </a:rPr>
              <a:t>migración, </a:t>
            </a:r>
            <a:r>
              <a:rPr lang="es-MX" sz="2000" b="0" dirty="0">
                <a:latin typeface="Arial" panose="020B0604020202020204" pitchFamily="34" charset="0"/>
                <a:cs typeface="Arial" panose="020B0604020202020204" pitchFamily="34" charset="0"/>
              </a:rPr>
              <a:t>aunque a diferencia de él, existe un </a:t>
            </a:r>
            <a:r>
              <a:rPr lang="es-MX" sz="2000" b="0" i="1" dirty="0">
                <a:latin typeface="Arial" panose="020B0604020202020204" pitchFamily="34" charset="0"/>
                <a:cs typeface="Arial" panose="020B0604020202020204" pitchFamily="34" charset="0"/>
              </a:rPr>
              <a:t>mantenimiento</a:t>
            </a:r>
            <a:r>
              <a:rPr lang="es-MX" sz="2000" b="0" dirty="0">
                <a:latin typeface="Arial" panose="020B0604020202020204" pitchFamily="34" charset="0"/>
                <a:cs typeface="Arial" panose="020B0604020202020204" pitchFamily="34" charset="0"/>
              </a:rPr>
              <a:t> posterior</a:t>
            </a:r>
            <a:r>
              <a:rPr lang="es-MX" sz="2000" b="0" dirty="0" smtClean="0">
                <a:latin typeface="Arial" panose="020B0604020202020204" pitchFamily="34" charset="0"/>
                <a:cs typeface="Arial" panose="020B0604020202020204" pitchFamily="34" charset="0"/>
              </a:rPr>
              <a:t>.</a:t>
            </a:r>
          </a:p>
          <a:p>
            <a:pPr algn="just">
              <a:buFont typeface="Wingdings" panose="05000000000000000000" pitchFamily="2" charset="2"/>
              <a:buChar char="Ø"/>
            </a:pPr>
            <a:endParaRPr lang="es-MX" sz="2000" b="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s-MX" sz="2000" b="0" dirty="0">
                <a:latin typeface="Arial" panose="020B0604020202020204" pitchFamily="34" charset="0"/>
                <a:cs typeface="Arial" panose="020B0604020202020204" pitchFamily="34" charset="0"/>
              </a:rPr>
              <a:t>La carga y mantenimiento de un almacén de datos es uno de los aspectos más delicados y que más esfuerzo requiere (50 % de la implantación del almacén de datos). Existe un sistema especializado para realizar estas tareas, denominado sistema ETL</a:t>
            </a:r>
            <a:r>
              <a:rPr lang="es-MX" sz="2000" b="0" dirty="0" smtClean="0">
                <a:latin typeface="Arial" panose="020B0604020202020204" pitchFamily="34" charset="0"/>
                <a:cs typeface="Arial" panose="020B0604020202020204" pitchFamily="34" charset="0"/>
              </a:rPr>
              <a:t>.</a:t>
            </a:r>
            <a:endParaRPr lang="es-MX" sz="20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504268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822960" y="1100628"/>
            <a:ext cx="7520940" cy="3120459"/>
          </a:xfrm>
        </p:spPr>
        <p:style>
          <a:lnRef idx="2">
            <a:schemeClr val="accent3"/>
          </a:lnRef>
          <a:fillRef idx="1">
            <a:schemeClr val="lt1"/>
          </a:fillRef>
          <a:effectRef idx="0">
            <a:schemeClr val="accent3"/>
          </a:effectRef>
          <a:fontRef idx="minor">
            <a:schemeClr val="dk1"/>
          </a:fontRef>
        </p:style>
        <p:txBody>
          <a:bodyPr>
            <a:noAutofit/>
          </a:bodyPr>
          <a:lstStyle/>
          <a:p>
            <a:pPr algn="just">
              <a:buFont typeface="Wingdings" panose="05000000000000000000" pitchFamily="2" charset="2"/>
              <a:buChar char="Ø"/>
            </a:pPr>
            <a:r>
              <a:rPr lang="es-MX" sz="2000" b="0" dirty="0">
                <a:latin typeface="Arial" panose="020B0604020202020204" pitchFamily="34" charset="0"/>
                <a:cs typeface="Arial" panose="020B0604020202020204" pitchFamily="34" charset="0"/>
              </a:rPr>
              <a:t>Dicho sistema no se compra en el súper mercado, ni se descarga de internet, sino que:</a:t>
            </a:r>
          </a:p>
          <a:p>
            <a:pPr lvl="0" algn="just">
              <a:buFont typeface="Wingdings" panose="05000000000000000000" pitchFamily="2" charset="2"/>
              <a:buChar char="Ø"/>
            </a:pPr>
            <a:r>
              <a:rPr lang="es-MX" sz="2000" b="0" dirty="0">
                <a:latin typeface="Arial" panose="020B0604020202020204" pitchFamily="34" charset="0"/>
                <a:cs typeface="Arial" panose="020B0604020202020204" pitchFamily="34" charset="0"/>
              </a:rPr>
              <a:t>La construcción del ETL es responsabilidad del equipo de desarrollo del almacén de datos y se realiza específicamente para cada almacén de datos.</a:t>
            </a:r>
          </a:p>
          <a:p>
            <a:pPr algn="just">
              <a:buFont typeface="Wingdings" panose="05000000000000000000" pitchFamily="2" charset="2"/>
              <a:buChar char="Ø"/>
            </a:pPr>
            <a:r>
              <a:rPr lang="es-MX" sz="2000" b="0" dirty="0">
                <a:latin typeface="Arial" panose="020B0604020202020204" pitchFamily="34" charset="0"/>
                <a:cs typeface="Arial" panose="020B0604020202020204" pitchFamily="34" charset="0"/>
              </a:rPr>
              <a:t>Los procesos ETL es una parte de la integración de datos, es un elemento importante cuya función completa el resultado de todo el desarrollo de la cohesión de aplicaciones y sistemas.</a:t>
            </a:r>
          </a:p>
        </p:txBody>
      </p:sp>
      <p:pic>
        <p:nvPicPr>
          <p:cNvPr id="1026" name="Picture 2" descr="http://www.dataprix.com/files/uploads/2image/Powerdata/ProcesosETL.jpg"/>
          <p:cNvPicPr>
            <a:picLocks noChangeAspect="1" noChangeArrowheads="1"/>
          </p:cNvPicPr>
          <p:nvPr/>
        </p:nvPicPr>
        <p:blipFill rotWithShape="1">
          <a:blip r:embed="rId2">
            <a:extLst>
              <a:ext uri="{28A0092B-C50C-407E-A947-70E740481C1C}">
                <a14:useLocalDpi xmlns:a14="http://schemas.microsoft.com/office/drawing/2010/main" val="0"/>
              </a:ext>
            </a:extLst>
          </a:blip>
          <a:srcRect t="7966" r="2789" b="16558"/>
          <a:stretch/>
        </p:blipFill>
        <p:spPr bwMode="auto">
          <a:xfrm>
            <a:off x="4180984" y="4866640"/>
            <a:ext cx="4963016" cy="1991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42188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88640"/>
            <a:ext cx="8147248" cy="741184"/>
          </a:xfrm>
        </p:spPr>
        <p:style>
          <a:lnRef idx="0">
            <a:schemeClr val="accent3"/>
          </a:lnRef>
          <a:fillRef idx="3">
            <a:schemeClr val="accent3"/>
          </a:fillRef>
          <a:effectRef idx="3">
            <a:schemeClr val="accent3"/>
          </a:effectRef>
          <a:fontRef idx="minor">
            <a:schemeClr val="lt1"/>
          </a:fontRef>
        </p:style>
        <p:txBody>
          <a:bodyPr>
            <a:normAutofit fontScale="92500"/>
          </a:bodyPr>
          <a:lstStyle/>
          <a:p>
            <a:r>
              <a:rPr lang="es-MX" sz="2800" i="1" dirty="0"/>
              <a:t>La palabra ETL corresponde a las siglas en inglés de:</a:t>
            </a:r>
            <a:endParaRPr lang="es-MX" sz="2800" dirty="0"/>
          </a:p>
          <a:p>
            <a:pPr marL="0" indent="0">
              <a:buNone/>
            </a:pPr>
            <a:endParaRPr lang="es-MX" sz="2800" dirty="0"/>
          </a:p>
        </p:txBody>
      </p:sp>
      <p:sp>
        <p:nvSpPr>
          <p:cNvPr id="8" name="7 Elipse"/>
          <p:cNvSpPr/>
          <p:nvPr/>
        </p:nvSpPr>
        <p:spPr>
          <a:xfrm>
            <a:off x="35496" y="980728"/>
            <a:ext cx="3456384" cy="3332584"/>
          </a:xfrm>
          <a:prstGeom prst="ellipse">
            <a:avLst/>
          </a:prstGeom>
          <a:solidFill>
            <a:srgbClr val="FF0000"/>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s-MX" sz="3600" b="1" dirty="0" smtClean="0">
                <a:solidFill>
                  <a:schemeClr val="bg1"/>
                </a:solidFill>
                <a:latin typeface="Bookman Old Style" panose="02050604050505020204" pitchFamily="18" charset="0"/>
              </a:rPr>
              <a:t>Extraer: extract.</a:t>
            </a:r>
          </a:p>
        </p:txBody>
      </p:sp>
      <p:sp>
        <p:nvSpPr>
          <p:cNvPr id="9" name="8 Elipse"/>
          <p:cNvSpPr/>
          <p:nvPr/>
        </p:nvSpPr>
        <p:spPr>
          <a:xfrm>
            <a:off x="4716016" y="1090144"/>
            <a:ext cx="4304704" cy="3851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000" b="1" dirty="0" smtClean="0">
                <a:latin typeface="Bookman Old Style" panose="02050604050505020204" pitchFamily="18" charset="0"/>
                <a:cs typeface="Arial" panose="020B0604020202020204" pitchFamily="34" charset="0"/>
              </a:rPr>
              <a:t> Transformar: </a:t>
            </a:r>
          </a:p>
          <a:p>
            <a:pPr algn="ctr"/>
            <a:r>
              <a:rPr lang="es-MX" sz="3000" b="1" dirty="0" smtClean="0">
                <a:latin typeface="Bookman Old Style" panose="02050604050505020204" pitchFamily="18" charset="0"/>
                <a:cs typeface="Arial" panose="020B0604020202020204" pitchFamily="34" charset="0"/>
              </a:rPr>
              <a:t>transform.</a:t>
            </a:r>
          </a:p>
          <a:p>
            <a:pPr algn="ctr"/>
            <a:endParaRPr lang="es-MX" sz="3000" dirty="0"/>
          </a:p>
        </p:txBody>
      </p:sp>
      <p:sp>
        <p:nvSpPr>
          <p:cNvPr id="10" name="9 Elipse"/>
          <p:cNvSpPr/>
          <p:nvPr/>
        </p:nvSpPr>
        <p:spPr>
          <a:xfrm>
            <a:off x="2231048" y="3789040"/>
            <a:ext cx="3277056" cy="306896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200" b="1" dirty="0" smtClean="0">
                <a:latin typeface="Bookman Old Style" panose="02050604050505020204" pitchFamily="18" charset="0"/>
                <a:cs typeface="Arial" panose="020B0604020202020204" pitchFamily="34" charset="0"/>
              </a:rPr>
              <a:t>Cargar:</a:t>
            </a:r>
          </a:p>
          <a:p>
            <a:pPr algn="ctr"/>
            <a:r>
              <a:rPr lang="es-MX" sz="3200" b="1" dirty="0" smtClean="0">
                <a:latin typeface="Bookman Old Style" panose="02050604050505020204" pitchFamily="18" charset="0"/>
                <a:cs typeface="Arial" panose="020B0604020202020204" pitchFamily="34" charset="0"/>
              </a:rPr>
              <a:t> load.</a:t>
            </a:r>
          </a:p>
          <a:p>
            <a:pPr algn="ctr"/>
            <a:endParaRPr lang="es-MX" sz="3200" dirty="0">
              <a:latin typeface="Bookman Old Style" panose="02050604050505020204" pitchFamily="18" charset="0"/>
            </a:endParaRPr>
          </a:p>
        </p:txBody>
      </p:sp>
    </p:spTree>
    <p:extLst>
      <p:ext uri="{BB962C8B-B14F-4D97-AF65-F5344CB8AC3E}">
        <p14:creationId xmlns:p14="http://schemas.microsoft.com/office/powerpoint/2010/main" val="358609883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7 Grupo"/>
          <p:cNvGrpSpPr/>
          <p:nvPr/>
        </p:nvGrpSpPr>
        <p:grpSpPr>
          <a:xfrm>
            <a:off x="1043608" y="404666"/>
            <a:ext cx="7200800" cy="2387650"/>
            <a:chOff x="1043608" y="404666"/>
            <a:chExt cx="7200800" cy="2387650"/>
          </a:xfrm>
        </p:grpSpPr>
        <p:sp>
          <p:nvSpPr>
            <p:cNvPr id="6" name="5 Flecha doblada"/>
            <p:cNvSpPr/>
            <p:nvPr/>
          </p:nvSpPr>
          <p:spPr>
            <a:xfrm rot="5400000">
              <a:off x="5742132" y="458670"/>
              <a:ext cx="972106" cy="864097"/>
            </a:xfrm>
            <a:prstGeom prst="ben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MX">
                <a:solidFill>
                  <a:schemeClr val="tx1"/>
                </a:solidFill>
              </a:endParaRPr>
            </a:p>
          </p:txBody>
        </p:sp>
        <p:sp>
          <p:nvSpPr>
            <p:cNvPr id="7" name="6 Rectángulo"/>
            <p:cNvSpPr/>
            <p:nvPr/>
          </p:nvSpPr>
          <p:spPr>
            <a:xfrm>
              <a:off x="1043608" y="1424164"/>
              <a:ext cx="7200800" cy="136815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s-MX" sz="2400" dirty="0" smtClean="0"/>
                <a:t>Para llevar a cabo de manera correcta el proceso de extracción, primera fase del ETL, hay que seguir los siguientes pasos:</a:t>
              </a:r>
              <a:endParaRPr lang="es-MX" sz="2400" dirty="0"/>
            </a:p>
          </p:txBody>
        </p:sp>
      </p:grpSp>
      <p:sp>
        <p:nvSpPr>
          <p:cNvPr id="4" name="3 Rectángulo redondeado"/>
          <p:cNvSpPr/>
          <p:nvPr/>
        </p:nvSpPr>
        <p:spPr>
          <a:xfrm>
            <a:off x="2987824" y="188640"/>
            <a:ext cx="2808312" cy="79208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MX" sz="2000" b="1" dirty="0" smtClean="0">
                <a:latin typeface="Arial" panose="020B0604020202020204" pitchFamily="34" charset="0"/>
                <a:cs typeface="Arial" panose="020B0604020202020204" pitchFamily="34" charset="0"/>
              </a:rPr>
              <a:t>Fase de Extracción</a:t>
            </a:r>
            <a:endParaRPr lang="es-MX" sz="2000" dirty="0" smtClean="0">
              <a:latin typeface="Arial" panose="020B0604020202020204" pitchFamily="34" charset="0"/>
              <a:cs typeface="Arial" panose="020B0604020202020204" pitchFamily="34" charset="0"/>
            </a:endParaRPr>
          </a:p>
        </p:txBody>
      </p:sp>
      <p:sp>
        <p:nvSpPr>
          <p:cNvPr id="9" name="8 Rectángulo"/>
          <p:cNvSpPr/>
          <p:nvPr/>
        </p:nvSpPr>
        <p:spPr>
          <a:xfrm>
            <a:off x="289992" y="3861048"/>
            <a:ext cx="8568952" cy="284784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s-MX" sz="2700" dirty="0" smtClean="0"/>
              <a:t>● Extraer los datos desde los sistemas de origen.</a:t>
            </a:r>
          </a:p>
          <a:p>
            <a:pPr algn="just"/>
            <a:r>
              <a:rPr lang="es-MX" sz="2700" dirty="0" smtClean="0"/>
              <a:t>● Analizar los datos extraídos obteniendo un chequeo.</a:t>
            </a:r>
          </a:p>
          <a:p>
            <a:pPr algn="just"/>
            <a:r>
              <a:rPr lang="es-MX" sz="2700" dirty="0" smtClean="0"/>
              <a:t>● Interpretar este chequeo para verificar que los datos extraídos cumplen la pauta o estructura que se esperaba.</a:t>
            </a:r>
          </a:p>
          <a:p>
            <a:pPr algn="just"/>
            <a:r>
              <a:rPr lang="es-MX" sz="2700" dirty="0" smtClean="0"/>
              <a:t>● Convertir los datos a un formato preparado para iniciar el proceso de transformación.</a:t>
            </a:r>
          </a:p>
        </p:txBody>
      </p:sp>
      <p:cxnSp>
        <p:nvCxnSpPr>
          <p:cNvPr id="15" name="14 Conector curvado"/>
          <p:cNvCxnSpPr/>
          <p:nvPr/>
        </p:nvCxnSpPr>
        <p:spPr>
          <a:xfrm rot="5400000">
            <a:off x="4505686" y="2930638"/>
            <a:ext cx="1068732" cy="792088"/>
          </a:xfrm>
          <a:prstGeom prst="curvedConnector3">
            <a:avLst>
              <a:gd name="adj1" fmla="val 42395"/>
            </a:avLst>
          </a:prstGeom>
          <a:ln>
            <a:tailEnd type="arrow"/>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440245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Elipse"/>
          <p:cNvSpPr/>
          <p:nvPr/>
        </p:nvSpPr>
        <p:spPr>
          <a:xfrm>
            <a:off x="395536" y="620688"/>
            <a:ext cx="3672408" cy="1584176"/>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MX" sz="2800" b="1" dirty="0"/>
              <a:t>Fase de Transformación</a:t>
            </a:r>
          </a:p>
        </p:txBody>
      </p:sp>
      <p:sp>
        <p:nvSpPr>
          <p:cNvPr id="13" name="12 Redondear rectángulo de esquina diagonal"/>
          <p:cNvSpPr/>
          <p:nvPr/>
        </p:nvSpPr>
        <p:spPr>
          <a:xfrm>
            <a:off x="4499992" y="404664"/>
            <a:ext cx="4536504" cy="5184576"/>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sz="2400" dirty="0"/>
              <a:t>La fase de transformación de un proceso de ETL aplica una serie de reglas de negocio o </a:t>
            </a:r>
            <a:r>
              <a:rPr lang="es-MX" sz="2400" dirty="0" smtClean="0"/>
              <a:t>funciones </a:t>
            </a:r>
            <a:r>
              <a:rPr lang="es-MX" sz="2400" dirty="0"/>
              <a:t>sobre los datos extraídos para convertirlos en datos que serán cargados. Estas directrices pueden ser declarativas, pueden basarse en excepciones o restricciones pero, para potenciar su pragmatismo y eficacia, hay que asegurarse de que sean</a:t>
            </a:r>
            <a:r>
              <a:rPr lang="es-MX" sz="2400" dirty="0" smtClean="0"/>
              <a:t>:</a:t>
            </a:r>
            <a:endParaRPr lang="es-MX" sz="2400" dirty="0"/>
          </a:p>
        </p:txBody>
      </p:sp>
      <p:sp>
        <p:nvSpPr>
          <p:cNvPr id="14" name="13 Paralelogramo"/>
          <p:cNvSpPr/>
          <p:nvPr/>
        </p:nvSpPr>
        <p:spPr>
          <a:xfrm>
            <a:off x="44192" y="3068960"/>
            <a:ext cx="4383792" cy="3816424"/>
          </a:xfrm>
          <a:prstGeom prst="parallelogram">
            <a:avLst>
              <a:gd name="adj" fmla="val 16481"/>
            </a:avLst>
          </a:prstGeom>
        </p:spPr>
        <p:style>
          <a:lnRef idx="1">
            <a:schemeClr val="accent5"/>
          </a:lnRef>
          <a:fillRef idx="2">
            <a:schemeClr val="accent5"/>
          </a:fillRef>
          <a:effectRef idx="1">
            <a:schemeClr val="accent5"/>
          </a:effectRef>
          <a:fontRef idx="minor">
            <a:schemeClr val="dk1"/>
          </a:fontRef>
        </p:style>
        <p:txBody>
          <a:bodyPr rtlCol="0" anchor="ctr"/>
          <a:lstStyle/>
          <a:p>
            <a:r>
              <a:rPr lang="es-MX" sz="2400" dirty="0"/>
              <a:t>● Declarativas.</a:t>
            </a:r>
          </a:p>
          <a:p>
            <a:r>
              <a:rPr lang="es-MX" sz="2400" dirty="0"/>
              <a:t>● Independientes.</a:t>
            </a:r>
          </a:p>
          <a:p>
            <a:r>
              <a:rPr lang="es-MX" sz="2400" dirty="0"/>
              <a:t>● Claras.</a:t>
            </a:r>
          </a:p>
          <a:p>
            <a:r>
              <a:rPr lang="es-MX" sz="2400" dirty="0"/>
              <a:t>● Inteligibles.</a:t>
            </a:r>
          </a:p>
          <a:p>
            <a:r>
              <a:rPr lang="es-MX" sz="2400" dirty="0"/>
              <a:t>● Con una finalidad útil para el negocio.</a:t>
            </a:r>
          </a:p>
          <a:p>
            <a:pPr algn="ctr"/>
            <a:endParaRPr lang="es-MX" sz="2400" dirty="0"/>
          </a:p>
        </p:txBody>
      </p:sp>
    </p:spTree>
    <p:extLst>
      <p:ext uri="{BB962C8B-B14F-4D97-AF65-F5344CB8AC3E}">
        <p14:creationId xmlns:p14="http://schemas.microsoft.com/office/powerpoint/2010/main" val="309612222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dondear rectángulo de esquina diagonal"/>
          <p:cNvSpPr/>
          <p:nvPr/>
        </p:nvSpPr>
        <p:spPr>
          <a:xfrm>
            <a:off x="5457016" y="295296"/>
            <a:ext cx="2592288" cy="864096"/>
          </a:xfrm>
          <a:prstGeom prst="round2Diag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MX" sz="2400" b="1" dirty="0"/>
              <a:t>Proceso de </a:t>
            </a:r>
            <a:r>
              <a:rPr lang="es-MX" sz="2400" b="1" dirty="0" smtClean="0"/>
              <a:t>Carga</a:t>
            </a:r>
            <a:endParaRPr lang="es-MX" sz="2400" b="1" dirty="0"/>
          </a:p>
        </p:txBody>
      </p:sp>
      <p:sp>
        <p:nvSpPr>
          <p:cNvPr id="5" name="4 Redondear rectángulo de esquina diagonal"/>
          <p:cNvSpPr/>
          <p:nvPr/>
        </p:nvSpPr>
        <p:spPr>
          <a:xfrm>
            <a:off x="827584" y="1159392"/>
            <a:ext cx="4320480" cy="5258712"/>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MX" sz="2800" dirty="0"/>
              <a:t>En esta fase, los datos procedentes de la fase anterior (fase de transformación) son cargados en el sistema de destino. Dependiendo de los requerimientos de la organización, este proceso puede abarcar una amplia variedad de acciones diferentes</a:t>
            </a:r>
            <a:r>
              <a:rPr lang="es-MX" sz="2800" dirty="0" smtClean="0"/>
              <a:t>.</a:t>
            </a:r>
            <a:endParaRPr lang="es-MX" sz="2800" dirty="0"/>
          </a:p>
        </p:txBody>
      </p:sp>
    </p:spTree>
    <p:extLst>
      <p:ext uri="{BB962C8B-B14F-4D97-AF65-F5344CB8AC3E}">
        <p14:creationId xmlns:p14="http://schemas.microsoft.com/office/powerpoint/2010/main" val="2940504155"/>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31640" y="260648"/>
            <a:ext cx="5045184" cy="548640"/>
          </a:xfrm>
        </p:spPr>
        <p:style>
          <a:lnRef idx="0">
            <a:schemeClr val="accent3"/>
          </a:lnRef>
          <a:fillRef idx="3">
            <a:schemeClr val="accent3"/>
          </a:fillRef>
          <a:effectRef idx="3">
            <a:schemeClr val="accent3"/>
          </a:effectRef>
          <a:fontRef idx="minor">
            <a:schemeClr val="lt1"/>
          </a:fontRef>
        </p:style>
        <p:txBody>
          <a:bodyPr/>
          <a:lstStyle/>
          <a:p>
            <a:r>
              <a:rPr lang="es-MX" dirty="0" smtClean="0"/>
              <a:t>Grafica de un sistema etl</a:t>
            </a:r>
            <a:endParaRPr lang="es-MX" dirty="0"/>
          </a:p>
        </p:txBody>
      </p:sp>
      <p:pic>
        <p:nvPicPr>
          <p:cNvPr id="4" name="3 Imagen" descr="C:\Users\Jose Manuel\Desktop\20140319_154013.jpg"/>
          <p:cNvPicPr/>
          <p:nvPr/>
        </p:nvPicPr>
        <p:blipFill rotWithShape="1">
          <a:blip r:embed="rId2" cstate="print">
            <a:extLst>
              <a:ext uri="{28A0092B-C50C-407E-A947-70E740481C1C}">
                <a14:useLocalDpi xmlns:a14="http://schemas.microsoft.com/office/drawing/2010/main" val="0"/>
              </a:ext>
            </a:extLst>
          </a:blip>
          <a:srcRect t="32323" b="6061"/>
          <a:stretch/>
        </p:blipFill>
        <p:spPr bwMode="auto">
          <a:xfrm>
            <a:off x="395536" y="1196752"/>
            <a:ext cx="7736224" cy="3768318"/>
          </a:xfrm>
          <a:prstGeom prst="rect">
            <a:avLst/>
          </a:prstGeom>
          <a:ln/>
          <a:extLst>
            <a:ext uri="{53640926-AAD7-44D8-BBD7-CCE9431645EC}">
              <a14:shadowObscured xmlns:a14="http://schemas.microsoft.com/office/drawing/2010/main"/>
            </a:ext>
          </a:extLst>
        </p:spPr>
        <p:style>
          <a:lnRef idx="0">
            <a:schemeClr val="accent3"/>
          </a:lnRef>
          <a:fillRef idx="3">
            <a:schemeClr val="accent3"/>
          </a:fillRef>
          <a:effectRef idx="3">
            <a:schemeClr val="accent3"/>
          </a:effectRef>
          <a:fontRef idx="minor">
            <a:schemeClr val="lt1"/>
          </a:fontRef>
        </p:style>
      </p:pic>
    </p:spTree>
    <p:extLst>
      <p:ext uri="{BB962C8B-B14F-4D97-AF65-F5344CB8AC3E}">
        <p14:creationId xmlns:p14="http://schemas.microsoft.com/office/powerpoint/2010/main" val="31274706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2960" y="44624"/>
            <a:ext cx="7520940" cy="1080120"/>
          </a:xfrm>
        </p:spPr>
        <p:style>
          <a:lnRef idx="3">
            <a:schemeClr val="lt1"/>
          </a:lnRef>
          <a:fillRef idx="1">
            <a:schemeClr val="accent4"/>
          </a:fillRef>
          <a:effectRef idx="1">
            <a:schemeClr val="accent4"/>
          </a:effectRef>
          <a:fontRef idx="minor">
            <a:schemeClr val="lt1"/>
          </a:fontRef>
        </p:style>
        <p:txBody>
          <a:bodyPr/>
          <a:lstStyle/>
          <a:p>
            <a:r>
              <a:rPr lang="es-MX" dirty="0" smtClean="0"/>
              <a:t>Dentro de las tareas que realiza el etl destacan:</a:t>
            </a:r>
            <a:endParaRPr lang="es-MX" dirty="0"/>
          </a:p>
        </p:txBody>
      </p:sp>
      <p:grpSp>
        <p:nvGrpSpPr>
          <p:cNvPr id="8" name="7 Grupo"/>
          <p:cNvGrpSpPr/>
          <p:nvPr/>
        </p:nvGrpSpPr>
        <p:grpSpPr>
          <a:xfrm>
            <a:off x="-99248" y="1268760"/>
            <a:ext cx="4887272" cy="5285112"/>
            <a:chOff x="-99248" y="1268760"/>
            <a:chExt cx="4887272" cy="5285112"/>
          </a:xfrm>
        </p:grpSpPr>
        <p:sp>
          <p:nvSpPr>
            <p:cNvPr id="5" name="4 Redondear rectángulo de esquina diagonal"/>
            <p:cNvSpPr/>
            <p:nvPr/>
          </p:nvSpPr>
          <p:spPr>
            <a:xfrm>
              <a:off x="32360" y="1268760"/>
              <a:ext cx="3302680" cy="900544"/>
            </a:xfrm>
            <a:prstGeom prst="round2Diag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MX" sz="2000" b="1" dirty="0" smtClean="0">
                  <a:latin typeface="Arial" panose="020B0604020202020204" pitchFamily="34" charset="0"/>
                  <a:cs typeface="Arial" panose="020B0604020202020204" pitchFamily="34" charset="0"/>
                </a:rPr>
                <a:t>Lectura de datos transaccionales</a:t>
              </a:r>
              <a:endParaRPr lang="es-MX" sz="2000" b="1" dirty="0">
                <a:latin typeface="Arial" panose="020B0604020202020204" pitchFamily="34" charset="0"/>
                <a:cs typeface="Arial" panose="020B0604020202020204" pitchFamily="34" charset="0"/>
              </a:endParaRPr>
            </a:p>
          </p:txBody>
        </p:sp>
        <p:sp>
          <p:nvSpPr>
            <p:cNvPr id="4" name="3 Lágrima"/>
            <p:cNvSpPr/>
            <p:nvPr/>
          </p:nvSpPr>
          <p:spPr>
            <a:xfrm>
              <a:off x="-99248" y="1988840"/>
              <a:ext cx="4887272" cy="4565032"/>
            </a:xfrm>
            <a:prstGeom prst="teardrop">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MX" sz="2400" dirty="0" smtClean="0"/>
                <a:t>Se </a:t>
              </a:r>
              <a:r>
                <a:rPr lang="es-MX" sz="2400" dirty="0"/>
                <a:t>trata generalmente de obtener los datos mediante consultas SQL sobre la base de datos transaccional. Generalmente se intenta que esta lectura sea en horarios de poca carga transaccional (fines de semana o noches</a:t>
              </a:r>
              <a:r>
                <a:rPr lang="es-MX" sz="2400" dirty="0" smtClean="0"/>
                <a:t>).</a:t>
              </a:r>
              <a:endParaRPr lang="es-MX" sz="2400" dirty="0"/>
            </a:p>
          </p:txBody>
        </p:sp>
      </p:grpSp>
      <p:grpSp>
        <p:nvGrpSpPr>
          <p:cNvPr id="9" name="8 Grupo"/>
          <p:cNvGrpSpPr/>
          <p:nvPr/>
        </p:nvGrpSpPr>
        <p:grpSpPr>
          <a:xfrm>
            <a:off x="4283968" y="1257960"/>
            <a:ext cx="5409872" cy="5600040"/>
            <a:chOff x="4283968" y="1257960"/>
            <a:chExt cx="5409872" cy="5600040"/>
          </a:xfrm>
        </p:grpSpPr>
        <p:sp>
          <p:nvSpPr>
            <p:cNvPr id="6" name="5 Llamada ovalada"/>
            <p:cNvSpPr/>
            <p:nvPr/>
          </p:nvSpPr>
          <p:spPr>
            <a:xfrm>
              <a:off x="4283968" y="1257960"/>
              <a:ext cx="5409872" cy="4370536"/>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ctr"/>
              <a:r>
                <a:rPr lang="es-MX" sz="2400" dirty="0" smtClean="0"/>
                <a:t>En </a:t>
              </a:r>
              <a:r>
                <a:rPr lang="es-MX" sz="2400" dirty="0"/>
                <a:t>general se recomienda crear claves primarias nuevas para todas las tablas que se vallan creando en el almacenamiento intermedio o en el almacén de datos</a:t>
              </a:r>
              <a:r>
                <a:rPr lang="es-MX" sz="2400" dirty="0" smtClean="0"/>
                <a:t>.</a:t>
              </a:r>
              <a:endParaRPr lang="es-MX" sz="2400" dirty="0"/>
            </a:p>
          </p:txBody>
        </p:sp>
        <p:sp>
          <p:nvSpPr>
            <p:cNvPr id="7" name="6 Paralelogramo"/>
            <p:cNvSpPr/>
            <p:nvPr/>
          </p:nvSpPr>
          <p:spPr>
            <a:xfrm>
              <a:off x="5796136" y="6021288"/>
              <a:ext cx="3096344" cy="836712"/>
            </a:xfrm>
            <a:prstGeom prst="parallelogram">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MX" sz="2000" b="1" dirty="0" smtClean="0">
                  <a:latin typeface="Arial" panose="020B0604020202020204" pitchFamily="34" charset="0"/>
                  <a:cs typeface="Arial" panose="020B0604020202020204" pitchFamily="34" charset="0"/>
                </a:rPr>
                <a:t>Creación de claves:</a:t>
              </a:r>
              <a:endParaRPr lang="es-MX" sz="20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456799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heel(1)">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dondear rectángulo de esquina diagonal"/>
          <p:cNvSpPr/>
          <p:nvPr/>
        </p:nvSpPr>
        <p:spPr>
          <a:xfrm>
            <a:off x="251520" y="-27384"/>
            <a:ext cx="7992888" cy="1584176"/>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just"/>
            <a:r>
              <a:rPr lang="es-MX" sz="2400" b="1" dirty="0">
                <a:latin typeface="Arial" panose="020B0604020202020204" pitchFamily="34" charset="0"/>
                <a:cs typeface="Arial" panose="020B0604020202020204" pitchFamily="34" charset="0"/>
              </a:rPr>
              <a:t>Creación y mantenimiento de metadatos: </a:t>
            </a:r>
            <a:r>
              <a:rPr lang="es-MX" sz="2400" dirty="0"/>
              <a:t>para que todo el ETL pueda funcionar </a:t>
            </a:r>
            <a:r>
              <a:rPr lang="es-MX" sz="2400" dirty="0" smtClean="0"/>
              <a:t>es necesario crear </a:t>
            </a:r>
            <a:r>
              <a:rPr lang="es-MX" sz="2400" dirty="0"/>
              <a:t>y mantener metadatos sobre el propio proceso ETL y los pasos realizados y por realizar</a:t>
            </a:r>
            <a:r>
              <a:rPr lang="es-MX" sz="2400" dirty="0" smtClean="0"/>
              <a:t>.</a:t>
            </a:r>
            <a:endParaRPr lang="es-MX" sz="2400" dirty="0"/>
          </a:p>
        </p:txBody>
      </p:sp>
      <p:grpSp>
        <p:nvGrpSpPr>
          <p:cNvPr id="13" name="12 Grupo"/>
          <p:cNvGrpSpPr/>
          <p:nvPr/>
        </p:nvGrpSpPr>
        <p:grpSpPr>
          <a:xfrm>
            <a:off x="-36512" y="1628800"/>
            <a:ext cx="4910544" cy="5229200"/>
            <a:chOff x="-36512" y="1628800"/>
            <a:chExt cx="4910544" cy="5229200"/>
          </a:xfrm>
        </p:grpSpPr>
        <p:grpSp>
          <p:nvGrpSpPr>
            <p:cNvPr id="12" name="11 Grupo"/>
            <p:cNvGrpSpPr/>
            <p:nvPr/>
          </p:nvGrpSpPr>
          <p:grpSpPr>
            <a:xfrm>
              <a:off x="-36512" y="1916832"/>
              <a:ext cx="4910544" cy="4941168"/>
              <a:chOff x="-36512" y="1916832"/>
              <a:chExt cx="4910544" cy="4941168"/>
            </a:xfrm>
          </p:grpSpPr>
          <p:sp>
            <p:nvSpPr>
              <p:cNvPr id="11" name="10 Flecha doblada"/>
              <p:cNvSpPr/>
              <p:nvPr/>
            </p:nvSpPr>
            <p:spPr>
              <a:xfrm rot="5400000">
                <a:off x="3635896" y="1916832"/>
                <a:ext cx="540060" cy="540060"/>
              </a:xfrm>
              <a:prstGeom prst="ben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MX">
                  <a:solidFill>
                    <a:schemeClr val="tx1"/>
                  </a:solidFill>
                </a:endParaRPr>
              </a:p>
            </p:txBody>
          </p:sp>
          <p:sp>
            <p:nvSpPr>
              <p:cNvPr id="5" name="4 Redondear rectángulo de esquina diagonal"/>
              <p:cNvSpPr/>
              <p:nvPr/>
            </p:nvSpPr>
            <p:spPr>
              <a:xfrm>
                <a:off x="-36512" y="2465512"/>
                <a:ext cx="4910544" cy="4392488"/>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ctr"/>
                <a:r>
                  <a:rPr lang="es-MX" sz="2400" dirty="0" smtClean="0"/>
                  <a:t>consiste </a:t>
                </a:r>
                <a:r>
                  <a:rPr lang="es-MX" sz="2400" dirty="0"/>
                  <a:t>en definir las fases de carga, el orden, para evitar violar restricciones de integridad, del mismo modo que se realizan las migraciones, y las ventanas de carga, con el objetivo de poder hacer la carga sin </a:t>
                </a:r>
                <a:r>
                  <a:rPr lang="es-MX" sz="2400" dirty="0" smtClean="0"/>
                  <a:t>saturar </a:t>
                </a:r>
                <a:r>
                  <a:rPr lang="es-MX" sz="2400" dirty="0"/>
                  <a:t>la base de datos transaccional, </a:t>
                </a:r>
                <a:r>
                  <a:rPr lang="es-MX" sz="2400" dirty="0" smtClean="0"/>
                  <a:t>así </a:t>
                </a:r>
                <a:r>
                  <a:rPr lang="es-MX" sz="2400" dirty="0"/>
                  <a:t>como el mantenimiento sin paralizar el almacén de datos</a:t>
                </a:r>
                <a:r>
                  <a:rPr lang="es-MX" sz="2400" dirty="0" smtClean="0"/>
                  <a:t>.</a:t>
                </a:r>
              </a:p>
            </p:txBody>
          </p:sp>
        </p:grpSp>
        <p:sp>
          <p:nvSpPr>
            <p:cNvPr id="8" name="7 Proceso alternativo"/>
            <p:cNvSpPr/>
            <p:nvPr/>
          </p:nvSpPr>
          <p:spPr>
            <a:xfrm>
              <a:off x="827584" y="1628800"/>
              <a:ext cx="2880320" cy="792088"/>
            </a:xfrm>
            <a:prstGeom prst="flowChartAlternate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MX" b="1" dirty="0" smtClean="0">
                  <a:latin typeface="Arial" panose="020B0604020202020204" pitchFamily="34" charset="0"/>
                  <a:cs typeface="Arial" panose="020B0604020202020204" pitchFamily="34" charset="0"/>
                </a:rPr>
                <a:t>Planificación de la carga y mantenimiento:</a:t>
              </a:r>
            </a:p>
          </p:txBody>
        </p:sp>
      </p:grpSp>
      <p:grpSp>
        <p:nvGrpSpPr>
          <p:cNvPr id="14" name="13 Grupo"/>
          <p:cNvGrpSpPr/>
          <p:nvPr/>
        </p:nvGrpSpPr>
        <p:grpSpPr>
          <a:xfrm>
            <a:off x="4860032" y="1628800"/>
            <a:ext cx="4392488" cy="5229200"/>
            <a:chOff x="4860032" y="1628800"/>
            <a:chExt cx="4392488" cy="5229200"/>
          </a:xfrm>
        </p:grpSpPr>
        <p:sp>
          <p:nvSpPr>
            <p:cNvPr id="10" name="9 Proceso alternativo"/>
            <p:cNvSpPr/>
            <p:nvPr/>
          </p:nvSpPr>
          <p:spPr>
            <a:xfrm>
              <a:off x="6260520" y="6065912"/>
              <a:ext cx="2880320" cy="792088"/>
            </a:xfrm>
            <a:prstGeom prst="flowChartAlternate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MX" b="1" dirty="0" smtClean="0">
                  <a:latin typeface="Arial" panose="020B0604020202020204" pitchFamily="34" charset="0"/>
                  <a:cs typeface="Arial" panose="020B0604020202020204" pitchFamily="34" charset="0"/>
                </a:rPr>
                <a:t>Pruebas de calidad:</a:t>
              </a:r>
            </a:p>
          </p:txBody>
        </p:sp>
        <p:sp>
          <p:nvSpPr>
            <p:cNvPr id="9" name="8 Llamada rectangular"/>
            <p:cNvSpPr/>
            <p:nvPr/>
          </p:nvSpPr>
          <p:spPr>
            <a:xfrm>
              <a:off x="4860032" y="1628800"/>
              <a:ext cx="4392488" cy="4320480"/>
            </a:xfrm>
            <a:prstGeom prst="wedgeRectCallout">
              <a:avLst/>
            </a:prstGeom>
          </p:spPr>
          <p:style>
            <a:lnRef idx="1">
              <a:schemeClr val="accent4"/>
            </a:lnRef>
            <a:fillRef idx="2">
              <a:schemeClr val="accent4"/>
            </a:fillRef>
            <a:effectRef idx="1">
              <a:schemeClr val="accent4"/>
            </a:effectRef>
            <a:fontRef idx="minor">
              <a:schemeClr val="dk1"/>
            </a:fontRef>
          </p:style>
          <p:txBody>
            <a:bodyPr rtlCol="0" anchor="ctr"/>
            <a:lstStyle/>
            <a:p>
              <a:pPr lvl="0" algn="ctr"/>
              <a:r>
                <a:rPr lang="es-MX" sz="2400" dirty="0"/>
                <a:t>E</a:t>
              </a:r>
              <a:r>
                <a:rPr lang="es-MX" sz="2400" dirty="0" smtClean="0"/>
                <a:t>n </a:t>
              </a:r>
              <a:r>
                <a:rPr lang="es-MX" sz="2400" dirty="0"/>
                <a:t>realidad, se trata de definir métricas de calidad de datos del almacén de datos, así como implantar un programa de calidad de datos, con un responsable de calidad que realice un seguimiento, especialmente si el almacén de datos se desea utilizar para el apoyo en decisiones estratégicas</a:t>
              </a:r>
              <a:r>
                <a:rPr lang="es-MX" sz="2400" dirty="0" smtClean="0"/>
                <a:t>.</a:t>
              </a:r>
              <a:endParaRPr lang="es-MX" sz="2400" dirty="0"/>
            </a:p>
          </p:txBody>
        </p:sp>
      </p:grpSp>
    </p:spTree>
    <p:extLst>
      <p:ext uri="{BB962C8B-B14F-4D97-AF65-F5344CB8AC3E}">
        <p14:creationId xmlns:p14="http://schemas.microsoft.com/office/powerpoint/2010/main" val="55716023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80">
                                          <p:stCondLst>
                                            <p:cond delay="0"/>
                                          </p:stCondLst>
                                        </p:cTn>
                                        <p:tgtEl>
                                          <p:spTgt spid="13"/>
                                        </p:tgtEl>
                                      </p:cBhvr>
                                    </p:animEffect>
                                    <p:anim calcmode="lin" valueType="num">
                                      <p:cBhvr>
                                        <p:cTn id="13"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8" dur="26">
                                          <p:stCondLst>
                                            <p:cond delay="650"/>
                                          </p:stCondLst>
                                        </p:cTn>
                                        <p:tgtEl>
                                          <p:spTgt spid="13"/>
                                        </p:tgtEl>
                                      </p:cBhvr>
                                      <p:to x="100000" y="60000"/>
                                    </p:animScale>
                                    <p:animScale>
                                      <p:cBhvr>
                                        <p:cTn id="19" dur="166" decel="50000">
                                          <p:stCondLst>
                                            <p:cond delay="676"/>
                                          </p:stCondLst>
                                        </p:cTn>
                                        <p:tgtEl>
                                          <p:spTgt spid="13"/>
                                        </p:tgtEl>
                                      </p:cBhvr>
                                      <p:to x="100000" y="100000"/>
                                    </p:animScale>
                                    <p:animScale>
                                      <p:cBhvr>
                                        <p:cTn id="20" dur="26">
                                          <p:stCondLst>
                                            <p:cond delay="1312"/>
                                          </p:stCondLst>
                                        </p:cTn>
                                        <p:tgtEl>
                                          <p:spTgt spid="13"/>
                                        </p:tgtEl>
                                      </p:cBhvr>
                                      <p:to x="100000" y="80000"/>
                                    </p:animScale>
                                    <p:animScale>
                                      <p:cBhvr>
                                        <p:cTn id="21" dur="166" decel="50000">
                                          <p:stCondLst>
                                            <p:cond delay="1338"/>
                                          </p:stCondLst>
                                        </p:cTn>
                                        <p:tgtEl>
                                          <p:spTgt spid="13"/>
                                        </p:tgtEl>
                                      </p:cBhvr>
                                      <p:to x="100000" y="100000"/>
                                    </p:animScale>
                                    <p:animScale>
                                      <p:cBhvr>
                                        <p:cTn id="22" dur="26">
                                          <p:stCondLst>
                                            <p:cond delay="1642"/>
                                          </p:stCondLst>
                                        </p:cTn>
                                        <p:tgtEl>
                                          <p:spTgt spid="13"/>
                                        </p:tgtEl>
                                      </p:cBhvr>
                                      <p:to x="100000" y="90000"/>
                                    </p:animScale>
                                    <p:animScale>
                                      <p:cBhvr>
                                        <p:cTn id="23" dur="166" decel="50000">
                                          <p:stCondLst>
                                            <p:cond delay="1668"/>
                                          </p:stCondLst>
                                        </p:cTn>
                                        <p:tgtEl>
                                          <p:spTgt spid="13"/>
                                        </p:tgtEl>
                                      </p:cBhvr>
                                      <p:to x="100000" y="100000"/>
                                    </p:animScale>
                                    <p:animScale>
                                      <p:cBhvr>
                                        <p:cTn id="24" dur="26">
                                          <p:stCondLst>
                                            <p:cond delay="1808"/>
                                          </p:stCondLst>
                                        </p:cTn>
                                        <p:tgtEl>
                                          <p:spTgt spid="13"/>
                                        </p:tgtEl>
                                      </p:cBhvr>
                                      <p:to x="100000" y="95000"/>
                                    </p:animScale>
                                    <p:animScale>
                                      <p:cBhvr>
                                        <p:cTn id="25" dur="166" decel="50000">
                                          <p:stCondLst>
                                            <p:cond delay="1834"/>
                                          </p:stCondLst>
                                        </p:cTn>
                                        <p:tgtEl>
                                          <p:spTgt spid="13"/>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heel(1)">
                                      <p:cBhvr>
                                        <p:cTn id="30"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Ángulos">
  <a:themeElements>
    <a:clrScheme name="Ángulo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Ángulo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Ángul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698</TotalTime>
  <Words>589</Words>
  <Application>Microsoft Office PowerPoint</Application>
  <PresentationFormat>Presentación en pantalla (4:3)</PresentationFormat>
  <Paragraphs>38</Paragraphs>
  <Slides>9</Slides>
  <Notes>0</Notes>
  <HiddenSlides>0</HiddenSlides>
  <MMClips>0</MMClip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Ángulos</vt:lpstr>
      <vt:lpstr>Presentación de PowerPoint</vt:lpstr>
      <vt:lpstr>Presentación de PowerPoint</vt:lpstr>
      <vt:lpstr>Presentación de PowerPoint</vt:lpstr>
      <vt:lpstr>Presentación de PowerPoint</vt:lpstr>
      <vt:lpstr>Presentación de PowerPoint</vt:lpstr>
      <vt:lpstr>Presentación de PowerPoint</vt:lpstr>
      <vt:lpstr>Grafica de un sistema etl</vt:lpstr>
      <vt:lpstr>Dentro de las tareas que realiza el etl destacan:</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 Manuel</dc:creator>
  <cp:lastModifiedBy>Usuario</cp:lastModifiedBy>
  <cp:revision>28</cp:revision>
  <dcterms:created xsi:type="dcterms:W3CDTF">2014-03-18T20:17:39Z</dcterms:created>
  <dcterms:modified xsi:type="dcterms:W3CDTF">2014-04-04T17:52:18Z</dcterms:modified>
</cp:coreProperties>
</file>