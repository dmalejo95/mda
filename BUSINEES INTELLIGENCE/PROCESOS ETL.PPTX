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7" r:id="rId2"/>
    <p:sldId id="259" r:id="rId3"/>
    <p:sldId id="260" r:id="rId4"/>
    <p:sldId id="261" r:id="rId5"/>
    <p:sldId id="262" r:id="rId6"/>
    <p:sldId id="263" r:id="rId7"/>
    <p:sldId id="264" r:id="rId8"/>
    <p:sldId id="265" r:id="rId9"/>
    <p:sldId id="270" r:id="rId10"/>
    <p:sldId id="266" r:id="rId11"/>
    <p:sldId id="269"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0"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917660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301548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773208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85576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157986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897264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5385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613588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s-ES" smtClean="0"/>
              <a:t>Haga clic para modificar el estilo de título del patrón</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836022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359569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98248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278385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097473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s-ES" smtClean="0"/>
              <a:t>Haga clic para modificar el estilo de texto del patrón</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4345041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s-ES" smtClean="0"/>
              <a:t>Haga clic para modificar el estilo de texto del patrón</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537331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264965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4/4/2014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657622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8A87A34-81AB-432B-8DAE-1953F412C126}" type="datetimeFigureOut">
              <a:rPr lang="en-US" smtClean="0"/>
              <a:pPr/>
              <a:t>4/4/2014</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58166243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2415653" y="2674962"/>
            <a:ext cx="7506269" cy="1200329"/>
          </a:xfrm>
          <a:prstGeom prst="rect">
            <a:avLst/>
          </a:prstGeom>
          <a:noFill/>
        </p:spPr>
        <p:txBody>
          <a:bodyPr wrap="square" rtlCol="0">
            <a:spAutoFit/>
          </a:bodyPr>
          <a:lstStyle/>
          <a:p>
            <a:pPr algn="ctr"/>
            <a:r>
              <a:rPr lang="es-MX" sz="3600" dirty="0" smtClean="0">
                <a:latin typeface="Arial Black" panose="020B0A04020102020204" pitchFamily="34" charset="0"/>
              </a:rPr>
              <a:t>El proceso de extracción de conocimiento</a:t>
            </a:r>
            <a:endParaRPr lang="es-MX" sz="3600" dirty="0">
              <a:latin typeface="Arial Black" panose="020B0A04020102020204" pitchFamily="34" charset="0"/>
            </a:endParaRPr>
          </a:p>
        </p:txBody>
      </p:sp>
    </p:spTree>
    <p:extLst>
      <p:ext uri="{BB962C8B-B14F-4D97-AF65-F5344CB8AC3E}">
        <p14:creationId xmlns:p14="http://schemas.microsoft.com/office/powerpoint/2010/main" val="23804248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896122" y="868075"/>
            <a:ext cx="8393373" cy="446276"/>
          </a:xfrm>
          <a:prstGeom prst="rect">
            <a:avLst/>
          </a:prstGeom>
          <a:noFill/>
        </p:spPr>
        <p:txBody>
          <a:bodyPr wrap="square" rtlCol="0">
            <a:spAutoFit/>
          </a:bodyPr>
          <a:lstStyle/>
          <a:p>
            <a:r>
              <a:rPr lang="es-MX" sz="2300" b="1" dirty="0" smtClean="0">
                <a:solidFill>
                  <a:srgbClr val="FF0000"/>
                </a:solidFill>
                <a:latin typeface="Arial" panose="020B0604020202020204" pitchFamily="34" charset="0"/>
                <a:cs typeface="Arial" panose="020B0604020202020204" pitchFamily="34" charset="0"/>
              </a:rPr>
              <a:t>2.1 Las fases del proceso de extracción de conocimiento</a:t>
            </a:r>
            <a:endParaRPr lang="es-MX" sz="2300" b="1" dirty="0">
              <a:solidFill>
                <a:srgbClr val="FF0000"/>
              </a:solidFill>
              <a:latin typeface="Arial" panose="020B0604020202020204" pitchFamily="34" charset="0"/>
              <a:cs typeface="Arial" panose="020B0604020202020204" pitchFamily="34" charset="0"/>
            </a:endParaRPr>
          </a:p>
        </p:txBody>
      </p:sp>
      <p:sp>
        <p:nvSpPr>
          <p:cNvPr id="5" name="CuadroTexto 4"/>
          <p:cNvSpPr txBox="1"/>
          <p:nvPr/>
        </p:nvSpPr>
        <p:spPr>
          <a:xfrm>
            <a:off x="1896122" y="1734034"/>
            <a:ext cx="8681804" cy="3785652"/>
          </a:xfrm>
          <a:prstGeom prst="rect">
            <a:avLst/>
          </a:prstGeom>
          <a:noFill/>
        </p:spPr>
        <p:txBody>
          <a:bodyPr wrap="square" rtlCol="0">
            <a:spAutoFit/>
          </a:bodyPr>
          <a:lstStyle/>
          <a:p>
            <a:pPr algn="just"/>
            <a:r>
              <a:rPr lang="es-MX" sz="2000" dirty="0" smtClean="0">
                <a:latin typeface="Arial" panose="020B0604020202020204" pitchFamily="34" charset="0"/>
                <a:cs typeface="Arial" panose="020B0604020202020204" pitchFamily="34" charset="0"/>
              </a:rPr>
              <a:t>El proceso de KDD se organiza en torno a cinco fases:</a:t>
            </a:r>
          </a:p>
          <a:p>
            <a:pPr algn="just"/>
            <a:endParaRPr lang="es-MX" sz="2000" b="1" dirty="0" smtClean="0">
              <a:latin typeface="Arial" panose="020B0604020202020204" pitchFamily="34" charset="0"/>
              <a:cs typeface="Arial" panose="020B0604020202020204" pitchFamily="34" charset="0"/>
            </a:endParaRPr>
          </a:p>
          <a:p>
            <a:pPr algn="just"/>
            <a:r>
              <a:rPr lang="es-MX" sz="2000" b="1" dirty="0" smtClean="0">
                <a:latin typeface="Arial" panose="020B0604020202020204" pitchFamily="34" charset="0"/>
                <a:cs typeface="Arial" panose="020B0604020202020204" pitchFamily="34" charset="0"/>
              </a:rPr>
              <a:t>fase de integración y recopilación de datos </a:t>
            </a:r>
            <a:r>
              <a:rPr lang="es-MX" sz="2000" dirty="0" smtClean="0">
                <a:latin typeface="Arial" panose="020B0604020202020204" pitchFamily="34" charset="0"/>
                <a:cs typeface="Arial" panose="020B0604020202020204" pitchFamily="34" charset="0"/>
              </a:rPr>
              <a:t>se determinan las fuentes de información que pueden ser útiles y donde conseguirlas. Se transforman todos los datos a un formato común, frecuentemente mediante un almacén de datos que consiga unificar de manera operativa toda la información recogida detectando y resolviendo las inconsistencias.</a:t>
            </a:r>
          </a:p>
          <a:p>
            <a:pPr algn="just"/>
            <a:endParaRPr lang="es-MX" sz="2000" dirty="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Estas situaciones se tratan en la </a:t>
            </a:r>
            <a:r>
              <a:rPr lang="es-MX" sz="2000" b="1" dirty="0" smtClean="0">
                <a:latin typeface="Arial" panose="020B0604020202020204" pitchFamily="34" charset="0"/>
                <a:cs typeface="Arial" panose="020B0604020202020204" pitchFamily="34" charset="0"/>
              </a:rPr>
              <a:t>fase de selección, limpieza y transformación</a:t>
            </a:r>
            <a:r>
              <a:rPr lang="es-MX" sz="2000" dirty="0" smtClean="0">
                <a:latin typeface="Arial" panose="020B0604020202020204" pitchFamily="34" charset="0"/>
                <a:cs typeface="Arial" panose="020B0604020202020204" pitchFamily="34" charset="0"/>
              </a:rPr>
              <a:t>, en la que se eliminan o corrigen los datos incorrectos y se decide la estrategia a seguir con los datos incompletos. </a:t>
            </a:r>
          </a:p>
          <a:p>
            <a:pPr algn="just"/>
            <a:endParaRPr lang="es-MX" sz="20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27232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944710" y="408913"/>
            <a:ext cx="8487178" cy="2862322"/>
          </a:xfrm>
          <a:prstGeom prst="rect">
            <a:avLst/>
          </a:prstGeom>
          <a:noFill/>
        </p:spPr>
        <p:txBody>
          <a:bodyPr wrap="square" rtlCol="0">
            <a:spAutoFit/>
          </a:bodyPr>
          <a:lstStyle/>
          <a:p>
            <a:pPr algn="just"/>
            <a:r>
              <a:rPr lang="es-MX" sz="2000" dirty="0" smtClean="0">
                <a:latin typeface="Arial" panose="020B0604020202020204" pitchFamily="34" charset="0"/>
                <a:cs typeface="Arial" panose="020B0604020202020204" pitchFamily="34" charset="0"/>
              </a:rPr>
              <a:t>En la </a:t>
            </a:r>
            <a:r>
              <a:rPr lang="es-MX" sz="2000" b="1" dirty="0" smtClean="0">
                <a:latin typeface="Arial" panose="020B0604020202020204" pitchFamily="34" charset="0"/>
                <a:cs typeface="Arial" panose="020B0604020202020204" pitchFamily="34" charset="0"/>
              </a:rPr>
              <a:t>fase de minería de datos</a:t>
            </a:r>
            <a:r>
              <a:rPr lang="es-MX" sz="2000" dirty="0" smtClean="0">
                <a:latin typeface="Arial" panose="020B0604020202020204" pitchFamily="34" charset="0"/>
                <a:cs typeface="Arial" panose="020B0604020202020204" pitchFamily="34" charset="0"/>
              </a:rPr>
              <a:t>, se decide cual es la tarea a realizar (clasificar, agrupar, etc.) y se elige el método que se va a utilizar.</a:t>
            </a:r>
          </a:p>
          <a:p>
            <a:pPr algn="just"/>
            <a:endParaRPr lang="es-MX" sz="2000" dirty="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En la </a:t>
            </a:r>
            <a:r>
              <a:rPr lang="es-MX" sz="2000" b="1" dirty="0" smtClean="0">
                <a:latin typeface="Arial" panose="020B0604020202020204" pitchFamily="34" charset="0"/>
                <a:cs typeface="Arial" panose="020B0604020202020204" pitchFamily="34" charset="0"/>
              </a:rPr>
              <a:t>fase de evaluación e interpretación </a:t>
            </a:r>
            <a:r>
              <a:rPr lang="es-MX" sz="2000" dirty="0" smtClean="0">
                <a:latin typeface="Arial" panose="020B0604020202020204" pitchFamily="34" charset="0"/>
                <a:cs typeface="Arial" panose="020B0604020202020204" pitchFamily="34" charset="0"/>
              </a:rPr>
              <a:t>se evalúan los patrones y se analizan por los expertos, y si es necesario se vuelve a las fases anteriores para una nueva iteración. </a:t>
            </a:r>
          </a:p>
          <a:p>
            <a:pPr algn="just"/>
            <a:endParaRPr lang="es-MX" sz="2000" dirty="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Finalmente, en </a:t>
            </a:r>
            <a:r>
              <a:rPr lang="es-MX" sz="2000" b="1" dirty="0" smtClean="0">
                <a:latin typeface="Arial" panose="020B0604020202020204" pitchFamily="34" charset="0"/>
                <a:cs typeface="Arial" panose="020B0604020202020204" pitchFamily="34" charset="0"/>
              </a:rPr>
              <a:t>la fase de difusión </a:t>
            </a:r>
            <a:r>
              <a:rPr lang="es-MX" sz="2000" dirty="0" smtClean="0">
                <a:latin typeface="Arial" panose="020B0604020202020204" pitchFamily="34" charset="0"/>
                <a:cs typeface="Arial" panose="020B0604020202020204" pitchFamily="34" charset="0"/>
              </a:rPr>
              <a:t>se hace uso del nuevo conocimiento y se hace participe de el a todos los posibles usuarios.</a:t>
            </a:r>
            <a:endParaRPr lang="es-MX" sz="2000" dirty="0">
              <a:latin typeface="Arial" panose="020B0604020202020204" pitchFamily="34" charset="0"/>
              <a:cs typeface="Arial" panose="020B0604020202020204" pitchFamily="34" charset="0"/>
            </a:endParaRPr>
          </a:p>
        </p:txBody>
      </p:sp>
      <p:pic>
        <p:nvPicPr>
          <p:cNvPr id="6" name="Imagen 5"/>
          <p:cNvPicPr>
            <a:picLocks noChangeAspect="1"/>
          </p:cNvPicPr>
          <p:nvPr/>
        </p:nvPicPr>
        <p:blipFill rotWithShape="1">
          <a:blip r:embed="rId2">
            <a:extLst>
              <a:ext uri="{28A0092B-C50C-407E-A947-70E740481C1C}">
                <a14:useLocalDpi xmlns:a14="http://schemas.microsoft.com/office/drawing/2010/main" val="0"/>
              </a:ext>
            </a:extLst>
          </a:blip>
          <a:srcRect l="14166" t="49390" r="8046" b="4226"/>
          <a:stretch/>
        </p:blipFill>
        <p:spPr>
          <a:xfrm>
            <a:off x="3779949" y="3390373"/>
            <a:ext cx="4816699" cy="3325960"/>
          </a:xfrm>
          <a:prstGeom prst="rect">
            <a:avLst/>
          </a:prstGeom>
        </p:spPr>
      </p:pic>
    </p:spTree>
    <p:extLst>
      <p:ext uri="{BB962C8B-B14F-4D97-AF65-F5344CB8AC3E}">
        <p14:creationId xmlns:p14="http://schemas.microsoft.com/office/powerpoint/2010/main" val="3931596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848117" y="1068947"/>
            <a:ext cx="7521262" cy="446276"/>
          </a:xfrm>
          <a:prstGeom prst="rect">
            <a:avLst/>
          </a:prstGeom>
          <a:noFill/>
        </p:spPr>
        <p:txBody>
          <a:bodyPr wrap="square" rtlCol="0">
            <a:spAutoFit/>
          </a:bodyPr>
          <a:lstStyle/>
          <a:p>
            <a:r>
              <a:rPr lang="es-MX" sz="2300" b="1" dirty="0" smtClean="0">
                <a:solidFill>
                  <a:srgbClr val="FF0000"/>
                </a:solidFill>
                <a:latin typeface="Arial" panose="020B0604020202020204" pitchFamily="34" charset="0"/>
                <a:cs typeface="Arial" panose="020B0604020202020204" pitchFamily="34" charset="0"/>
              </a:rPr>
              <a:t>2.2 Fase de integración y recopilación.</a:t>
            </a:r>
            <a:endParaRPr lang="es-MX" sz="2300" b="1" dirty="0">
              <a:solidFill>
                <a:srgbClr val="FF0000"/>
              </a:solidFill>
              <a:latin typeface="Arial" panose="020B0604020202020204" pitchFamily="34" charset="0"/>
              <a:cs typeface="Arial" panose="020B0604020202020204" pitchFamily="34" charset="0"/>
            </a:endParaRPr>
          </a:p>
        </p:txBody>
      </p:sp>
      <p:sp>
        <p:nvSpPr>
          <p:cNvPr id="5" name="CuadroTexto 4"/>
          <p:cNvSpPr txBox="1"/>
          <p:nvPr/>
        </p:nvSpPr>
        <p:spPr>
          <a:xfrm>
            <a:off x="1848117" y="1867435"/>
            <a:ext cx="8873544" cy="3785652"/>
          </a:xfrm>
          <a:prstGeom prst="rect">
            <a:avLst/>
          </a:prstGeom>
          <a:noFill/>
        </p:spPr>
        <p:txBody>
          <a:bodyPr wrap="square" rtlCol="0">
            <a:spAutoFit/>
          </a:bodyPr>
          <a:lstStyle/>
          <a:p>
            <a:pPr algn="just"/>
            <a:r>
              <a:rPr lang="es-MX" sz="2000" dirty="0" smtClean="0">
                <a:latin typeface="Arial" panose="020B0604020202020204" pitchFamily="34" charset="0"/>
                <a:cs typeface="Arial" panose="020B0604020202020204" pitchFamily="34" charset="0"/>
              </a:rPr>
              <a:t>Las bases de datos y las aplicaciones basadas en el procesamiento tradicional de datos, que se conoce como </a:t>
            </a:r>
            <a:r>
              <a:rPr lang="es-MX" sz="2000" b="1" dirty="0" smtClean="0">
                <a:latin typeface="Arial" panose="020B0604020202020204" pitchFamily="34" charset="0"/>
                <a:cs typeface="Arial" panose="020B0604020202020204" pitchFamily="34" charset="0"/>
              </a:rPr>
              <a:t>procesamiento transaccional en línea </a:t>
            </a:r>
            <a:r>
              <a:rPr lang="es-MX" sz="2000" dirty="0" smtClean="0">
                <a:latin typeface="Arial" panose="020B0604020202020204" pitchFamily="34" charset="0"/>
                <a:cs typeface="Arial" panose="020B0604020202020204" pitchFamily="34" charset="0"/>
              </a:rPr>
              <a:t>(</a:t>
            </a:r>
            <a:r>
              <a:rPr lang="es-MX" sz="2000" b="1" dirty="0" smtClean="0">
                <a:latin typeface="Arial" panose="020B0604020202020204" pitchFamily="34" charset="0"/>
                <a:cs typeface="Arial" panose="020B0604020202020204" pitchFamily="34" charset="0"/>
              </a:rPr>
              <a:t>OLTP, </a:t>
            </a:r>
            <a:r>
              <a:rPr lang="es-MX" sz="2000" dirty="0" smtClean="0">
                <a:latin typeface="Arial" panose="020B0604020202020204" pitchFamily="34" charset="0"/>
                <a:cs typeface="Arial" panose="020B0604020202020204" pitchFamily="34" charset="0"/>
              </a:rPr>
              <a:t>On-Line </a:t>
            </a:r>
            <a:r>
              <a:rPr lang="es-MX" sz="2000" dirty="0" err="1" smtClean="0">
                <a:latin typeface="Arial" panose="020B0604020202020204" pitchFamily="34" charset="0"/>
                <a:cs typeface="Arial" panose="020B0604020202020204" pitchFamily="34" charset="0"/>
              </a:rPr>
              <a:t>Transaction</a:t>
            </a:r>
            <a:r>
              <a:rPr lang="es-MX" sz="2000" dirty="0" smtClean="0">
                <a:latin typeface="Arial" panose="020B0604020202020204" pitchFamily="34" charset="0"/>
                <a:cs typeface="Arial" panose="020B0604020202020204" pitchFamily="34" charset="0"/>
              </a:rPr>
              <a:t> </a:t>
            </a:r>
            <a:r>
              <a:rPr lang="es-MX" sz="2000" dirty="0" err="1" smtClean="0">
                <a:latin typeface="Arial" panose="020B0604020202020204" pitchFamily="34" charset="0"/>
                <a:cs typeface="Arial" panose="020B0604020202020204" pitchFamily="34" charset="0"/>
              </a:rPr>
              <a:t>Procesing</a:t>
            </a:r>
            <a:r>
              <a:rPr lang="es-MX" sz="2000" dirty="0" smtClean="0">
                <a:latin typeface="Arial" panose="020B0604020202020204" pitchFamily="34" charset="0"/>
                <a:cs typeface="Arial" panose="020B0604020202020204" pitchFamily="34" charset="0"/>
              </a:rPr>
              <a:t>) son suficientes para cubrir las necesidades diarias de un organización (tales como la facturación, control de inventario, nominas).</a:t>
            </a:r>
          </a:p>
          <a:p>
            <a:pPr algn="just"/>
            <a:endParaRPr lang="es-MX" sz="2000" dirty="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Sin embargo, resultan insuficientes para otras funciones mas complejas como el análisis, la planificación y la predicción, es decir, para tomar decisiones estratégicas a largo plazo. </a:t>
            </a:r>
          </a:p>
          <a:p>
            <a:pPr algn="just"/>
            <a:endParaRPr lang="es-MX" sz="2000" dirty="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La idea de la integración de múltiples bases de datos ha dado lugar a la tecnología de </a:t>
            </a:r>
            <a:r>
              <a:rPr lang="es-MX" sz="2000" b="1" dirty="0" smtClean="0">
                <a:latin typeface="Arial" panose="020B0604020202020204" pitchFamily="34" charset="0"/>
                <a:cs typeface="Arial" panose="020B0604020202020204" pitchFamily="34" charset="0"/>
              </a:rPr>
              <a:t>almacenes de datos </a:t>
            </a:r>
            <a:r>
              <a:rPr lang="es-MX" sz="2000" dirty="0" smtClean="0">
                <a:latin typeface="Arial" panose="020B0604020202020204" pitchFamily="34" charset="0"/>
                <a:cs typeface="Arial" panose="020B0604020202020204" pitchFamily="34" charset="0"/>
              </a:rPr>
              <a:t>(data </a:t>
            </a:r>
            <a:r>
              <a:rPr lang="es-MX" sz="2000" dirty="0" err="1" smtClean="0">
                <a:latin typeface="Arial" panose="020B0604020202020204" pitchFamily="34" charset="0"/>
                <a:cs typeface="Arial" panose="020B0604020202020204" pitchFamily="34" charset="0"/>
              </a:rPr>
              <a:t>warehousing</a:t>
            </a:r>
            <a:r>
              <a:rPr lang="es-MX" sz="2000" dirty="0" smtClean="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01222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1648497" y="515154"/>
            <a:ext cx="8873544" cy="3754874"/>
          </a:xfrm>
          <a:prstGeom prst="rect">
            <a:avLst/>
          </a:prstGeom>
          <a:noFill/>
        </p:spPr>
        <p:txBody>
          <a:bodyPr wrap="square" rtlCol="0">
            <a:spAutoFit/>
          </a:bodyPr>
          <a:lstStyle/>
          <a:p>
            <a:pPr algn="just"/>
            <a:r>
              <a:rPr lang="es-MX" sz="2000" dirty="0" smtClean="0">
                <a:latin typeface="Arial" panose="020B0604020202020204" pitchFamily="34" charset="0"/>
                <a:cs typeface="Arial" panose="020B0604020202020204" pitchFamily="34" charset="0"/>
              </a:rPr>
              <a:t>Un almacén de datos es un repositorio de información coleccionada desde varias fuentes, almacenada bajo un esquema unificado que normalmente reside en un único emplazamiento. Existen varias formas de mezclar las distintas bases de datos para crear el repositorio.</a:t>
            </a:r>
          </a:p>
          <a:p>
            <a:endParaRPr lang="es-MX" dirty="0"/>
          </a:p>
          <a:p>
            <a:pPr algn="just"/>
            <a:r>
              <a:rPr lang="es-MX" sz="2000" dirty="0" smtClean="0">
                <a:latin typeface="Arial" panose="020B0604020202020204" pitchFamily="34" charset="0"/>
                <a:cs typeface="Arial" panose="020B0604020202020204" pitchFamily="34" charset="0"/>
              </a:rPr>
              <a:t>Una posibilidad es simplemente hacer una copia de las bases de datos integrantes (probablemente eliminando inconsistencias y redundancias)</a:t>
            </a:r>
          </a:p>
          <a:p>
            <a:pPr algn="just"/>
            <a:endParaRPr lang="es-MX" sz="2000" dirty="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Los almacenes de datos se construyen vía un proceso de integración y almacenamiento en un nuevo esquema integrado. Este proceso de integración de un almacén de datos para tres fuentes de datos originales (A,B Y C) </a:t>
            </a:r>
            <a:endParaRPr lang="es-MX" sz="2000" dirty="0">
              <a:latin typeface="Arial" panose="020B0604020202020204" pitchFamily="34" charset="0"/>
              <a:cs typeface="Arial" panose="020B0604020202020204" pitchFamily="34" charset="0"/>
            </a:endParaRPr>
          </a:p>
        </p:txBody>
      </p:sp>
      <p:pic>
        <p:nvPicPr>
          <p:cNvPr id="3" name="Imagen 2"/>
          <p:cNvPicPr>
            <a:picLocks noChangeAspect="1"/>
          </p:cNvPicPr>
          <p:nvPr/>
        </p:nvPicPr>
        <p:blipFill rotWithShape="1">
          <a:blip r:embed="rId2"/>
          <a:srcRect l="34526" t="49428" r="36670" b="28640"/>
          <a:stretch/>
        </p:blipFill>
        <p:spPr>
          <a:xfrm>
            <a:off x="3870102" y="4437453"/>
            <a:ext cx="4430333" cy="2027741"/>
          </a:xfrm>
          <a:prstGeom prst="rect">
            <a:avLst/>
          </a:prstGeom>
        </p:spPr>
      </p:pic>
    </p:spTree>
    <p:extLst>
      <p:ext uri="{BB962C8B-B14F-4D97-AF65-F5344CB8AC3E}">
        <p14:creationId xmlns:p14="http://schemas.microsoft.com/office/powerpoint/2010/main" val="24090499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609859" y="746975"/>
            <a:ext cx="8976575" cy="3785652"/>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L</a:t>
            </a:r>
            <a:r>
              <a:rPr lang="es-MX" sz="2000" dirty="0" smtClean="0">
                <a:latin typeface="Arial" panose="020B0604020202020204" pitchFamily="34" charset="0"/>
                <a:cs typeface="Arial" panose="020B0604020202020204" pitchFamily="34" charset="0"/>
              </a:rPr>
              <a:t>os </a:t>
            </a:r>
            <a:r>
              <a:rPr lang="es-MX" sz="2000" dirty="0">
                <a:latin typeface="Arial" panose="020B0604020202020204" pitchFamily="34" charset="0"/>
                <a:cs typeface="Arial" panose="020B0604020202020204" pitchFamily="34" charset="0"/>
              </a:rPr>
              <a:t>almacenes de datos se </a:t>
            </a:r>
            <a:r>
              <a:rPr lang="es-MX" sz="2000" dirty="0" smtClean="0">
                <a:latin typeface="Arial" panose="020B0604020202020204" pitchFamily="34" charset="0"/>
                <a:cs typeface="Arial" panose="020B0604020202020204" pitchFamily="34" charset="0"/>
              </a:rPr>
              <a:t>utilizan </a:t>
            </a:r>
            <a:r>
              <a:rPr lang="es-MX" sz="2000" dirty="0">
                <a:latin typeface="Arial" panose="020B0604020202020204" pitchFamily="34" charset="0"/>
                <a:cs typeface="Arial" panose="020B0604020202020204" pitchFamily="34" charset="0"/>
              </a:rPr>
              <a:t>para poder agregar </a:t>
            </a:r>
            <a:r>
              <a:rPr lang="es-MX" sz="2000" dirty="0" smtClean="0">
                <a:latin typeface="Arial" panose="020B0604020202020204" pitchFamily="34" charset="0"/>
                <a:cs typeface="Arial" panose="020B0604020202020204" pitchFamily="34" charset="0"/>
              </a:rPr>
              <a:t>y </a:t>
            </a:r>
            <a:r>
              <a:rPr lang="es-MX" sz="2000" dirty="0">
                <a:latin typeface="Arial" panose="020B0604020202020204" pitchFamily="34" charset="0"/>
                <a:cs typeface="Arial" panose="020B0604020202020204" pitchFamily="34" charset="0"/>
              </a:rPr>
              <a:t>cruzar </a:t>
            </a:r>
            <a:r>
              <a:rPr lang="es-MX" sz="2000" dirty="0" smtClean="0">
                <a:latin typeface="Arial" panose="020B0604020202020204" pitchFamily="34" charset="0"/>
                <a:cs typeface="Arial" panose="020B0604020202020204" pitchFamily="34" charset="0"/>
              </a:rPr>
              <a:t>eficientemente </a:t>
            </a:r>
            <a:r>
              <a:rPr lang="es-MX" sz="2000" dirty="0">
                <a:latin typeface="Arial" panose="020B0604020202020204" pitchFamily="34" charset="0"/>
                <a:cs typeface="Arial" panose="020B0604020202020204" pitchFamily="34" charset="0"/>
              </a:rPr>
              <a:t>la </a:t>
            </a:r>
            <a:r>
              <a:rPr lang="es-MX" sz="2000" dirty="0" smtClean="0">
                <a:latin typeface="Arial" panose="020B0604020202020204" pitchFamily="34" charset="0"/>
                <a:cs typeface="Arial" panose="020B0604020202020204" pitchFamily="34" charset="0"/>
              </a:rPr>
              <a:t>información </a:t>
            </a:r>
            <a:r>
              <a:rPr lang="es-MX" sz="2000" dirty="0">
                <a:latin typeface="Arial" panose="020B0604020202020204" pitchFamily="34" charset="0"/>
                <a:cs typeface="Arial" panose="020B0604020202020204" pitchFamily="34" charset="0"/>
              </a:rPr>
              <a:t>de maneras </a:t>
            </a:r>
            <a:r>
              <a:rPr lang="es-MX" sz="2000" dirty="0" smtClean="0">
                <a:latin typeface="Arial" panose="020B0604020202020204" pitchFamily="34" charset="0"/>
                <a:cs typeface="Arial" panose="020B0604020202020204" pitchFamily="34" charset="0"/>
              </a:rPr>
              <a:t>sofisticadas</a:t>
            </a:r>
            <a:r>
              <a:rPr lang="es-MX" sz="2000" dirty="0">
                <a:latin typeface="Arial" panose="020B0604020202020204" pitchFamily="34" charset="0"/>
                <a:cs typeface="Arial" panose="020B0604020202020204" pitchFamily="34" charset="0"/>
              </a:rPr>
              <a:t>. </a:t>
            </a:r>
            <a:endParaRPr lang="es-MX" sz="2000" dirty="0" smtClean="0">
              <a:latin typeface="Arial" panose="020B0604020202020204" pitchFamily="34" charset="0"/>
              <a:cs typeface="Arial" panose="020B0604020202020204" pitchFamily="34" charset="0"/>
            </a:endParaRPr>
          </a:p>
          <a:p>
            <a:pPr algn="just"/>
            <a:endParaRPr lang="es-MX" sz="2000" dirty="0" smtClean="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Por </a:t>
            </a:r>
            <a:r>
              <a:rPr lang="es-MX" sz="2000" dirty="0">
                <a:latin typeface="Arial" panose="020B0604020202020204" pitchFamily="34" charset="0"/>
                <a:cs typeface="Arial" panose="020B0604020202020204" pitchFamily="34" charset="0"/>
              </a:rPr>
              <a:t>ello, los datos se modelan con una estructura de base de datos multidimensional, donde cada </a:t>
            </a:r>
            <a:r>
              <a:rPr lang="es-MX" sz="2000" dirty="0" smtClean="0">
                <a:latin typeface="Arial" panose="020B0604020202020204" pitchFamily="34" charset="0"/>
                <a:cs typeface="Arial" panose="020B0604020202020204" pitchFamily="34" charset="0"/>
              </a:rPr>
              <a:t>dimensión </a:t>
            </a:r>
            <a:r>
              <a:rPr lang="es-MX" sz="2000" dirty="0">
                <a:latin typeface="Arial" panose="020B0604020202020204" pitchFamily="34" charset="0"/>
                <a:cs typeface="Arial" panose="020B0604020202020204" pitchFamily="34" charset="0"/>
              </a:rPr>
              <a:t>corresponde a un </a:t>
            </a:r>
            <a:r>
              <a:rPr lang="es-MX" sz="2000" dirty="0" smtClean="0">
                <a:latin typeface="Arial" panose="020B0604020202020204" pitchFamily="34" charset="0"/>
                <a:cs typeface="Arial" panose="020B0604020202020204" pitchFamily="34" charset="0"/>
              </a:rPr>
              <a:t>atributo </a:t>
            </a:r>
            <a:r>
              <a:rPr lang="es-MX" sz="2000" dirty="0">
                <a:latin typeface="Arial" panose="020B0604020202020204" pitchFamily="34" charset="0"/>
                <a:cs typeface="Arial" panose="020B0604020202020204" pitchFamily="34" charset="0"/>
              </a:rPr>
              <a:t>o</a:t>
            </a:r>
            <a:r>
              <a:rPr lang="es-MX" sz="2000" dirty="0" smtClean="0">
                <a:latin typeface="Arial" panose="020B0604020202020204" pitchFamily="34" charset="0"/>
                <a:cs typeface="Arial" panose="020B0604020202020204" pitchFamily="34" charset="0"/>
              </a:rPr>
              <a:t> conjunto </a:t>
            </a:r>
            <a:r>
              <a:rPr lang="es-MX" sz="2000" dirty="0">
                <a:latin typeface="Arial" panose="020B0604020202020204" pitchFamily="34" charset="0"/>
                <a:cs typeface="Arial" panose="020B0604020202020204" pitchFamily="34" charset="0"/>
              </a:rPr>
              <a:t>de atributos en el esquema en torno a unos "hechos" que almacenan el valor de alguna medida agregada, como por ejemplo la cantidad vendida de un producto en un </a:t>
            </a:r>
            <a:r>
              <a:rPr lang="es-MX" sz="2000" dirty="0" smtClean="0">
                <a:latin typeface="Arial" panose="020B0604020202020204" pitchFamily="34" charset="0"/>
                <a:cs typeface="Arial" panose="020B0604020202020204" pitchFamily="34" charset="0"/>
              </a:rPr>
              <a:t>día </a:t>
            </a:r>
            <a:r>
              <a:rPr lang="es-MX" sz="2000" dirty="0">
                <a:latin typeface="Arial" panose="020B0604020202020204" pitchFamily="34" charset="0"/>
                <a:cs typeface="Arial" panose="020B0604020202020204" pitchFamily="34" charset="0"/>
              </a:rPr>
              <a:t>concreto en una </a:t>
            </a:r>
            <a:r>
              <a:rPr lang="es-MX" sz="2000" dirty="0" smtClean="0">
                <a:latin typeface="Arial" panose="020B0604020202020204" pitchFamily="34" charset="0"/>
                <a:cs typeface="Arial" panose="020B0604020202020204" pitchFamily="34" charset="0"/>
              </a:rPr>
              <a:t>tienda.</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E</a:t>
            </a:r>
            <a:r>
              <a:rPr lang="es-MX" sz="2000" dirty="0" smtClean="0">
                <a:latin typeface="Arial" panose="020B0604020202020204" pitchFamily="34" charset="0"/>
                <a:cs typeface="Arial" panose="020B0604020202020204" pitchFamily="34" charset="0"/>
              </a:rPr>
              <a:t>sta visión </a:t>
            </a:r>
            <a:r>
              <a:rPr lang="es-MX" sz="2000" dirty="0">
                <a:latin typeface="Arial" panose="020B0604020202020204" pitchFamily="34" charset="0"/>
                <a:cs typeface="Arial" panose="020B0604020202020204" pitchFamily="34" charset="0"/>
              </a:rPr>
              <a:t>multidimensional hace a los almacenes de datos adecuados para el </a:t>
            </a:r>
            <a:r>
              <a:rPr lang="es-MX" sz="2000" b="1" dirty="0">
                <a:latin typeface="Arial" panose="020B0604020202020204" pitchFamily="34" charset="0"/>
                <a:cs typeface="Arial" panose="020B0604020202020204" pitchFamily="34" charset="0"/>
              </a:rPr>
              <a:t>procesamiento </a:t>
            </a:r>
            <a:r>
              <a:rPr lang="es-MX" sz="2000" b="1" dirty="0" smtClean="0">
                <a:latin typeface="Arial" panose="020B0604020202020204" pitchFamily="34" charset="0"/>
                <a:cs typeface="Arial" panose="020B0604020202020204" pitchFamily="34" charset="0"/>
              </a:rPr>
              <a:t>analítico </a:t>
            </a:r>
            <a:r>
              <a:rPr lang="es-MX" sz="2000" b="1" dirty="0">
                <a:latin typeface="Arial" panose="020B0604020202020204" pitchFamily="34" charset="0"/>
                <a:cs typeface="Arial" panose="020B0604020202020204" pitchFamily="34" charset="0"/>
              </a:rPr>
              <a:t>en </a:t>
            </a:r>
            <a:r>
              <a:rPr lang="es-MX" sz="2000" b="1" dirty="0" smtClean="0">
                <a:latin typeface="Arial" panose="020B0604020202020204" pitchFamily="34" charset="0"/>
                <a:cs typeface="Arial" panose="020B0604020202020204" pitchFamily="34" charset="0"/>
              </a:rPr>
              <a:t>línea </a:t>
            </a:r>
            <a:r>
              <a:rPr lang="es-MX" sz="2000" dirty="0">
                <a:latin typeface="Arial" panose="020B0604020202020204" pitchFamily="34" charset="0"/>
                <a:cs typeface="Arial" panose="020B0604020202020204" pitchFamily="34" charset="0"/>
              </a:rPr>
              <a:t>(on-line </a:t>
            </a:r>
            <a:r>
              <a:rPr lang="es-MX" sz="2000" dirty="0" err="1" smtClean="0">
                <a:latin typeface="Arial" panose="020B0604020202020204" pitchFamily="34" charset="0"/>
                <a:cs typeface="Arial" panose="020B0604020202020204" pitchFamily="34" charset="0"/>
              </a:rPr>
              <a:t>analytical</a:t>
            </a:r>
            <a:r>
              <a:rPr lang="es-MX" sz="2000" dirty="0">
                <a:latin typeface="Arial" panose="020B0604020202020204" pitchFamily="34" charset="0"/>
                <a:cs typeface="Arial" panose="020B0604020202020204" pitchFamily="34" charset="0"/>
              </a:rPr>
              <a:t> </a:t>
            </a:r>
            <a:r>
              <a:rPr lang="es-MX" sz="2000" dirty="0" err="1" smtClean="0">
                <a:latin typeface="Arial" panose="020B0604020202020204" pitchFamily="34" charset="0"/>
                <a:cs typeface="Arial" panose="020B0604020202020204" pitchFamily="34" charset="0"/>
              </a:rPr>
              <a:t>processing,OLAP</a:t>
            </a:r>
            <a:r>
              <a:rPr lang="es-MX" sz="2000" dirty="0">
                <a:latin typeface="Arial" panose="020B0604020202020204" pitchFamily="34" charset="0"/>
                <a:cs typeface="Arial" panose="020B0604020202020204" pitchFamily="34" charset="0"/>
              </a:rPr>
              <a:t>). </a:t>
            </a:r>
            <a:endParaRPr lang="es-MX" sz="2000" dirty="0" smtClean="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40773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970468" y="1236372"/>
            <a:ext cx="8448541" cy="4401205"/>
          </a:xfrm>
          <a:prstGeom prst="rect">
            <a:avLst/>
          </a:prstGeom>
          <a:noFill/>
        </p:spPr>
        <p:txBody>
          <a:bodyPr wrap="square" rtlCol="0">
            <a:spAutoFit/>
          </a:bodyPr>
          <a:lstStyle/>
          <a:p>
            <a:pPr algn="just"/>
            <a:r>
              <a:rPr lang="es-MX" sz="2000" dirty="0" smtClean="0">
                <a:latin typeface="Arial" panose="020B0604020202020204" pitchFamily="34" charset="0"/>
                <a:cs typeface="Arial" panose="020B0604020202020204" pitchFamily="34" charset="0"/>
              </a:rPr>
              <a:t>El usuario </a:t>
            </a:r>
            <a:r>
              <a:rPr lang="es-MX" sz="2000" dirty="0">
                <a:latin typeface="Arial" panose="020B0604020202020204" pitchFamily="34" charset="0"/>
                <a:cs typeface="Arial" panose="020B0604020202020204" pitchFamily="34" charset="0"/>
              </a:rPr>
              <a:t>de una herramienta </a:t>
            </a:r>
            <a:r>
              <a:rPr lang="es-MX" sz="2000" dirty="0" smtClean="0">
                <a:latin typeface="Arial" panose="020B0604020202020204" pitchFamily="34" charset="0"/>
                <a:cs typeface="Arial" panose="020B0604020202020204" pitchFamily="34" charset="0"/>
              </a:rPr>
              <a:t>OLAP utiliza </a:t>
            </a:r>
            <a:r>
              <a:rPr lang="es-MX" sz="2000" dirty="0">
                <a:latin typeface="Arial" panose="020B0604020202020204" pitchFamily="34" charset="0"/>
                <a:cs typeface="Arial" panose="020B0604020202020204" pitchFamily="34" charset="0"/>
              </a:rPr>
              <a:t>la herramienta para obtener </a:t>
            </a:r>
            <a:r>
              <a:rPr lang="es-MX" sz="2000" dirty="0" smtClean="0">
                <a:latin typeface="Arial" panose="020B0604020202020204" pitchFamily="34" charset="0"/>
                <a:cs typeface="Arial" panose="020B0604020202020204" pitchFamily="34" charset="0"/>
              </a:rPr>
              <a:t>información </a:t>
            </a:r>
            <a:r>
              <a:rPr lang="es-MX" sz="2000" dirty="0">
                <a:latin typeface="Arial" panose="020B0604020202020204" pitchFamily="34" charset="0"/>
                <a:cs typeface="Arial" panose="020B0604020202020204" pitchFamily="34" charset="0"/>
              </a:rPr>
              <a:t>agregada a partir de </a:t>
            </a:r>
            <a:r>
              <a:rPr lang="es-MX" sz="2000" dirty="0" smtClean="0">
                <a:latin typeface="Arial" panose="020B0604020202020204" pitchFamily="34" charset="0"/>
                <a:cs typeface="Arial" panose="020B0604020202020204" pitchFamily="34" charset="0"/>
              </a:rPr>
              <a:t>información detallada</a:t>
            </a:r>
            <a:r>
              <a:rPr lang="es-MX" sz="2000" dirty="0">
                <a:latin typeface="Arial" panose="020B0604020202020204" pitchFamily="34" charset="0"/>
                <a:cs typeface="Arial" panose="020B0604020202020204" pitchFamily="34" charset="0"/>
              </a:rPr>
              <a:t>, combinando la </a:t>
            </a:r>
            <a:r>
              <a:rPr lang="es-MX" sz="2000" dirty="0" smtClean="0">
                <a:latin typeface="Arial" panose="020B0604020202020204" pitchFamily="34" charset="0"/>
                <a:cs typeface="Arial" panose="020B0604020202020204" pitchFamily="34" charset="0"/>
              </a:rPr>
              <a:t>información </a:t>
            </a:r>
            <a:r>
              <a:rPr lang="es-MX" sz="2000" dirty="0">
                <a:latin typeface="Arial" panose="020B0604020202020204" pitchFamily="34" charset="0"/>
                <a:cs typeface="Arial" panose="020B0604020202020204" pitchFamily="34" charset="0"/>
              </a:rPr>
              <a:t>de manera flexible</a:t>
            </a:r>
            <a:r>
              <a:rPr lang="es-MX" sz="2000" dirty="0" smtClean="0">
                <a:latin typeface="Arial" panose="020B0604020202020204" pitchFamily="34" charset="0"/>
                <a:cs typeface="Arial" panose="020B0604020202020204" pitchFamily="34" charset="0"/>
              </a:rPr>
              <a:t>. </a:t>
            </a:r>
          </a:p>
          <a:p>
            <a:pPr algn="just"/>
            <a:endParaRPr lang="es-MX" sz="2000" dirty="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Además, </a:t>
            </a:r>
            <a:r>
              <a:rPr lang="es-MX" sz="2000" dirty="0">
                <a:latin typeface="Arial" panose="020B0604020202020204" pitchFamily="34" charset="0"/>
                <a:cs typeface="Arial" panose="020B0604020202020204" pitchFamily="34" charset="0"/>
              </a:rPr>
              <a:t>las </a:t>
            </a:r>
            <a:r>
              <a:rPr lang="es-MX" sz="2000" dirty="0" smtClean="0">
                <a:latin typeface="Arial" panose="020B0604020202020204" pitchFamily="34" charset="0"/>
                <a:cs typeface="Arial" panose="020B0604020202020204" pitchFamily="34" charset="0"/>
              </a:rPr>
              <a:t>herramientas OLAP pueden </a:t>
            </a:r>
            <a:r>
              <a:rPr lang="es-MX" sz="2000" dirty="0">
                <a:latin typeface="Arial" panose="020B0604020202020204" pitchFamily="34" charset="0"/>
                <a:cs typeface="Arial" panose="020B0604020202020204" pitchFamily="34" charset="0"/>
              </a:rPr>
              <a:t>utilizarse para </a:t>
            </a:r>
            <a:r>
              <a:rPr lang="es-MX" sz="2000" dirty="0" smtClean="0">
                <a:latin typeface="Arial" panose="020B0604020202020204" pitchFamily="34" charset="0"/>
                <a:cs typeface="Arial" panose="020B0604020202020204" pitchFamily="34" charset="0"/>
              </a:rPr>
              <a:t>comprobar rápidamente patrones y pautas hipotéticas </a:t>
            </a:r>
            <a:r>
              <a:rPr lang="es-MX" sz="2000" dirty="0">
                <a:latin typeface="Arial" panose="020B0604020202020204" pitchFamily="34" charset="0"/>
                <a:cs typeface="Arial" panose="020B0604020202020204" pitchFamily="34" charset="0"/>
              </a:rPr>
              <a:t>sugeridas por el usuario con el </a:t>
            </a:r>
            <a:r>
              <a:rPr lang="es-MX" sz="2000" dirty="0" smtClean="0">
                <a:latin typeface="Arial" panose="020B0604020202020204" pitchFamily="34" charset="0"/>
                <a:cs typeface="Arial" panose="020B0604020202020204" pitchFamily="34" charset="0"/>
              </a:rPr>
              <a:t>objetivo </a:t>
            </a:r>
            <a:r>
              <a:rPr lang="es-MX" sz="2000" dirty="0">
                <a:latin typeface="Arial" panose="020B0604020202020204" pitchFamily="34" charset="0"/>
                <a:cs typeface="Arial" panose="020B0604020202020204" pitchFamily="34" charset="0"/>
              </a:rPr>
              <a:t>de </a:t>
            </a:r>
            <a:r>
              <a:rPr lang="es-MX" sz="2000" dirty="0" smtClean="0">
                <a:latin typeface="Arial" panose="020B0604020202020204" pitchFamily="34" charset="0"/>
                <a:cs typeface="Arial" panose="020B0604020202020204" pitchFamily="34" charset="0"/>
              </a:rPr>
              <a:t>verificarlas </a:t>
            </a:r>
            <a:r>
              <a:rPr lang="es-MX" sz="2000" dirty="0">
                <a:latin typeface="Arial" panose="020B0604020202020204" pitchFamily="34" charset="0"/>
                <a:cs typeface="Arial" panose="020B0604020202020204" pitchFamily="34" charset="0"/>
              </a:rPr>
              <a:t>o rechazarlas.</a:t>
            </a:r>
            <a:r>
              <a:rPr lang="es-MX" sz="2000" dirty="0" smtClean="0">
                <a:latin typeface="Arial" panose="020B0604020202020204" pitchFamily="34" charset="0"/>
                <a:cs typeface="Arial" panose="020B0604020202020204" pitchFamily="34" charset="0"/>
              </a:rPr>
              <a:t> </a:t>
            </a:r>
          </a:p>
          <a:p>
            <a:pPr algn="just"/>
            <a:endParaRPr lang="es-MX" sz="2000" dirty="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Ambos tipos de </a:t>
            </a:r>
            <a:r>
              <a:rPr lang="es-MX" sz="2000" dirty="0">
                <a:latin typeface="Arial" panose="020B0604020202020204" pitchFamily="34" charset="0"/>
                <a:cs typeface="Arial" panose="020B0604020202020204" pitchFamily="34" charset="0"/>
              </a:rPr>
              <a:t>herramientas se complementan: podemos </a:t>
            </a:r>
            <a:r>
              <a:rPr lang="es-MX" sz="2000" dirty="0" smtClean="0">
                <a:latin typeface="Arial" panose="020B0604020202020204" pitchFamily="34" charset="0"/>
                <a:cs typeface="Arial" panose="020B0604020202020204" pitchFamily="34" charset="0"/>
              </a:rPr>
              <a:t>usar OLAP </a:t>
            </a:r>
            <a:r>
              <a:rPr lang="es-MX" sz="2000" dirty="0">
                <a:latin typeface="Arial" panose="020B0604020202020204" pitchFamily="34" charset="0"/>
                <a:cs typeface="Arial" panose="020B0604020202020204" pitchFamily="34" charset="0"/>
              </a:rPr>
              <a:t>al principio del proceso de </a:t>
            </a:r>
            <a:r>
              <a:rPr lang="es-MX" sz="2000" dirty="0" smtClean="0">
                <a:latin typeface="Arial" panose="020B0604020202020204" pitchFamily="34" charset="0"/>
                <a:cs typeface="Arial" panose="020B0604020202020204" pitchFamily="34" charset="0"/>
              </a:rPr>
              <a:t>KDD) </a:t>
            </a:r>
            <a:r>
              <a:rPr lang="es-MX" sz="2000" dirty="0">
                <a:latin typeface="Arial" panose="020B0604020202020204" pitchFamily="34" charset="0"/>
                <a:cs typeface="Arial" panose="020B0604020202020204" pitchFamily="34" charset="0"/>
              </a:rPr>
              <a:t>para explorar los datos (</a:t>
            </a:r>
            <a:r>
              <a:rPr lang="es-MX" sz="2000" b="1" dirty="0">
                <a:latin typeface="Arial" panose="020B0604020202020204" pitchFamily="34" charset="0"/>
                <a:cs typeface="Arial" panose="020B0604020202020204" pitchFamily="34" charset="0"/>
              </a:rPr>
              <a:t>por ejemplo</a:t>
            </a:r>
            <a:r>
              <a:rPr lang="es-MX" sz="2000" dirty="0">
                <a:latin typeface="Arial" panose="020B0604020202020204" pitchFamily="34" charset="0"/>
                <a:cs typeface="Arial" panose="020B0604020202020204" pitchFamily="34" charset="0"/>
              </a:rPr>
              <a:t>, para centrar nuestra </a:t>
            </a:r>
            <a:r>
              <a:rPr lang="es-MX" sz="2000" dirty="0" smtClean="0">
                <a:latin typeface="Arial" panose="020B0604020202020204" pitchFamily="34" charset="0"/>
                <a:cs typeface="Arial" panose="020B0604020202020204" pitchFamily="34" charset="0"/>
              </a:rPr>
              <a:t>atención </a:t>
            </a:r>
            <a:r>
              <a:rPr lang="es-MX" sz="2000" dirty="0">
                <a:latin typeface="Arial" panose="020B0604020202020204" pitchFamily="34" charset="0"/>
                <a:cs typeface="Arial" panose="020B0604020202020204" pitchFamily="34" charset="0"/>
              </a:rPr>
              <a:t>en las variables </a:t>
            </a:r>
            <a:r>
              <a:rPr lang="es-MX" sz="2000" dirty="0" smtClean="0">
                <a:latin typeface="Arial" panose="020B0604020202020204" pitchFamily="34" charset="0"/>
                <a:cs typeface="Arial" panose="020B0604020202020204" pitchFamily="34" charset="0"/>
              </a:rPr>
              <a:t>importantes</a:t>
            </a:r>
            <a:r>
              <a:rPr lang="es-MX" sz="2000" dirty="0">
                <a:latin typeface="Arial" panose="020B0604020202020204" pitchFamily="34" charset="0"/>
                <a:cs typeface="Arial" panose="020B0604020202020204" pitchFamily="34" charset="0"/>
              </a:rPr>
              <a:t>, identificar excepciones o encontrar </a:t>
            </a:r>
            <a:r>
              <a:rPr lang="es-MX" sz="2000" dirty="0" smtClean="0">
                <a:latin typeface="Arial" panose="020B0604020202020204" pitchFamily="34" charset="0"/>
                <a:cs typeface="Arial" panose="020B0604020202020204" pitchFamily="34" charset="0"/>
              </a:rPr>
              <a:t>interacciones), </a:t>
            </a:r>
            <a:r>
              <a:rPr lang="es-MX" sz="2000" dirty="0">
                <a:latin typeface="Arial" panose="020B0604020202020204" pitchFamily="34" charset="0"/>
                <a:cs typeface="Arial" panose="020B0604020202020204" pitchFamily="34" charset="0"/>
              </a:rPr>
              <a:t>ya que cuanto mas </a:t>
            </a:r>
            <a:r>
              <a:rPr lang="es-MX" sz="2000" dirty="0" smtClean="0">
                <a:latin typeface="Arial" panose="020B0604020202020204" pitchFamily="34" charset="0"/>
                <a:cs typeface="Arial" panose="020B0604020202020204" pitchFamily="34" charset="0"/>
              </a:rPr>
              <a:t>comprendamos </a:t>
            </a:r>
            <a:r>
              <a:rPr lang="es-MX" sz="2000" dirty="0">
                <a:latin typeface="Arial" panose="020B0604020202020204" pitchFamily="34" charset="0"/>
                <a:cs typeface="Arial" panose="020B0604020202020204" pitchFamily="34" charset="0"/>
              </a:rPr>
              <a:t>los datos mas </a:t>
            </a:r>
            <a:r>
              <a:rPr lang="es-MX" sz="2000" dirty="0" smtClean="0">
                <a:latin typeface="Arial" panose="020B0604020202020204" pitchFamily="34" charset="0"/>
                <a:cs typeface="Arial" panose="020B0604020202020204" pitchFamily="34" charset="0"/>
              </a:rPr>
              <a:t>efectivo será </a:t>
            </a:r>
            <a:r>
              <a:rPr lang="es-MX" sz="2000" dirty="0">
                <a:latin typeface="Arial" panose="020B0604020202020204" pitchFamily="34" charset="0"/>
                <a:cs typeface="Arial" panose="020B0604020202020204" pitchFamily="34" charset="0"/>
              </a:rPr>
              <a:t>el proceso de descubrir conocimiento. </a:t>
            </a:r>
          </a:p>
        </p:txBody>
      </p:sp>
    </p:spTree>
    <p:extLst>
      <p:ext uri="{BB962C8B-B14F-4D97-AF65-F5344CB8AC3E}">
        <p14:creationId xmlns:p14="http://schemas.microsoft.com/office/powerpoint/2010/main" val="7237961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777285" y="656823"/>
            <a:ext cx="8319752" cy="461665"/>
          </a:xfrm>
          <a:prstGeom prst="rect">
            <a:avLst/>
          </a:prstGeom>
          <a:noFill/>
        </p:spPr>
        <p:txBody>
          <a:bodyPr wrap="square" rtlCol="0">
            <a:spAutoFit/>
          </a:bodyPr>
          <a:lstStyle/>
          <a:p>
            <a:r>
              <a:rPr lang="es-MX" sz="2400" b="1" dirty="0" smtClean="0">
                <a:solidFill>
                  <a:srgbClr val="FF0000"/>
                </a:solidFill>
                <a:latin typeface="Arial" panose="020B0604020202020204" pitchFamily="34" charset="0"/>
                <a:cs typeface="Arial" panose="020B0604020202020204" pitchFamily="34" charset="0"/>
              </a:rPr>
              <a:t>2.3 Fase de selección, limpieza y transformación</a:t>
            </a:r>
            <a:endParaRPr lang="es-MX" sz="2400" b="1" dirty="0">
              <a:solidFill>
                <a:srgbClr val="FF0000"/>
              </a:solidFill>
              <a:latin typeface="Arial" panose="020B0604020202020204" pitchFamily="34" charset="0"/>
              <a:cs typeface="Arial" panose="020B0604020202020204" pitchFamily="34" charset="0"/>
            </a:endParaRPr>
          </a:p>
        </p:txBody>
      </p:sp>
      <p:sp>
        <p:nvSpPr>
          <p:cNvPr id="5" name="CuadroTexto 4"/>
          <p:cNvSpPr txBox="1"/>
          <p:nvPr/>
        </p:nvSpPr>
        <p:spPr>
          <a:xfrm>
            <a:off x="1777285" y="1416676"/>
            <a:ext cx="8731876" cy="2862322"/>
          </a:xfrm>
          <a:prstGeom prst="rect">
            <a:avLst/>
          </a:prstGeom>
          <a:noFill/>
        </p:spPr>
        <p:txBody>
          <a:bodyPr wrap="square" rtlCol="0">
            <a:spAutoFit/>
          </a:bodyPr>
          <a:lstStyle/>
          <a:p>
            <a:pPr algn="just"/>
            <a:r>
              <a:rPr lang="es-MX" sz="2000" dirty="0" smtClean="0">
                <a:latin typeface="Arial" panose="020B0604020202020204" pitchFamily="34" charset="0"/>
                <a:cs typeface="Arial" panose="020B0604020202020204" pitchFamily="34" charset="0"/>
              </a:rPr>
              <a:t>La </a:t>
            </a:r>
            <a:r>
              <a:rPr lang="es-MX" sz="2000" dirty="0">
                <a:latin typeface="Arial" panose="020B0604020202020204" pitchFamily="34" charset="0"/>
                <a:cs typeface="Arial" panose="020B0604020202020204" pitchFamily="34" charset="0"/>
              </a:rPr>
              <a:t>calidad del conocimiento descubierto no solo depende del algoritmo de </a:t>
            </a:r>
            <a:r>
              <a:rPr lang="es-MX" sz="2000" dirty="0" smtClean="0">
                <a:latin typeface="Arial" panose="020B0604020202020204" pitchFamily="34" charset="0"/>
                <a:cs typeface="Arial" panose="020B0604020202020204" pitchFamily="34" charset="0"/>
              </a:rPr>
              <a:t>minería </a:t>
            </a:r>
            <a:r>
              <a:rPr lang="es-MX" sz="2000" dirty="0">
                <a:latin typeface="Arial" panose="020B0604020202020204" pitchFamily="34" charset="0"/>
                <a:cs typeface="Arial" panose="020B0604020202020204" pitchFamily="34" charset="0"/>
              </a:rPr>
              <a:t>u</a:t>
            </a:r>
            <a:r>
              <a:rPr lang="es-MX" sz="2000" dirty="0" smtClean="0">
                <a:latin typeface="Arial" panose="020B0604020202020204" pitchFamily="34" charset="0"/>
                <a:cs typeface="Arial" panose="020B0604020202020204" pitchFamily="34" charset="0"/>
              </a:rPr>
              <a:t>tilizado</a:t>
            </a:r>
            <a:r>
              <a:rPr lang="es-MX" sz="2000" dirty="0">
                <a:latin typeface="Arial" panose="020B0604020202020204" pitchFamily="34" charset="0"/>
                <a:cs typeface="Arial" panose="020B0604020202020204" pitchFamily="34" charset="0"/>
              </a:rPr>
              <a:t>, </a:t>
            </a:r>
            <a:r>
              <a:rPr lang="es-MX" sz="2000" dirty="0" smtClean="0">
                <a:latin typeface="Arial" panose="020B0604020202020204" pitchFamily="34" charset="0"/>
                <a:cs typeface="Arial" panose="020B0604020202020204" pitchFamily="34" charset="0"/>
              </a:rPr>
              <a:t>sino también </a:t>
            </a:r>
            <a:r>
              <a:rPr lang="es-MX" sz="2000" dirty="0">
                <a:latin typeface="Arial" panose="020B0604020202020204" pitchFamily="34" charset="0"/>
                <a:cs typeface="Arial" panose="020B0604020202020204" pitchFamily="34" charset="0"/>
              </a:rPr>
              <a:t>de la calidad de los datos minados. </a:t>
            </a:r>
            <a:endParaRPr lang="es-MX" sz="2000" dirty="0" smtClean="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Pero </a:t>
            </a:r>
            <a:r>
              <a:rPr lang="es-MX" sz="2000" dirty="0" smtClean="0">
                <a:latin typeface="Arial" panose="020B0604020202020204" pitchFamily="34" charset="0"/>
                <a:cs typeface="Arial" panose="020B0604020202020204" pitchFamily="34" charset="0"/>
              </a:rPr>
              <a:t>además </a:t>
            </a:r>
            <a:r>
              <a:rPr lang="es-MX" sz="2000" dirty="0">
                <a:latin typeface="Arial" panose="020B0604020202020204" pitchFamily="34" charset="0"/>
                <a:cs typeface="Arial" panose="020B0604020202020204" pitchFamily="34" charset="0"/>
              </a:rPr>
              <a:t>de la </a:t>
            </a:r>
            <a:r>
              <a:rPr lang="es-MX" sz="2000" dirty="0" smtClean="0">
                <a:latin typeface="Arial" panose="020B0604020202020204" pitchFamily="34" charset="0"/>
                <a:cs typeface="Arial" panose="020B0604020202020204" pitchFamily="34" charset="0"/>
              </a:rPr>
              <a:t>irrelevancia, </a:t>
            </a:r>
            <a:r>
              <a:rPr lang="es-MX" sz="2000" dirty="0">
                <a:latin typeface="Arial" panose="020B0604020202020204" pitchFamily="34" charset="0"/>
                <a:cs typeface="Arial" panose="020B0604020202020204" pitchFamily="34" charset="0"/>
              </a:rPr>
              <a:t>existen otros problemas que afectan a la calidad de los datos. </a:t>
            </a:r>
            <a:endParaRPr lang="es-MX" sz="2000" dirty="0" smtClean="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Uno </a:t>
            </a:r>
            <a:r>
              <a:rPr lang="es-MX" sz="2000" dirty="0">
                <a:latin typeface="Arial" panose="020B0604020202020204" pitchFamily="34" charset="0"/>
                <a:cs typeface="Arial" panose="020B0604020202020204" pitchFamily="34" charset="0"/>
              </a:rPr>
              <a:t>de estos problemas es </a:t>
            </a:r>
            <a:r>
              <a:rPr lang="es-MX" sz="2000" dirty="0" smtClean="0">
                <a:latin typeface="Arial" panose="020B0604020202020204" pitchFamily="34" charset="0"/>
                <a:cs typeface="Arial" panose="020B0604020202020204" pitchFamily="34" charset="0"/>
              </a:rPr>
              <a:t>la </a:t>
            </a:r>
            <a:r>
              <a:rPr lang="es-MX" sz="2000" dirty="0">
                <a:latin typeface="Arial" panose="020B0604020202020204" pitchFamily="34" charset="0"/>
                <a:cs typeface="Arial" panose="020B0604020202020204" pitchFamily="34" charset="0"/>
              </a:rPr>
              <a:t>presencia de valores que no se ajustan al </a:t>
            </a:r>
            <a:r>
              <a:rPr lang="es-MX" sz="2000" dirty="0" smtClean="0">
                <a:latin typeface="Arial" panose="020B0604020202020204" pitchFamily="34" charset="0"/>
                <a:cs typeface="Arial" panose="020B0604020202020204" pitchFamily="34" charset="0"/>
              </a:rPr>
              <a:t>comportamiento </a:t>
            </a:r>
            <a:r>
              <a:rPr lang="es-MX" sz="2000" dirty="0">
                <a:latin typeface="Arial" panose="020B0604020202020204" pitchFamily="34" charset="0"/>
                <a:cs typeface="Arial" panose="020B0604020202020204" pitchFamily="34" charset="0"/>
              </a:rPr>
              <a:t>general de los datos </a:t>
            </a:r>
            <a:r>
              <a:rPr lang="es-MX" sz="2000" dirty="0" smtClean="0">
                <a:latin typeface="Arial" panose="020B0604020202020204" pitchFamily="34" charset="0"/>
                <a:cs typeface="Arial" panose="020B0604020202020204" pitchFamily="34" charset="0"/>
              </a:rPr>
              <a:t>(</a:t>
            </a:r>
            <a:r>
              <a:rPr lang="es-MX" sz="2000" b="1" dirty="0" err="1" smtClean="0">
                <a:latin typeface="Arial" panose="020B0604020202020204" pitchFamily="34" charset="0"/>
                <a:cs typeface="Arial" panose="020B0604020202020204" pitchFamily="34" charset="0"/>
              </a:rPr>
              <a:t>outliers</a:t>
            </a:r>
            <a:r>
              <a:rPr lang="es-MX" sz="2000" dirty="0" smtClean="0">
                <a:latin typeface="Arial" panose="020B0604020202020204" pitchFamily="34" charset="0"/>
                <a:cs typeface="Arial" panose="020B0604020202020204" pitchFamily="34" charset="0"/>
              </a:rPr>
              <a:t>). </a:t>
            </a:r>
          </a:p>
          <a:p>
            <a:pPr algn="just"/>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8762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499616" y="2243329"/>
            <a:ext cx="10003407" cy="3547872"/>
          </a:xfrm>
        </p:spPr>
        <p:txBody>
          <a:bodyPr/>
          <a:lstStyle/>
          <a:p>
            <a:pPr algn="just"/>
            <a:r>
              <a:rPr lang="es-MX" dirty="0" smtClean="0">
                <a:latin typeface="Arial" panose="020B0604020202020204" pitchFamily="34" charset="0"/>
                <a:cs typeface="Arial" panose="020B0604020202020204" pitchFamily="34" charset="0"/>
              </a:rPr>
              <a:t>Estos datos anómalos pueden representar errores en los datos o pueden ser valores correctos quo son simplemente diferentes a los demás.</a:t>
            </a:r>
          </a:p>
          <a:p>
            <a:pPr algn="just"/>
            <a:endParaRPr lang="es-MX" dirty="0" smtClean="0">
              <a:latin typeface="Arial" panose="020B0604020202020204" pitchFamily="34" charset="0"/>
              <a:cs typeface="Arial" panose="020B0604020202020204" pitchFamily="34" charset="0"/>
            </a:endParaRPr>
          </a:p>
          <a:p>
            <a:pPr algn="just"/>
            <a:r>
              <a:rPr lang="es-MX" dirty="0" smtClean="0">
                <a:latin typeface="Arial" panose="020B0604020202020204" pitchFamily="34" charset="0"/>
                <a:cs typeface="Arial" panose="020B0604020202020204" pitchFamily="34" charset="0"/>
              </a:rPr>
              <a:t>Algunos algoritmos de minería de datos ignoran estos datos, otros los descartan considerándolos ruido o excepciones, pero otros son muy sensibles y el resultado se ve claramente perjudicado por ello. </a:t>
            </a:r>
          </a:p>
          <a:p>
            <a:endParaRPr lang="es-MX"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790162" y="772732"/>
            <a:ext cx="8770514" cy="3477875"/>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E</a:t>
            </a:r>
            <a:r>
              <a:rPr lang="es-MX" sz="2000" dirty="0" smtClean="0">
                <a:latin typeface="Arial" panose="020B0604020202020204" pitchFamily="34" charset="0"/>
                <a:cs typeface="Arial" panose="020B0604020202020204" pitchFamily="34" charset="0"/>
              </a:rPr>
              <a:t>n </a:t>
            </a:r>
            <a:r>
              <a:rPr lang="es-MX" sz="2000" dirty="0">
                <a:latin typeface="Arial" panose="020B0604020202020204" pitchFamily="34" charset="0"/>
                <a:cs typeface="Arial" panose="020B0604020202020204" pitchFamily="34" charset="0"/>
              </a:rPr>
              <a:t>algunas </a:t>
            </a:r>
            <a:r>
              <a:rPr lang="es-MX" sz="2000" dirty="0" smtClean="0">
                <a:latin typeface="Arial" panose="020B0604020202020204" pitchFamily="34" charset="0"/>
                <a:cs typeface="Arial" panose="020B0604020202020204" pitchFamily="34" charset="0"/>
              </a:rPr>
              <a:t>aplicaciones </a:t>
            </a:r>
            <a:r>
              <a:rPr lang="es-MX" sz="2000" dirty="0">
                <a:latin typeface="Arial" panose="020B0604020202020204" pitchFamily="34" charset="0"/>
                <a:cs typeface="Arial" panose="020B0604020202020204" pitchFamily="34" charset="0"/>
              </a:rPr>
              <a:t>como la </a:t>
            </a:r>
            <a:r>
              <a:rPr lang="es-MX" sz="2000" dirty="0" smtClean="0">
                <a:latin typeface="Arial" panose="020B0604020202020204" pitchFamily="34" charset="0"/>
                <a:cs typeface="Arial" panose="020B0604020202020204" pitchFamily="34" charset="0"/>
              </a:rPr>
              <a:t>detección </a:t>
            </a:r>
            <a:r>
              <a:rPr lang="es-MX" sz="2000" dirty="0">
                <a:latin typeface="Arial" panose="020B0604020202020204" pitchFamily="34" charset="0"/>
                <a:cs typeface="Arial" panose="020B0604020202020204" pitchFamily="34" charset="0"/>
              </a:rPr>
              <a:t>de compras </a:t>
            </a:r>
            <a:r>
              <a:rPr lang="es-MX" sz="2000" dirty="0" smtClean="0">
                <a:latin typeface="Arial" panose="020B0604020202020204" pitchFamily="34" charset="0"/>
                <a:cs typeface="Arial" panose="020B0604020202020204" pitchFamily="34" charset="0"/>
              </a:rPr>
              <a:t>fraudulentas </a:t>
            </a:r>
            <a:r>
              <a:rPr lang="es-MX" sz="2000" dirty="0">
                <a:latin typeface="Arial" panose="020B0604020202020204" pitchFamily="34" charset="0"/>
                <a:cs typeface="Arial" panose="020B0604020202020204" pitchFamily="34" charset="0"/>
              </a:rPr>
              <a:t>efectuadas con tarjetas de </a:t>
            </a:r>
            <a:r>
              <a:rPr lang="es-MX" sz="2000" dirty="0" smtClean="0">
                <a:latin typeface="Arial" panose="020B0604020202020204" pitchFamily="34" charset="0"/>
                <a:cs typeface="Arial" panose="020B0604020202020204" pitchFamily="34" charset="0"/>
              </a:rPr>
              <a:t>crédito </a:t>
            </a:r>
            <a:r>
              <a:rPr lang="es-MX" sz="2000" dirty="0">
                <a:latin typeface="Arial" panose="020B0604020202020204" pitchFamily="34" charset="0"/>
                <a:cs typeface="Arial" panose="020B0604020202020204" pitchFamily="34" charset="0"/>
              </a:rPr>
              <a:t>o</a:t>
            </a:r>
            <a:r>
              <a:rPr lang="es-MX" sz="2000" dirty="0" smtClean="0">
                <a:latin typeface="Arial" panose="020B0604020202020204" pitchFamily="34" charset="0"/>
                <a:cs typeface="Arial" panose="020B0604020202020204" pitchFamily="34" charset="0"/>
              </a:rPr>
              <a:t> </a:t>
            </a:r>
            <a:r>
              <a:rPr lang="es-MX" sz="2000" dirty="0">
                <a:latin typeface="Arial" panose="020B0604020202020204" pitchFamily="34" charset="0"/>
                <a:cs typeface="Arial" panose="020B0604020202020204" pitchFamily="34" charset="0"/>
              </a:rPr>
              <a:t>la </a:t>
            </a:r>
            <a:r>
              <a:rPr lang="es-MX" sz="2000" dirty="0" smtClean="0">
                <a:latin typeface="Arial" panose="020B0604020202020204" pitchFamily="34" charset="0"/>
                <a:cs typeface="Arial" panose="020B0604020202020204" pitchFamily="34" charset="0"/>
              </a:rPr>
              <a:t>predicción </a:t>
            </a:r>
            <a:r>
              <a:rPr lang="es-MX" sz="2000" dirty="0">
                <a:latin typeface="Arial" panose="020B0604020202020204" pitchFamily="34" charset="0"/>
                <a:cs typeface="Arial" panose="020B0604020202020204" pitchFamily="34" charset="0"/>
              </a:rPr>
              <a:t>de </a:t>
            </a:r>
            <a:r>
              <a:rPr lang="es-MX" sz="2000" dirty="0" smtClean="0">
                <a:latin typeface="Arial" panose="020B0604020202020204" pitchFamily="34" charset="0"/>
                <a:cs typeface="Arial" panose="020B0604020202020204" pitchFamily="34" charset="0"/>
              </a:rPr>
              <a:t>inundaciones, </a:t>
            </a:r>
            <a:r>
              <a:rPr lang="es-MX" sz="2000" dirty="0">
                <a:latin typeface="Arial" panose="020B0604020202020204" pitchFamily="34" charset="0"/>
                <a:cs typeface="Arial" panose="020B0604020202020204" pitchFamily="34" charset="0"/>
              </a:rPr>
              <a:t>los </a:t>
            </a:r>
            <a:r>
              <a:rPr lang="es-MX" sz="2000" dirty="0" smtClean="0">
                <a:latin typeface="Arial" panose="020B0604020202020204" pitchFamily="34" charset="0"/>
                <a:cs typeface="Arial" panose="020B0604020202020204" pitchFamily="34" charset="0"/>
              </a:rPr>
              <a:t>eventos </a:t>
            </a:r>
            <a:r>
              <a:rPr lang="es-MX" sz="2000" dirty="0">
                <a:latin typeface="Arial" panose="020B0604020202020204" pitchFamily="34" charset="0"/>
                <a:cs typeface="Arial" panose="020B0604020202020204" pitchFamily="34" charset="0"/>
              </a:rPr>
              <a:t>raros pueden </a:t>
            </a:r>
            <a:r>
              <a:rPr lang="es-MX" sz="2000" dirty="0" smtClean="0">
                <a:latin typeface="Arial" panose="020B0604020202020204" pitchFamily="34" charset="0"/>
                <a:cs typeface="Arial" panose="020B0604020202020204" pitchFamily="34" charset="0"/>
              </a:rPr>
              <a:t>ser </a:t>
            </a:r>
            <a:r>
              <a:rPr lang="es-MX" sz="2000" dirty="0">
                <a:latin typeface="Arial" panose="020B0604020202020204" pitchFamily="34" charset="0"/>
                <a:cs typeface="Arial" panose="020B0604020202020204" pitchFamily="34" charset="0"/>
              </a:rPr>
              <a:t>mas </a:t>
            </a:r>
            <a:r>
              <a:rPr lang="es-MX" sz="2000" dirty="0" smtClean="0">
                <a:latin typeface="Arial" panose="020B0604020202020204" pitchFamily="34" charset="0"/>
                <a:cs typeface="Arial" panose="020B0604020202020204" pitchFamily="34" charset="0"/>
              </a:rPr>
              <a:t>interesantes </a:t>
            </a:r>
            <a:r>
              <a:rPr lang="es-MX" sz="2000" dirty="0">
                <a:latin typeface="Arial" panose="020B0604020202020204" pitchFamily="34" charset="0"/>
                <a:cs typeface="Arial" panose="020B0604020202020204" pitchFamily="34" charset="0"/>
              </a:rPr>
              <a:t>que los regulares (</a:t>
            </a:r>
            <a:r>
              <a:rPr lang="es-MX" sz="2000" b="1" dirty="0">
                <a:latin typeface="Arial" panose="020B0604020202020204" pitchFamily="34" charset="0"/>
                <a:cs typeface="Arial" panose="020B0604020202020204" pitchFamily="34" charset="0"/>
              </a:rPr>
              <a:t>por ejemplo</a:t>
            </a:r>
            <a:r>
              <a:rPr lang="es-MX" sz="2000" dirty="0">
                <a:latin typeface="Arial" panose="020B0604020202020204" pitchFamily="34" charset="0"/>
                <a:cs typeface="Arial" panose="020B0604020202020204" pitchFamily="34" charset="0"/>
              </a:rPr>
              <a:t>, compras por un </a:t>
            </a:r>
            <a:r>
              <a:rPr lang="es-MX" sz="2000" dirty="0" smtClean="0">
                <a:latin typeface="Arial" panose="020B0604020202020204" pitchFamily="34" charset="0"/>
                <a:cs typeface="Arial" panose="020B0604020202020204" pitchFamily="34" charset="0"/>
              </a:rPr>
              <a:t>importe </a:t>
            </a:r>
            <a:r>
              <a:rPr lang="es-MX" sz="2000" dirty="0">
                <a:latin typeface="Arial" panose="020B0604020202020204" pitchFamily="34" charset="0"/>
                <a:cs typeface="Arial" panose="020B0604020202020204" pitchFamily="34" charset="0"/>
              </a:rPr>
              <a:t>mucho mas elevado que el de las compras </a:t>
            </a:r>
            <a:r>
              <a:rPr lang="es-MX" sz="2000" dirty="0" smtClean="0">
                <a:latin typeface="Arial" panose="020B0604020202020204" pitchFamily="34" charset="0"/>
                <a:cs typeface="Arial" panose="020B0604020202020204" pitchFamily="34" charset="0"/>
              </a:rPr>
              <a:t>efectuadas habitualmente </a:t>
            </a:r>
            <a:r>
              <a:rPr lang="es-MX" sz="2000" dirty="0">
                <a:latin typeface="Arial" panose="020B0604020202020204" pitchFamily="34" charset="0"/>
                <a:cs typeface="Arial" panose="020B0604020202020204" pitchFamily="34" charset="0"/>
              </a:rPr>
              <a:t>con la </a:t>
            </a:r>
            <a:r>
              <a:rPr lang="es-MX" sz="2000" dirty="0" smtClean="0">
                <a:latin typeface="Arial" panose="020B0604020202020204" pitchFamily="34" charset="0"/>
                <a:cs typeface="Arial" panose="020B0604020202020204" pitchFamily="34" charset="0"/>
              </a:rPr>
              <a:t>tarjeta, </a:t>
            </a:r>
            <a:r>
              <a:rPr lang="es-MX" sz="2000" dirty="0">
                <a:latin typeface="Arial" panose="020B0604020202020204" pitchFamily="34" charset="0"/>
                <a:cs typeface="Arial" panose="020B0604020202020204" pitchFamily="34" charset="0"/>
              </a:rPr>
              <a:t>o </a:t>
            </a:r>
            <a:r>
              <a:rPr lang="es-MX" sz="2000" dirty="0" smtClean="0">
                <a:latin typeface="Arial" panose="020B0604020202020204" pitchFamily="34" charset="0"/>
                <a:cs typeface="Arial" panose="020B0604020202020204" pitchFamily="34" charset="0"/>
              </a:rPr>
              <a:t>días </a:t>
            </a:r>
            <a:r>
              <a:rPr lang="es-MX" sz="2000" dirty="0">
                <a:latin typeface="Arial" panose="020B0604020202020204" pitchFamily="34" charset="0"/>
                <a:cs typeface="Arial" panose="020B0604020202020204" pitchFamily="34" charset="0"/>
              </a:rPr>
              <a:t>en los que la </a:t>
            </a:r>
            <a:r>
              <a:rPr lang="es-MX" sz="2000" dirty="0" smtClean="0">
                <a:latin typeface="Arial" panose="020B0604020202020204" pitchFamily="34" charset="0"/>
                <a:cs typeface="Arial" panose="020B0604020202020204" pitchFamily="34" charset="0"/>
              </a:rPr>
              <a:t>cantidad de lluvia </a:t>
            </a:r>
            <a:r>
              <a:rPr lang="es-MX" sz="2000" dirty="0">
                <a:latin typeface="Arial" panose="020B0604020202020204" pitchFamily="34" charset="0"/>
                <a:cs typeface="Arial" panose="020B0604020202020204" pitchFamily="34" charset="0"/>
              </a:rPr>
              <a:t>recogida </a:t>
            </a:r>
            <a:r>
              <a:rPr lang="es-MX" sz="2000" dirty="0" smtClean="0">
                <a:latin typeface="Arial" panose="020B0604020202020204" pitchFamily="34" charset="0"/>
                <a:cs typeface="Arial" panose="020B0604020202020204" pitchFamily="34" charset="0"/>
              </a:rPr>
              <a:t>es muy  </a:t>
            </a:r>
            <a:r>
              <a:rPr lang="es-MX" sz="2000" dirty="0">
                <a:latin typeface="Arial" panose="020B0604020202020204" pitchFamily="34" charset="0"/>
                <a:cs typeface="Arial" panose="020B0604020202020204" pitchFamily="34" charset="0"/>
              </a:rPr>
              <a:t>superior a la media). </a:t>
            </a:r>
            <a:endParaRPr lang="es-MX" sz="2000" dirty="0" smtClean="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La presencia de datos faltantes o </a:t>
            </a:r>
            <a:r>
              <a:rPr lang="es-MX" sz="2000" dirty="0" smtClean="0">
                <a:latin typeface="Arial" panose="020B0604020202020204" pitchFamily="34" charset="0"/>
                <a:cs typeface="Arial" panose="020B0604020202020204" pitchFamily="34" charset="0"/>
              </a:rPr>
              <a:t>perdidos (</a:t>
            </a:r>
            <a:r>
              <a:rPr lang="es-MX" sz="2000" b="1" dirty="0" err="1">
                <a:latin typeface="Arial" panose="020B0604020202020204" pitchFamily="34" charset="0"/>
                <a:cs typeface="Arial" panose="020B0604020202020204" pitchFamily="34" charset="0"/>
              </a:rPr>
              <a:t>missing</a:t>
            </a:r>
            <a:r>
              <a:rPr lang="es-MX" sz="2000" b="1" dirty="0">
                <a:latin typeface="Arial" panose="020B0604020202020204" pitchFamily="34" charset="0"/>
                <a:cs typeface="Arial" panose="020B0604020202020204" pitchFamily="34" charset="0"/>
              </a:rPr>
              <a:t> </a:t>
            </a:r>
            <a:r>
              <a:rPr lang="es-MX" sz="2000" b="1" dirty="0" err="1">
                <a:latin typeface="Arial" panose="020B0604020202020204" pitchFamily="34" charset="0"/>
                <a:cs typeface="Arial" panose="020B0604020202020204" pitchFamily="34" charset="0"/>
              </a:rPr>
              <a:t>values</a:t>
            </a:r>
            <a:r>
              <a:rPr lang="es-MX" sz="2000" dirty="0">
                <a:latin typeface="Arial" panose="020B0604020202020204" pitchFamily="34" charset="0"/>
                <a:cs typeface="Arial" panose="020B0604020202020204" pitchFamily="34" charset="0"/>
              </a:rPr>
              <a:t>) puede </a:t>
            </a:r>
            <a:r>
              <a:rPr lang="es-MX" sz="2000" dirty="0" smtClean="0">
                <a:latin typeface="Arial" panose="020B0604020202020204" pitchFamily="34" charset="0"/>
                <a:cs typeface="Arial" panose="020B0604020202020204" pitchFamily="34" charset="0"/>
              </a:rPr>
              <a:t>ser también </a:t>
            </a:r>
            <a:r>
              <a:rPr lang="es-MX" sz="2000" dirty="0">
                <a:latin typeface="Arial" panose="020B0604020202020204" pitchFamily="34" charset="0"/>
                <a:cs typeface="Arial" panose="020B0604020202020204" pitchFamily="34" charset="0"/>
              </a:rPr>
              <a:t>un </a:t>
            </a:r>
            <a:r>
              <a:rPr lang="es-MX" sz="2000" dirty="0" smtClean="0">
                <a:latin typeface="Arial" panose="020B0604020202020204" pitchFamily="34" charset="0"/>
                <a:cs typeface="Arial" panose="020B0604020202020204" pitchFamily="34" charset="0"/>
              </a:rPr>
              <a:t>problema pernicioso </a:t>
            </a:r>
            <a:r>
              <a:rPr lang="es-MX" sz="2000" dirty="0">
                <a:latin typeface="Arial" panose="020B0604020202020204" pitchFamily="34" charset="0"/>
                <a:cs typeface="Arial" panose="020B0604020202020204" pitchFamily="34" charset="0"/>
              </a:rPr>
              <a:t>que puede conducir a resultados poco </a:t>
            </a:r>
            <a:r>
              <a:rPr lang="es-MX" sz="2000" dirty="0" smtClean="0">
                <a:latin typeface="Arial" panose="020B0604020202020204" pitchFamily="34" charset="0"/>
                <a:cs typeface="Arial" panose="020B0604020202020204" pitchFamily="34" charset="0"/>
              </a:rPr>
              <a:t>precisos. </a:t>
            </a:r>
          </a:p>
          <a:p>
            <a:pPr algn="just"/>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59215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484310" y="1581911"/>
            <a:ext cx="10018713" cy="3124201"/>
          </a:xfrm>
        </p:spPr>
        <p:txBody>
          <a:bodyPr/>
          <a:lstStyle/>
          <a:p>
            <a:r>
              <a:rPr lang="es-MX" dirty="0" smtClean="0">
                <a:latin typeface="Arial" panose="020B0604020202020204" pitchFamily="34" charset="0"/>
                <a:cs typeface="Arial" panose="020B0604020202020204" pitchFamily="34" charset="0"/>
              </a:rPr>
              <a:t>Es necesario reflexionar primero sobre el significado de los valores faltantes antes de tomar ninguna decisión sobre como tratarlos ya que estos pueden deberse a causas muy diversas, como a un mal funcionamiento del dispositivo que hizo la lectura del valor, a cambios efectuados en los procedimientos usados durante la colección de los datos o al hecho de que los datos se recopilen desde fuentes diversas.</a:t>
            </a:r>
          </a:p>
          <a:p>
            <a:endParaRPr lang="es-MX"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931831" y="1133341"/>
            <a:ext cx="8474298" cy="3477875"/>
          </a:xfrm>
          <a:prstGeom prst="rect">
            <a:avLst/>
          </a:prstGeom>
          <a:noFill/>
        </p:spPr>
        <p:txBody>
          <a:bodyPr wrap="square" rtlCol="0">
            <a:spAutoFit/>
          </a:bodyPr>
          <a:lstStyle/>
          <a:p>
            <a:pPr algn="just"/>
            <a:r>
              <a:rPr lang="es-MX" sz="2000" dirty="0">
                <a:latin typeface="Arial" panose="020B0604020202020204" pitchFamily="34" charset="0"/>
                <a:cs typeface="Arial" panose="020B0604020202020204" pitchFamily="34" charset="0"/>
              </a:rPr>
              <a:t>E</a:t>
            </a:r>
            <a:r>
              <a:rPr lang="es-MX" sz="2000" dirty="0" smtClean="0">
                <a:latin typeface="Arial" panose="020B0604020202020204" pitchFamily="34" charset="0"/>
                <a:cs typeface="Arial" panose="020B0604020202020204" pitchFamily="34" charset="0"/>
              </a:rPr>
              <a:t>stos </a:t>
            </a:r>
            <a:r>
              <a:rPr lang="es-MX" sz="2000" dirty="0">
                <a:latin typeface="Arial" panose="020B0604020202020204" pitchFamily="34" charset="0"/>
                <a:cs typeface="Arial" panose="020B0604020202020204" pitchFamily="34" charset="0"/>
              </a:rPr>
              <a:t>dos problemas son solo dos ejemplos que muestran la necesidad </a:t>
            </a:r>
            <a:r>
              <a:rPr lang="es-MX" sz="2000" dirty="0" smtClean="0">
                <a:latin typeface="Arial" panose="020B0604020202020204" pitchFamily="34" charset="0"/>
                <a:cs typeface="Arial" panose="020B0604020202020204" pitchFamily="34" charset="0"/>
              </a:rPr>
              <a:t>de </a:t>
            </a:r>
            <a:r>
              <a:rPr lang="es-MX" sz="2000" dirty="0">
                <a:latin typeface="Arial" panose="020B0604020202020204" pitchFamily="34" charset="0"/>
                <a:cs typeface="Arial" panose="020B0604020202020204" pitchFamily="34" charset="0"/>
              </a:rPr>
              <a:t>la </a:t>
            </a:r>
            <a:r>
              <a:rPr lang="es-MX" sz="2000" dirty="0" smtClean="0">
                <a:latin typeface="Arial" panose="020B0604020202020204" pitchFamily="34" charset="0"/>
                <a:cs typeface="Arial" panose="020B0604020202020204" pitchFamily="34" charset="0"/>
              </a:rPr>
              <a:t>limpieza </a:t>
            </a:r>
            <a:r>
              <a:rPr lang="es-MX" sz="2000" dirty="0">
                <a:latin typeface="Arial" panose="020B0604020202020204" pitchFamily="34" charset="0"/>
                <a:cs typeface="Arial" panose="020B0604020202020204" pitchFamily="34" charset="0"/>
              </a:rPr>
              <a:t>de datos, </a:t>
            </a:r>
            <a:r>
              <a:rPr lang="es-MX" sz="2000" dirty="0" smtClean="0">
                <a:latin typeface="Arial" panose="020B0604020202020204" pitchFamily="34" charset="0"/>
                <a:cs typeface="Arial" panose="020B0604020202020204" pitchFamily="34" charset="0"/>
              </a:rPr>
              <a:t>es decir</a:t>
            </a:r>
            <a:r>
              <a:rPr lang="es-MX" sz="2000" dirty="0">
                <a:latin typeface="Arial" panose="020B0604020202020204" pitchFamily="34" charset="0"/>
                <a:cs typeface="Arial" panose="020B0604020202020204" pitchFamily="34" charset="0"/>
              </a:rPr>
              <a:t>, de mejorar su calidad. </a:t>
            </a:r>
            <a:endParaRPr lang="es-MX" sz="2000" dirty="0" smtClean="0">
              <a:latin typeface="Arial" panose="020B0604020202020204" pitchFamily="34" charset="0"/>
              <a:cs typeface="Arial" panose="020B0604020202020204" pitchFamily="34" charset="0"/>
            </a:endParaRPr>
          </a:p>
          <a:p>
            <a:pPr algn="just"/>
            <a:endParaRPr lang="es-MX" sz="2000" dirty="0" smtClean="0">
              <a:latin typeface="Arial" panose="020B0604020202020204" pitchFamily="34" charset="0"/>
              <a:cs typeface="Arial" panose="020B0604020202020204" pitchFamily="34" charset="0"/>
            </a:endParaRPr>
          </a:p>
          <a:p>
            <a:pPr algn="just"/>
            <a:r>
              <a:rPr lang="es-MX" sz="2000" dirty="0" smtClean="0">
                <a:latin typeface="Arial" panose="020B0604020202020204" pitchFamily="34" charset="0"/>
                <a:cs typeface="Arial" panose="020B0604020202020204" pitchFamily="34" charset="0"/>
              </a:rPr>
              <a:t>No es </a:t>
            </a:r>
            <a:r>
              <a:rPr lang="es-MX" sz="2000" dirty="0">
                <a:latin typeface="Arial" panose="020B0604020202020204" pitchFamily="34" charset="0"/>
                <a:cs typeface="Arial" panose="020B0604020202020204" pitchFamily="34" charset="0"/>
              </a:rPr>
              <a:t>solo </a:t>
            </a:r>
            <a:r>
              <a:rPr lang="es-MX" sz="2000" dirty="0" smtClean="0">
                <a:latin typeface="Arial" panose="020B0604020202020204" pitchFamily="34" charset="0"/>
                <a:cs typeface="Arial" panose="020B0604020202020204" pitchFamily="34" charset="0"/>
              </a:rPr>
              <a:t>suficiente con tener </a:t>
            </a:r>
            <a:r>
              <a:rPr lang="es-MX" sz="2000" dirty="0">
                <a:latin typeface="Arial" panose="020B0604020202020204" pitchFamily="34" charset="0"/>
                <a:cs typeface="Arial" panose="020B0604020202020204" pitchFamily="34" charset="0"/>
              </a:rPr>
              <a:t>una buena calidad de datos, sino </a:t>
            </a:r>
            <a:r>
              <a:rPr lang="es-MX" sz="2000" dirty="0" smtClean="0">
                <a:latin typeface="Arial" panose="020B0604020202020204" pitchFamily="34" charset="0"/>
                <a:cs typeface="Arial" panose="020B0604020202020204" pitchFamily="34" charset="0"/>
              </a:rPr>
              <a:t>además </a:t>
            </a:r>
            <a:r>
              <a:rPr lang="es-MX" sz="2000" dirty="0">
                <a:latin typeface="Arial" panose="020B0604020202020204" pitchFamily="34" charset="0"/>
                <a:cs typeface="Arial" panose="020B0604020202020204" pitchFamily="34" charset="0"/>
              </a:rPr>
              <a:t>poder </a:t>
            </a:r>
            <a:r>
              <a:rPr lang="es-MX" sz="2000" dirty="0" smtClean="0">
                <a:latin typeface="Arial" panose="020B0604020202020204" pitchFamily="34" charset="0"/>
                <a:cs typeface="Arial" panose="020B0604020202020204" pitchFamily="34" charset="0"/>
              </a:rPr>
              <a:t>proporcionar </a:t>
            </a:r>
            <a:r>
              <a:rPr lang="es-MX" sz="2000" dirty="0">
                <a:latin typeface="Arial" panose="020B0604020202020204" pitchFamily="34" charset="0"/>
                <a:cs typeface="Arial" panose="020B0604020202020204" pitchFamily="34" charset="0"/>
              </a:rPr>
              <a:t>a los </a:t>
            </a:r>
            <a:r>
              <a:rPr lang="es-MX" sz="2000" dirty="0" smtClean="0">
                <a:latin typeface="Arial" panose="020B0604020202020204" pitchFamily="34" charset="0"/>
                <a:cs typeface="Arial" panose="020B0604020202020204" pitchFamily="34" charset="0"/>
              </a:rPr>
              <a:t>métodos </a:t>
            </a:r>
            <a:r>
              <a:rPr lang="es-MX" sz="2000" dirty="0">
                <a:latin typeface="Arial" panose="020B0604020202020204" pitchFamily="34" charset="0"/>
                <a:cs typeface="Arial" panose="020B0604020202020204" pitchFamily="34" charset="0"/>
              </a:rPr>
              <a:t>de </a:t>
            </a:r>
            <a:r>
              <a:rPr lang="es-MX" sz="2000" dirty="0" smtClean="0">
                <a:latin typeface="Arial" panose="020B0604020202020204" pitchFamily="34" charset="0"/>
                <a:cs typeface="Arial" panose="020B0604020202020204" pitchFamily="34" charset="0"/>
              </a:rPr>
              <a:t>minería </a:t>
            </a:r>
            <a:r>
              <a:rPr lang="es-MX" sz="2000" dirty="0">
                <a:latin typeface="Arial" panose="020B0604020202020204" pitchFamily="34" charset="0"/>
                <a:cs typeface="Arial" panose="020B0604020202020204" pitchFamily="34" charset="0"/>
              </a:rPr>
              <a:t>de datos el </a:t>
            </a:r>
            <a:r>
              <a:rPr lang="es-MX" sz="2000" dirty="0" smtClean="0">
                <a:latin typeface="Arial" panose="020B0604020202020204" pitchFamily="34" charset="0"/>
                <a:cs typeface="Arial" panose="020B0604020202020204" pitchFamily="34" charset="0"/>
              </a:rPr>
              <a:t>subconjunto </a:t>
            </a:r>
            <a:r>
              <a:rPr lang="es-MX" sz="2000" dirty="0">
                <a:latin typeface="Arial" panose="020B0604020202020204" pitchFamily="34" charset="0"/>
                <a:cs typeface="Arial" panose="020B0604020202020204" pitchFamily="34" charset="0"/>
              </a:rPr>
              <a:t>de </a:t>
            </a:r>
            <a:r>
              <a:rPr lang="es-MX" sz="2000" dirty="0" smtClean="0">
                <a:latin typeface="Arial" panose="020B0604020202020204" pitchFamily="34" charset="0"/>
                <a:cs typeface="Arial" panose="020B0604020202020204" pitchFamily="34" charset="0"/>
              </a:rPr>
              <a:t>datos mas adecuado </a:t>
            </a:r>
            <a:r>
              <a:rPr lang="es-MX" sz="2000" dirty="0">
                <a:latin typeface="Arial" panose="020B0604020202020204" pitchFamily="34" charset="0"/>
                <a:cs typeface="Arial" panose="020B0604020202020204" pitchFamily="34" charset="0"/>
              </a:rPr>
              <a:t>para resolver el problema. </a:t>
            </a:r>
            <a:endParaRPr lang="es-MX" sz="2000" dirty="0" smtClean="0">
              <a:latin typeface="Arial" panose="020B0604020202020204" pitchFamily="34" charset="0"/>
              <a:cs typeface="Arial" panose="020B0604020202020204" pitchFamily="34" charset="0"/>
            </a:endParaRP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La </a:t>
            </a:r>
            <a:r>
              <a:rPr lang="es-MX" sz="2000" dirty="0" smtClean="0">
                <a:latin typeface="Arial" panose="020B0604020202020204" pitchFamily="34" charset="0"/>
                <a:cs typeface="Arial" panose="020B0604020202020204" pitchFamily="34" charset="0"/>
              </a:rPr>
              <a:t>selección </a:t>
            </a:r>
            <a:r>
              <a:rPr lang="es-MX" sz="2000" dirty="0">
                <a:latin typeface="Arial" panose="020B0604020202020204" pitchFamily="34" charset="0"/>
                <a:cs typeface="Arial" panose="020B0604020202020204" pitchFamily="34" charset="0"/>
              </a:rPr>
              <a:t>de </a:t>
            </a:r>
            <a:r>
              <a:rPr lang="es-MX" sz="2000" dirty="0" smtClean="0">
                <a:latin typeface="Arial" panose="020B0604020202020204" pitchFamily="34" charset="0"/>
                <a:cs typeface="Arial" panose="020B0604020202020204" pitchFamily="34" charset="0"/>
              </a:rPr>
              <a:t>atributos </a:t>
            </a:r>
            <a:r>
              <a:rPr lang="es-MX" sz="2000" dirty="0">
                <a:latin typeface="Arial" panose="020B0604020202020204" pitchFamily="34" charset="0"/>
                <a:cs typeface="Arial" panose="020B0604020202020204" pitchFamily="34" charset="0"/>
              </a:rPr>
              <a:t>relevantes es uno de los </a:t>
            </a:r>
            <a:r>
              <a:rPr lang="es-MX" sz="2000" dirty="0" smtClean="0">
                <a:latin typeface="Arial" panose="020B0604020202020204" pitchFamily="34" charset="0"/>
                <a:cs typeface="Arial" panose="020B0604020202020204" pitchFamily="34" charset="0"/>
              </a:rPr>
              <a:t>procesamientos mas </a:t>
            </a:r>
            <a:r>
              <a:rPr lang="es-MX" sz="2000" dirty="0">
                <a:latin typeface="Arial" panose="020B0604020202020204" pitchFamily="34" charset="0"/>
                <a:cs typeface="Arial" panose="020B0604020202020204" pitchFamily="34" charset="0"/>
              </a:rPr>
              <a:t>importantes, ya que es crucial que los atributos </a:t>
            </a:r>
            <a:r>
              <a:rPr lang="es-MX" sz="2000" dirty="0" smtClean="0">
                <a:latin typeface="Arial" panose="020B0604020202020204" pitchFamily="34" charset="0"/>
                <a:cs typeface="Arial" panose="020B0604020202020204" pitchFamily="34" charset="0"/>
              </a:rPr>
              <a:t>utilizados sean relevantes para la tarea de minería de datos.</a:t>
            </a:r>
          </a:p>
          <a:p>
            <a:pPr algn="just"/>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20711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2561350" y="2823908"/>
            <a:ext cx="7675809" cy="1323439"/>
          </a:xfrm>
          <a:prstGeom prst="rect">
            <a:avLst/>
          </a:prstGeom>
          <a:noFill/>
        </p:spPr>
        <p:txBody>
          <a:bodyPr wrap="square" rtlCol="0">
            <a:spAutoFit/>
          </a:bodyPr>
          <a:lstStyle/>
          <a:p>
            <a:pPr algn="just"/>
            <a:r>
              <a:rPr lang="es-MX" sz="2000" dirty="0" smtClean="0">
                <a:latin typeface="Arial" panose="020B0604020202020204" pitchFamily="34" charset="0"/>
                <a:cs typeface="Arial" panose="020B0604020202020204" pitchFamily="34" charset="0"/>
              </a:rPr>
              <a:t>La </a:t>
            </a:r>
            <a:r>
              <a:rPr lang="es-MX" sz="2000" dirty="0">
                <a:latin typeface="Arial" panose="020B0604020202020204" pitchFamily="34" charset="0"/>
                <a:cs typeface="Arial" panose="020B0604020202020204" pitchFamily="34" charset="0"/>
              </a:rPr>
              <a:t>base de </a:t>
            </a:r>
            <a:r>
              <a:rPr lang="es-MX" sz="2000" dirty="0" smtClean="0">
                <a:latin typeface="Arial" panose="020B0604020202020204" pitchFamily="34" charset="0"/>
                <a:cs typeface="Arial" panose="020B0604020202020204" pitchFamily="34" charset="0"/>
              </a:rPr>
              <a:t>datos </a:t>
            </a:r>
            <a:r>
              <a:rPr lang="es-MX" sz="2000" dirty="0">
                <a:latin typeface="Arial" panose="020B0604020202020204" pitchFamily="34" charset="0"/>
                <a:cs typeface="Arial" panose="020B0604020202020204" pitchFamily="34" charset="0"/>
              </a:rPr>
              <a:t>contenga un atributo que </a:t>
            </a:r>
            <a:r>
              <a:rPr lang="es-MX" sz="2000" dirty="0" smtClean="0">
                <a:latin typeface="Arial" panose="020B0604020202020204" pitchFamily="34" charset="0"/>
                <a:cs typeface="Arial" panose="020B0604020202020204" pitchFamily="34" charset="0"/>
              </a:rPr>
              <a:t>identifica .t </a:t>
            </a:r>
            <a:r>
              <a:rPr lang="es-MX" sz="2000" dirty="0">
                <a:latin typeface="Arial" panose="020B0604020202020204" pitchFamily="34" charset="0"/>
                <a:cs typeface="Arial" panose="020B0604020202020204" pitchFamily="34" charset="0"/>
              </a:rPr>
              <a:t>uno de los </a:t>
            </a:r>
            <a:r>
              <a:rPr lang="es-MX" sz="2000" dirty="0" smtClean="0">
                <a:latin typeface="Arial" panose="020B0604020202020204" pitchFamily="34" charset="0"/>
                <a:cs typeface="Arial" panose="020B0604020202020204" pitchFamily="34" charset="0"/>
              </a:rPr>
              <a:t>días </a:t>
            </a:r>
            <a:r>
              <a:rPr lang="es-MX" sz="2000" dirty="0">
                <a:latin typeface="Arial" panose="020B0604020202020204" pitchFamily="34" charset="0"/>
                <a:cs typeface="Arial" panose="020B0604020202020204" pitchFamily="34" charset="0"/>
              </a:rPr>
              <a:t>considerados (por ejemplo, la fecha</a:t>
            </a:r>
            <a:r>
              <a:rPr lang="es-MX" sz="2000" dirty="0" smtClean="0">
                <a:latin typeface="Arial" panose="020B0604020202020204" pitchFamily="34" charset="0"/>
                <a:cs typeface="Arial" panose="020B0604020202020204" pitchFamily="34" charset="0"/>
              </a:rPr>
              <a:t>). </a:t>
            </a:r>
            <a:r>
              <a:rPr lang="es-MX" sz="2000" dirty="0">
                <a:latin typeface="Arial" panose="020B0604020202020204" pitchFamily="34" charset="0"/>
                <a:cs typeface="Arial" panose="020B0604020202020204" pitchFamily="34" charset="0"/>
              </a:rPr>
              <a:t>Si consideramos este atributo en el proceso de </a:t>
            </a:r>
            <a:r>
              <a:rPr lang="es-MX" sz="2000" dirty="0" smtClean="0">
                <a:latin typeface="Arial" panose="020B0604020202020204" pitchFamily="34" charset="0"/>
                <a:cs typeface="Arial" panose="020B0604020202020204" pitchFamily="34" charset="0"/>
              </a:rPr>
              <a:t>minería, </a:t>
            </a:r>
            <a:r>
              <a:rPr lang="es-MX" sz="2000" dirty="0">
                <a:latin typeface="Arial" panose="020B0604020202020204" pitchFamily="34" charset="0"/>
                <a:cs typeface="Arial" panose="020B0604020202020204" pitchFamily="34" charset="0"/>
              </a:rPr>
              <a:t>un algoritmo de </a:t>
            </a:r>
            <a:r>
              <a:rPr lang="es-MX" sz="2000" dirty="0" smtClean="0">
                <a:latin typeface="Arial" panose="020B0604020202020204" pitchFamily="34" charset="0"/>
                <a:cs typeface="Arial" panose="020B0604020202020204" pitchFamily="34" charset="0"/>
              </a:rPr>
              <a:t>generación </a:t>
            </a:r>
            <a:r>
              <a:rPr lang="es-MX" sz="2000" dirty="0">
                <a:latin typeface="Arial" panose="020B0604020202020204" pitchFamily="34" charset="0"/>
                <a:cs typeface="Arial" panose="020B0604020202020204" pitchFamily="34" charset="0"/>
              </a:rPr>
              <a:t>de reglas </a:t>
            </a:r>
            <a:r>
              <a:rPr lang="es-MX" sz="2000" dirty="0" smtClean="0">
                <a:latin typeface="Arial" panose="020B0604020202020204" pitchFamily="34" charset="0"/>
                <a:cs typeface="Arial" panose="020B0604020202020204" pitchFamily="34" charset="0"/>
              </a:rPr>
              <a:t>podría </a:t>
            </a:r>
            <a:r>
              <a:rPr lang="es-MX" sz="2000" dirty="0">
                <a:latin typeface="Arial" panose="020B0604020202020204" pitchFamily="34" charset="0"/>
                <a:cs typeface="Arial" panose="020B0604020202020204" pitchFamily="34" charset="0"/>
              </a:rPr>
              <a:t>obtener reglas </a:t>
            </a:r>
            <a:r>
              <a:rPr lang="es-MX" sz="2000" dirty="0" smtClean="0">
                <a:latin typeface="Arial" panose="020B0604020202020204" pitchFamily="34" charset="0"/>
                <a:cs typeface="Arial" panose="020B0604020202020204" pitchFamily="34" charset="0"/>
              </a:rPr>
              <a:t>como</a:t>
            </a:r>
            <a:endParaRPr lang="es-MX" sz="2000" dirty="0">
              <a:latin typeface="Arial" panose="020B0604020202020204" pitchFamily="34" charset="0"/>
              <a:cs typeface="Arial" panose="020B0604020202020204" pitchFamily="34" charset="0"/>
            </a:endParaRPr>
          </a:p>
        </p:txBody>
      </p:sp>
      <p:pic>
        <p:nvPicPr>
          <p:cNvPr id="5" name="Imagen 4"/>
          <p:cNvPicPr>
            <a:picLocks noChangeAspect="1"/>
          </p:cNvPicPr>
          <p:nvPr/>
        </p:nvPicPr>
        <p:blipFill rotWithShape="1">
          <a:blip r:embed="rId2"/>
          <a:srcRect l="29379" t="50132" r="32117" b="46523"/>
          <a:stretch/>
        </p:blipFill>
        <p:spPr>
          <a:xfrm>
            <a:off x="3109130" y="4811031"/>
            <a:ext cx="6336407" cy="476519"/>
          </a:xfrm>
          <a:prstGeom prst="rect">
            <a:avLst/>
          </a:prstGeom>
        </p:spPr>
      </p:pic>
      <p:sp>
        <p:nvSpPr>
          <p:cNvPr id="6" name="CuadroTexto 5"/>
          <p:cNvSpPr txBox="1"/>
          <p:nvPr/>
        </p:nvSpPr>
        <p:spPr>
          <a:xfrm>
            <a:off x="2463813" y="5735212"/>
            <a:ext cx="7675809" cy="400110"/>
          </a:xfrm>
          <a:prstGeom prst="rect">
            <a:avLst/>
          </a:prstGeom>
          <a:noFill/>
        </p:spPr>
        <p:txBody>
          <a:bodyPr wrap="square" rtlCol="0">
            <a:spAutoFit/>
          </a:bodyPr>
          <a:lstStyle/>
          <a:p>
            <a:r>
              <a:rPr lang="es-MX" sz="2000" dirty="0" smtClean="0">
                <a:latin typeface="Arial" panose="020B0604020202020204" pitchFamily="34" charset="0"/>
                <a:cs typeface="Arial" panose="020B0604020202020204" pitchFamily="34" charset="0"/>
              </a:rPr>
              <a:t>que, aunque correcta, es inútil para realizar predicciones futuras</a:t>
            </a:r>
            <a:r>
              <a:rPr lang="es-MX" dirty="0" smtClean="0"/>
              <a:t>.</a:t>
            </a:r>
            <a:endParaRPr lang="es-MX" dirty="0"/>
          </a:p>
        </p:txBody>
      </p:sp>
      <p:sp>
        <p:nvSpPr>
          <p:cNvPr id="7" name="6 CuadroTexto"/>
          <p:cNvSpPr txBox="1"/>
          <p:nvPr/>
        </p:nvSpPr>
        <p:spPr>
          <a:xfrm>
            <a:off x="2267712" y="938784"/>
            <a:ext cx="8144256" cy="1200329"/>
          </a:xfrm>
          <a:prstGeom prst="rect">
            <a:avLst/>
          </a:prstGeom>
          <a:noFill/>
        </p:spPr>
        <p:txBody>
          <a:bodyPr wrap="square" rtlCol="0">
            <a:spAutoFit/>
          </a:bodyPr>
          <a:lstStyle/>
          <a:p>
            <a:r>
              <a:rPr lang="es-MX" dirty="0" smtClean="0">
                <a:latin typeface="Arial" panose="020B0604020202020204" pitchFamily="34" charset="0"/>
                <a:cs typeface="Arial" panose="020B0604020202020204" pitchFamily="34" charset="0"/>
              </a:rPr>
              <a:t>Por ejemplo, supongamos quo los jueces del torneo de Wimbledon desean determinar a partir de las condiciones climatológicas (nubosidad, humedad, temperaturas, etc.) si se puede jugar o no al tenis.</a:t>
            </a:r>
          </a:p>
          <a:p>
            <a:endParaRPr lang="es-MX" dirty="0"/>
          </a:p>
        </p:txBody>
      </p:sp>
    </p:spTree>
    <p:extLst>
      <p:ext uri="{BB962C8B-B14F-4D97-AF65-F5344CB8AC3E}">
        <p14:creationId xmlns:p14="http://schemas.microsoft.com/office/powerpoint/2010/main" val="162758942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xmlns=""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TC103457496[[fn=Paralaje]]</Template>
  <TotalTime>300</TotalTime>
  <Words>1105</Words>
  <Application>Microsoft Office PowerPoint</Application>
  <PresentationFormat>Personalizado</PresentationFormat>
  <Paragraphs>54</Paragraphs>
  <Slides>13</Slides>
  <Notes>0</Notes>
  <HiddenSlides>0</HiddenSlides>
  <MMClips>0</MMClips>
  <ScaleCrop>false</ScaleCrop>
  <HeadingPairs>
    <vt:vector size="4" baseType="variant">
      <vt:variant>
        <vt:lpstr>Tema</vt:lpstr>
      </vt:variant>
      <vt:variant>
        <vt:i4>1</vt:i4>
      </vt:variant>
      <vt:variant>
        <vt:lpstr>Títulos de diapositiva</vt:lpstr>
      </vt:variant>
      <vt:variant>
        <vt:i4>13</vt:i4>
      </vt:variant>
    </vt:vector>
  </HeadingPairs>
  <TitlesOfParts>
    <vt:vector size="14" baseType="lpstr">
      <vt:lpstr>Parallax</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dc:creator>
  <cp:lastModifiedBy>Usuario</cp:lastModifiedBy>
  <cp:revision>35</cp:revision>
  <dcterms:created xsi:type="dcterms:W3CDTF">2014-03-13T05:21:30Z</dcterms:created>
  <dcterms:modified xsi:type="dcterms:W3CDTF">2014-04-04T17:43:27Z</dcterms:modified>
</cp:coreProperties>
</file>