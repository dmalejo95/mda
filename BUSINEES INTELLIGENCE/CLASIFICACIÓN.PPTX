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1" r:id="rId2"/>
    <p:sldId id="272" r:id="rId3"/>
    <p:sldId id="281" r:id="rId4"/>
    <p:sldId id="284" r:id="rId5"/>
    <p:sldId id="285" r:id="rId6"/>
    <p:sldId id="286" r:id="rId7"/>
    <p:sldId id="287" r:id="rId8"/>
    <p:sldId id="293" r:id="rId9"/>
    <p:sldId id="294" r:id="rId10"/>
    <p:sldId id="273" r:id="rId11"/>
    <p:sldId id="280" r:id="rId12"/>
    <p:sldId id="290" r:id="rId13"/>
    <p:sldId id="291" r:id="rId14"/>
    <p:sldId id="292" r:id="rId15"/>
    <p:sldId id="274" r:id="rId16"/>
    <p:sldId id="275" r:id="rId17"/>
    <p:sldId id="282" r:id="rId18"/>
    <p:sldId id="283" r:id="rId19"/>
    <p:sldId id="276" r:id="rId20"/>
    <p:sldId id="277" r:id="rId21"/>
    <p:sldId id="278" r:id="rId22"/>
    <p:sldId id="289" r:id="rId23"/>
    <p:sldId id="279" r:id="rId24"/>
    <p:sldId id="268" r:id="rId25"/>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128" autoAdjust="0"/>
  </p:normalViewPr>
  <p:slideViewPr>
    <p:cSldViewPr>
      <p:cViewPr varScale="1">
        <p:scale>
          <a:sx n="70" d="100"/>
          <a:sy n="70" d="100"/>
        </p:scale>
        <p:origin x="-1374"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23" name="22 Rectángulo"/>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23 Rectángulo"/>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24 Rectángulo"/>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25 Rectángulo"/>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26 Rectángulo"/>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29 Rectángulo redondeado"/>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30 Rectángulo redondeado"/>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6 Rectángulo"/>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9 Rectángulo"/>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Rectángulo"/>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18 Rectángulo"/>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7 Título"/>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es-ES" smtClean="0"/>
              <a:t>Haga clic para modificar el estilo de título del patrón</a:t>
            </a:r>
            <a:endParaRPr kumimoji="0" lang="en-US"/>
          </a:p>
        </p:txBody>
      </p:sp>
      <p:sp>
        <p:nvSpPr>
          <p:cNvPr id="9" name="8 Subtítulo"/>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s-ES" smtClean="0"/>
              <a:t>Haga clic para modificar el estilo de subtítulo del patrón</a:t>
            </a:r>
            <a:endParaRPr kumimoji="0" lang="en-US"/>
          </a:p>
        </p:txBody>
      </p:sp>
      <p:sp>
        <p:nvSpPr>
          <p:cNvPr id="28" name="27 Marcador de fecha"/>
          <p:cNvSpPr>
            <a:spLocks noGrp="1"/>
          </p:cNvSpPr>
          <p:nvPr>
            <p:ph type="dt" sz="half" idx="10"/>
          </p:nvPr>
        </p:nvSpPr>
        <p:spPr>
          <a:xfrm>
            <a:off x="6705600" y="4206240"/>
            <a:ext cx="960120" cy="457200"/>
          </a:xfrm>
        </p:spPr>
        <p:txBody>
          <a:bodyPr/>
          <a:lstStyle/>
          <a:p>
            <a:fld id="{5114FEF5-4001-4071-8BA6-DD2B890FA446}" type="datetimeFigureOut">
              <a:rPr lang="es-ES" smtClean="0"/>
              <a:pPr/>
              <a:t>04/04/2014</a:t>
            </a:fld>
            <a:endParaRPr lang="es-ES"/>
          </a:p>
        </p:txBody>
      </p:sp>
      <p:sp>
        <p:nvSpPr>
          <p:cNvPr id="17" name="16 Marcador de pie de página"/>
          <p:cNvSpPr>
            <a:spLocks noGrp="1"/>
          </p:cNvSpPr>
          <p:nvPr>
            <p:ph type="ftr" sz="quarter" idx="11"/>
          </p:nvPr>
        </p:nvSpPr>
        <p:spPr>
          <a:xfrm>
            <a:off x="5410200" y="4205288"/>
            <a:ext cx="1295400" cy="457200"/>
          </a:xfrm>
        </p:spPr>
        <p:txBody>
          <a:bodyPr/>
          <a:lstStyle/>
          <a:p>
            <a:endParaRPr lang="es-ES"/>
          </a:p>
        </p:txBody>
      </p:sp>
      <p:sp>
        <p:nvSpPr>
          <p:cNvPr id="29" name="28 Marcador de número de diapositiva"/>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E194CC9A-879C-47F3-8A98-5F6A7C2BB3B8}" type="slidenum">
              <a:rPr lang="es-ES" smtClean="0"/>
              <a:pPr/>
              <a:t>‹Nº›</a:t>
            </a:fld>
            <a:endParaRPr lang="es-E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contenido"/>
          <p:cNvSpPr>
            <a:spLocks noGrp="1"/>
          </p:cNvSpPr>
          <p:nvPr>
            <p:ph idx="1"/>
          </p:nvPr>
        </p:nvSpPr>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5114FEF5-4001-4071-8BA6-DD2B890FA446}" type="datetimeFigureOut">
              <a:rPr lang="es-ES" smtClean="0"/>
              <a:pPr/>
              <a:t>04/04/2014</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E194CC9A-879C-47F3-8A98-5F6A7C2BB3B8}" type="slidenum">
              <a:rPr lang="es-ES" smtClean="0"/>
              <a:pPr/>
              <a:t>‹Nº›</a:t>
            </a:fld>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s-ES" smtClean="0"/>
              <a:t>Haga clic para modificar el estilo de texto del patrón</a:t>
            </a:r>
          </a:p>
        </p:txBody>
      </p:sp>
      <p:sp>
        <p:nvSpPr>
          <p:cNvPr id="4" name="3 Marcador de fecha"/>
          <p:cNvSpPr>
            <a:spLocks noGrp="1"/>
          </p:cNvSpPr>
          <p:nvPr>
            <p:ph type="dt" sz="half" idx="10"/>
          </p:nvPr>
        </p:nvSpPr>
        <p:spPr/>
        <p:txBody>
          <a:bodyPr/>
          <a:lstStyle/>
          <a:p>
            <a:fld id="{5114FEF5-4001-4071-8BA6-DD2B890FA446}" type="datetimeFigureOut">
              <a:rPr lang="es-ES" smtClean="0"/>
              <a:pPr/>
              <a:t>04/04/2014</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E194CC9A-879C-47F3-8A98-5F6A7C2BB3B8}" type="slidenum">
              <a:rPr lang="es-ES" smtClean="0"/>
              <a:pPr/>
              <a:t>‹Nº›</a:t>
            </a:fld>
            <a:endParaRPr lang="es-E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contenido"/>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contenido"/>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5" name="4 Marcador de fecha"/>
          <p:cNvSpPr>
            <a:spLocks noGrp="1"/>
          </p:cNvSpPr>
          <p:nvPr>
            <p:ph type="dt" sz="half" idx="10"/>
          </p:nvPr>
        </p:nvSpPr>
        <p:spPr/>
        <p:txBody>
          <a:bodyPr/>
          <a:lstStyle/>
          <a:p>
            <a:fld id="{5114FEF5-4001-4071-8BA6-DD2B890FA446}" type="datetimeFigureOut">
              <a:rPr lang="es-ES" smtClean="0"/>
              <a:pPr/>
              <a:t>04/04/2014</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E194CC9A-879C-47F3-8A98-5F6A7C2BB3B8}" type="slidenum">
              <a:rPr lang="es-ES" smtClean="0"/>
              <a:pPr/>
              <a:t>‹Nº›</a:t>
            </a:fld>
            <a:endParaRPr lang="es-E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381000" y="1143000"/>
            <a:ext cx="8382000" cy="1069848"/>
          </a:xfrm>
        </p:spPr>
        <p:txBody>
          <a:bodyPr anchor="ctr"/>
          <a:lstStyle>
            <a:lvl1pPr>
              <a:defRPr sz="4000" b="0" i="0" cap="none" baseline="0"/>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4" name="3 Marcador de texto"/>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5" name="4 Marcador de contenido"/>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6" name="5 Marcador de contenido"/>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26" name="25 Marcador de fecha"/>
          <p:cNvSpPr>
            <a:spLocks noGrp="1"/>
          </p:cNvSpPr>
          <p:nvPr>
            <p:ph type="dt" sz="half" idx="10"/>
          </p:nvPr>
        </p:nvSpPr>
        <p:spPr/>
        <p:txBody>
          <a:bodyPr rtlCol="0"/>
          <a:lstStyle/>
          <a:p>
            <a:fld id="{5114FEF5-4001-4071-8BA6-DD2B890FA446}" type="datetimeFigureOut">
              <a:rPr lang="es-ES" smtClean="0"/>
              <a:pPr/>
              <a:t>04/04/2014</a:t>
            </a:fld>
            <a:endParaRPr lang="es-ES"/>
          </a:p>
        </p:txBody>
      </p:sp>
      <p:sp>
        <p:nvSpPr>
          <p:cNvPr id="27" name="26 Marcador de número de diapositiva"/>
          <p:cNvSpPr>
            <a:spLocks noGrp="1"/>
          </p:cNvSpPr>
          <p:nvPr>
            <p:ph type="sldNum" sz="quarter" idx="11"/>
          </p:nvPr>
        </p:nvSpPr>
        <p:spPr/>
        <p:txBody>
          <a:bodyPr rtlCol="0"/>
          <a:lstStyle/>
          <a:p>
            <a:fld id="{E194CC9A-879C-47F3-8A98-5F6A7C2BB3B8}" type="slidenum">
              <a:rPr lang="es-ES" smtClean="0"/>
              <a:pPr/>
              <a:t>‹Nº›</a:t>
            </a:fld>
            <a:endParaRPr lang="es-ES"/>
          </a:p>
        </p:txBody>
      </p:sp>
      <p:sp>
        <p:nvSpPr>
          <p:cNvPr id="28" name="27 Marcador de pie de página"/>
          <p:cNvSpPr>
            <a:spLocks noGrp="1"/>
          </p:cNvSpPr>
          <p:nvPr>
            <p:ph type="ftr" sz="quarter" idx="12"/>
          </p:nvPr>
        </p:nvSpPr>
        <p:spPr/>
        <p:txBody>
          <a:bodyPr rtlCol="0"/>
          <a:lstStyle/>
          <a:p>
            <a:endParaRPr lang="es-E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es-ES" smtClean="0"/>
              <a:t>Haga clic para modificar el estilo de título del patrón</a:t>
            </a:r>
            <a:endParaRPr kumimoji="0" lang="en-US"/>
          </a:p>
        </p:txBody>
      </p:sp>
      <p:sp>
        <p:nvSpPr>
          <p:cNvPr id="3" name="2 Marcador de fecha"/>
          <p:cNvSpPr>
            <a:spLocks noGrp="1"/>
          </p:cNvSpPr>
          <p:nvPr>
            <p:ph type="dt" sz="half" idx="10"/>
          </p:nvPr>
        </p:nvSpPr>
        <p:spPr>
          <a:xfrm>
            <a:off x="6583680" y="612648"/>
            <a:ext cx="957264" cy="457200"/>
          </a:xfrm>
        </p:spPr>
        <p:txBody>
          <a:bodyPr/>
          <a:lstStyle/>
          <a:p>
            <a:fld id="{5114FEF5-4001-4071-8BA6-DD2B890FA446}" type="datetimeFigureOut">
              <a:rPr lang="es-ES" smtClean="0"/>
              <a:pPr/>
              <a:t>04/04/2014</a:t>
            </a:fld>
            <a:endParaRPr lang="es-ES"/>
          </a:p>
        </p:txBody>
      </p:sp>
      <p:sp>
        <p:nvSpPr>
          <p:cNvPr id="4" name="3 Marcador de pie de página"/>
          <p:cNvSpPr>
            <a:spLocks noGrp="1"/>
          </p:cNvSpPr>
          <p:nvPr>
            <p:ph type="ftr" sz="quarter" idx="11"/>
          </p:nvPr>
        </p:nvSpPr>
        <p:spPr>
          <a:xfrm>
            <a:off x="5257800" y="612648"/>
            <a:ext cx="1325880" cy="457200"/>
          </a:xfrm>
        </p:spPr>
        <p:txBody>
          <a:bodyPr/>
          <a:lstStyle/>
          <a:p>
            <a:endParaRPr lang="es-ES"/>
          </a:p>
        </p:txBody>
      </p:sp>
      <p:sp>
        <p:nvSpPr>
          <p:cNvPr id="5" name="4 Marcador de número de diapositiva"/>
          <p:cNvSpPr>
            <a:spLocks noGrp="1"/>
          </p:cNvSpPr>
          <p:nvPr>
            <p:ph type="sldNum" sz="quarter" idx="12"/>
          </p:nvPr>
        </p:nvSpPr>
        <p:spPr>
          <a:xfrm>
            <a:off x="8174736" y="2272"/>
            <a:ext cx="762000" cy="365760"/>
          </a:xfrm>
        </p:spPr>
        <p:txBody>
          <a:bodyPr/>
          <a:lstStyle/>
          <a:p>
            <a:fld id="{E194CC9A-879C-47F3-8A98-5F6A7C2BB3B8}" type="slidenum">
              <a:rPr lang="es-ES" smtClean="0"/>
              <a:pPr/>
              <a:t>‹Nº›</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5114FEF5-4001-4071-8BA6-DD2B890FA446}" type="datetimeFigureOut">
              <a:rPr lang="es-ES" smtClean="0"/>
              <a:pPr/>
              <a:t>04/04/2014</a:t>
            </a:fld>
            <a:endParaRPr lang="es-ES"/>
          </a:p>
        </p:txBody>
      </p:sp>
      <p:sp>
        <p:nvSpPr>
          <p:cNvPr id="3" name="2 Marcador de pie de página"/>
          <p:cNvSpPr>
            <a:spLocks noGrp="1"/>
          </p:cNvSpPr>
          <p:nvPr>
            <p:ph type="ftr" sz="quarter" idx="11"/>
          </p:nvPr>
        </p:nvSpPr>
        <p:spPr/>
        <p:txBody>
          <a:bodyPr/>
          <a:lstStyle/>
          <a:p>
            <a:endParaRPr lang="es-ES"/>
          </a:p>
        </p:txBody>
      </p:sp>
      <p:sp>
        <p:nvSpPr>
          <p:cNvPr id="4" name="3 Marcador de número de diapositiva"/>
          <p:cNvSpPr>
            <a:spLocks noGrp="1"/>
          </p:cNvSpPr>
          <p:nvPr>
            <p:ph type="sldNum" sz="quarter" idx="12"/>
          </p:nvPr>
        </p:nvSpPr>
        <p:spPr/>
        <p:txBody>
          <a:bodyPr/>
          <a:lstStyle/>
          <a:p>
            <a:fld id="{E194CC9A-879C-47F3-8A98-5F6A7C2BB3B8}" type="slidenum">
              <a:rPr lang="es-ES" smtClean="0"/>
              <a:pPr/>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5353496" y="1101970"/>
            <a:ext cx="3383280" cy="877824"/>
          </a:xfrm>
        </p:spPr>
        <p:txBody>
          <a:bodyPr anchor="b"/>
          <a:lstStyle>
            <a:lvl1pPr algn="l">
              <a:buNone/>
              <a:defRPr sz="1800" b="1"/>
            </a:lvl1pPr>
          </a:lstStyle>
          <a:p>
            <a:r>
              <a:rPr kumimoji="0" lang="es-ES" smtClean="0"/>
              <a:t>Haga clic para modificar el estilo de título del patrón</a:t>
            </a:r>
            <a:endParaRPr kumimoji="0" lang="en-US"/>
          </a:p>
        </p:txBody>
      </p:sp>
      <p:sp>
        <p:nvSpPr>
          <p:cNvPr id="3" name="2 Marcador de texto"/>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s-ES" smtClean="0"/>
              <a:t>Haga clic para modificar el estilo de texto del patrón</a:t>
            </a:r>
          </a:p>
        </p:txBody>
      </p:sp>
      <p:sp>
        <p:nvSpPr>
          <p:cNvPr id="4" name="3 Marcador de contenido"/>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5" name="4 Marcador de fecha"/>
          <p:cNvSpPr>
            <a:spLocks noGrp="1"/>
          </p:cNvSpPr>
          <p:nvPr>
            <p:ph type="dt" sz="half" idx="10"/>
          </p:nvPr>
        </p:nvSpPr>
        <p:spPr/>
        <p:txBody>
          <a:bodyPr/>
          <a:lstStyle/>
          <a:p>
            <a:fld id="{5114FEF5-4001-4071-8BA6-DD2B890FA446}" type="datetimeFigureOut">
              <a:rPr lang="es-ES" smtClean="0"/>
              <a:pPr/>
              <a:t>04/04/2014</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E194CC9A-879C-47F3-8A98-5F6A7C2BB3B8}" type="slidenum">
              <a:rPr lang="es-ES" smtClean="0"/>
              <a:pPr/>
              <a:t>‹Nº›</a:t>
            </a:fld>
            <a:endParaRPr lang="es-E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es-ES" smtClean="0"/>
              <a:t>Haga clic para modificar el estilo de título del patrón</a:t>
            </a:r>
            <a:endParaRPr kumimoji="0" lang="en-US"/>
          </a:p>
        </p:txBody>
      </p:sp>
      <p:sp>
        <p:nvSpPr>
          <p:cNvPr id="3" name="2 Marcador de posición de imagen"/>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s-ES" smtClean="0"/>
              <a:t>Haga clic en el icono para agregar una imagen</a:t>
            </a:r>
            <a:endParaRPr kumimoji="0" lang="en-US" dirty="0"/>
          </a:p>
        </p:txBody>
      </p:sp>
      <p:sp>
        <p:nvSpPr>
          <p:cNvPr id="4" name="3 Marcador de texto"/>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s-ES" smtClean="0"/>
              <a:t>Haga clic para modificar el estilo de texto del patrón</a:t>
            </a:r>
          </a:p>
        </p:txBody>
      </p:sp>
      <p:sp>
        <p:nvSpPr>
          <p:cNvPr id="5" name="4 Marcador de fecha"/>
          <p:cNvSpPr>
            <a:spLocks noGrp="1"/>
          </p:cNvSpPr>
          <p:nvPr>
            <p:ph type="dt" sz="half" idx="10"/>
          </p:nvPr>
        </p:nvSpPr>
        <p:spPr/>
        <p:txBody>
          <a:bodyPr/>
          <a:lstStyle/>
          <a:p>
            <a:fld id="{5114FEF5-4001-4071-8BA6-DD2B890FA446}" type="datetimeFigureOut">
              <a:rPr lang="es-ES" smtClean="0"/>
              <a:pPr/>
              <a:t>04/04/2014</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E194CC9A-879C-47F3-8A98-5F6A7C2BB3B8}" type="slidenum">
              <a:rPr lang="es-ES" smtClean="0"/>
              <a:pPr/>
              <a:t>‹Nº›</a:t>
            </a:fld>
            <a:endParaRPr lang="es-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5114FEF5-4001-4071-8BA6-DD2B890FA446}" type="datetimeFigureOut">
              <a:rPr lang="es-ES" smtClean="0"/>
              <a:pPr/>
              <a:t>04/04/2014</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E194CC9A-879C-47F3-8A98-5F6A7C2BB3B8}" type="slidenum">
              <a:rPr lang="es-ES" smtClean="0"/>
              <a:pPr/>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781800" y="1143000"/>
            <a:ext cx="1905000" cy="5486400"/>
          </a:xfrm>
        </p:spPr>
        <p:txBody>
          <a:bodyPr vert="eaVert"/>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a:xfrm>
            <a:off x="457200" y="1143000"/>
            <a:ext cx="6248400" cy="5486400"/>
          </a:xfrm>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5114FEF5-4001-4071-8BA6-DD2B890FA446}" type="datetimeFigureOut">
              <a:rPr lang="es-ES" smtClean="0"/>
              <a:pPr/>
              <a:t>04/04/2014</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E194CC9A-879C-47F3-8A98-5F6A7C2BB3B8}" type="slidenum">
              <a:rPr lang="es-ES" smtClean="0"/>
              <a:pPr/>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27 Rectángulo"/>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28 Rectángulo"/>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29 Rectángulo"/>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30 Rectángulo"/>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31 Rectángulo"/>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32 Rectángulo redondeado"/>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33 Rectángulo redondeado"/>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34 Rectángulo"/>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35 Rectángulo"/>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36 Rectángulo"/>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37 Rectángulo"/>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38 Rectángulo"/>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39 Rectángulo"/>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21 Marcador de título"/>
          <p:cNvSpPr>
            <a:spLocks noGrp="1"/>
          </p:cNvSpPr>
          <p:nvPr>
            <p:ph type="title"/>
          </p:nvPr>
        </p:nvSpPr>
        <p:spPr>
          <a:xfrm>
            <a:off x="457200" y="1143000"/>
            <a:ext cx="8229600" cy="1066800"/>
          </a:xfrm>
          <a:prstGeom prst="rect">
            <a:avLst/>
          </a:prstGeom>
        </p:spPr>
        <p:txBody>
          <a:bodyPr vert="horz" anchor="ctr">
            <a:normAutofit/>
          </a:bodyPr>
          <a:lstStyle/>
          <a:p>
            <a:r>
              <a:rPr kumimoji="0" lang="es-ES" smtClean="0"/>
              <a:t>Haga clic para modificar el estilo de título del patrón</a:t>
            </a:r>
            <a:endParaRPr kumimoji="0" lang="en-US"/>
          </a:p>
        </p:txBody>
      </p:sp>
      <p:sp>
        <p:nvSpPr>
          <p:cNvPr id="13" name="12 Marcador de texto"/>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es-ES" smtClean="0"/>
              <a:t>Haga clic para modificar el estilo de texto del patrón</a:t>
            </a:r>
          </a:p>
          <a:p>
            <a:pPr lvl="1" eaLnBrk="1" latinLnBrk="0" hangingPunct="1"/>
            <a:r>
              <a:rPr kumimoji="0" lang="es-ES" smtClean="0"/>
              <a:t>Segundo nivel</a:t>
            </a:r>
          </a:p>
          <a:p>
            <a:pPr lvl="2" eaLnBrk="1" latinLnBrk="0" hangingPunct="1"/>
            <a:r>
              <a:rPr kumimoji="0" lang="es-ES" smtClean="0"/>
              <a:t>Tercer nivel</a:t>
            </a:r>
          </a:p>
          <a:p>
            <a:pPr lvl="3" eaLnBrk="1" latinLnBrk="0" hangingPunct="1"/>
            <a:r>
              <a:rPr kumimoji="0" lang="es-ES" smtClean="0"/>
              <a:t>Cuarto nivel</a:t>
            </a:r>
          </a:p>
          <a:p>
            <a:pPr lvl="4" eaLnBrk="1" latinLnBrk="0" hangingPunct="1"/>
            <a:r>
              <a:rPr kumimoji="0" lang="es-ES" smtClean="0"/>
              <a:t>Quinto nivel</a:t>
            </a:r>
            <a:endParaRPr kumimoji="0" lang="en-US"/>
          </a:p>
        </p:txBody>
      </p:sp>
      <p:sp>
        <p:nvSpPr>
          <p:cNvPr id="14" name="13 Marcador de fecha"/>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fld id="{5114FEF5-4001-4071-8BA6-DD2B890FA446}" type="datetimeFigureOut">
              <a:rPr lang="es-ES" smtClean="0"/>
              <a:pPr/>
              <a:t>04/04/2014</a:t>
            </a:fld>
            <a:endParaRPr lang="es-ES"/>
          </a:p>
        </p:txBody>
      </p:sp>
      <p:sp>
        <p:nvSpPr>
          <p:cNvPr id="3" name="2 Marcador de pie de página"/>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endParaRPr lang="es-ES"/>
          </a:p>
        </p:txBody>
      </p:sp>
      <p:sp>
        <p:nvSpPr>
          <p:cNvPr id="23" name="22 Marcador de número de diapositiva"/>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fld id="{E194CC9A-879C-47F3-8A98-5F6A7C2BB3B8}" type="slidenum">
              <a:rPr lang="es-ES" smtClean="0"/>
              <a:pPr/>
              <a:t>‹Nº›</a:t>
            </a:fld>
            <a:endParaRPr lang="es-E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785918" y="1000108"/>
            <a:ext cx="5715040" cy="785818"/>
          </a:xfrm>
        </p:spPr>
        <p:txBody>
          <a:bodyPr>
            <a:normAutofit/>
          </a:bodyPr>
          <a:lstStyle/>
          <a:p>
            <a:pPr algn="ctr"/>
            <a:r>
              <a:rPr lang="es-MX" b="1" dirty="0" smtClean="0">
                <a:latin typeface="Arial" pitchFamily="34" charset="0"/>
                <a:cs typeface="Arial" pitchFamily="34" charset="0"/>
              </a:rPr>
              <a:t>La clasificación </a:t>
            </a:r>
            <a:endParaRPr lang="es-ES" b="1" dirty="0">
              <a:latin typeface="Arial" pitchFamily="34" charset="0"/>
              <a:cs typeface="Arial" pitchFamily="34" charset="0"/>
            </a:endParaRPr>
          </a:p>
        </p:txBody>
      </p:sp>
      <p:sp>
        <p:nvSpPr>
          <p:cNvPr id="3" name="2 CuadroTexto"/>
          <p:cNvSpPr txBox="1"/>
          <p:nvPr/>
        </p:nvSpPr>
        <p:spPr>
          <a:xfrm>
            <a:off x="0" y="500042"/>
            <a:ext cx="2285984" cy="369332"/>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p>
            <a:pPr algn="ctr"/>
            <a:r>
              <a:rPr lang="es-ES" b="1" dirty="0" smtClean="0">
                <a:solidFill>
                  <a:schemeClr val="tx1"/>
                </a:solidFill>
              </a:rPr>
              <a:t>Tarea Predictiva</a:t>
            </a:r>
            <a:endParaRPr lang="es-ES" b="1" dirty="0">
              <a:solidFill>
                <a:schemeClr val="tx1"/>
              </a:solidFill>
            </a:endParaRPr>
          </a:p>
        </p:txBody>
      </p:sp>
      <p:sp>
        <p:nvSpPr>
          <p:cNvPr id="4" name="3 Rectángulo"/>
          <p:cNvSpPr/>
          <p:nvPr/>
        </p:nvSpPr>
        <p:spPr>
          <a:xfrm>
            <a:off x="785786" y="2072240"/>
            <a:ext cx="7858164" cy="3477875"/>
          </a:xfrm>
          <a:prstGeom prst="rect">
            <a:avLst/>
          </a:prstGeom>
        </p:spPr>
        <p:txBody>
          <a:bodyPr wrap="square">
            <a:spAutoFit/>
          </a:bodyPr>
          <a:lstStyle/>
          <a:p>
            <a:pPr algn="just">
              <a:buFontTx/>
              <a:buChar char="-"/>
            </a:pPr>
            <a:r>
              <a:rPr lang="es-MX" sz="2000" dirty="0" smtClean="0"/>
              <a:t>Es quizá la tarea más utilizada. En ella, cada instancia (o registro de la base de datos) pertenece a una clase, la cual se indica mediante el valor de un atributo que llamamos la clase de la instancia. Este atributo puede tomar diferentes valores discretos, cada uno de los cuales corresponden a una clase. El resto de los atributos de la instancia (los relevantes a la clase) se utilizan para predecir la clase.</a:t>
            </a:r>
          </a:p>
          <a:p>
            <a:pPr algn="just">
              <a:buFontTx/>
              <a:buChar char="-"/>
            </a:pPr>
            <a:endParaRPr lang="es-MX" sz="2000" dirty="0" smtClean="0"/>
          </a:p>
          <a:p>
            <a:pPr algn="just">
              <a:buFontTx/>
              <a:buChar char="-"/>
            </a:pPr>
            <a:r>
              <a:rPr lang="es-ES" sz="2000" dirty="0" smtClean="0"/>
              <a:t>El objetivo del algoritmo es maximizar la razón de precisión de la clasificación de las nuevas instancias, la cual se calcula como el cociente entre las predicciones correctas y el número total e predicciones (correctas e incorrectas).</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00034" y="1428736"/>
            <a:ext cx="8229600" cy="3786214"/>
          </a:xfrm>
        </p:spPr>
        <p:txBody>
          <a:bodyPr>
            <a:normAutofit/>
          </a:bodyPr>
          <a:lstStyle/>
          <a:p>
            <a:pPr algn="just">
              <a:lnSpc>
                <a:spcPct val="150000"/>
              </a:lnSpc>
            </a:pPr>
            <a:r>
              <a:rPr lang="es-MX" sz="2000" i="1" dirty="0" smtClean="0">
                <a:solidFill>
                  <a:schemeClr val="tx1"/>
                </a:solidFill>
              </a:rPr>
              <a:t>	Ejemplo: consideremos un oftalmólogo que desea disponer de un sistema que le sirva para determinar la conveniencia o no de recomendar la cirugía ocular de sus pacientes. Para ello dispone de una base de datos de sus antiguos pacientes clasificados en operados satisfactoriamente o no en función del tipo de problema que padecían (miopía y su grado, o astigmatismo) y de su edad. El modelo encontrado se utiliza para clasificar nuevos paciente, es decir, para predecir si es conveniente operarlos o no.</a:t>
            </a:r>
            <a:endParaRPr lang="es-ES" sz="2000" dirty="0">
              <a:solidFill>
                <a:schemeClr val="tx1"/>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1438" y="928670"/>
            <a:ext cx="9001156" cy="857256"/>
          </a:xfrm>
        </p:spPr>
        <p:style>
          <a:lnRef idx="3">
            <a:schemeClr val="lt1"/>
          </a:lnRef>
          <a:fillRef idx="1">
            <a:schemeClr val="dk1"/>
          </a:fillRef>
          <a:effectRef idx="1">
            <a:schemeClr val="dk1"/>
          </a:effectRef>
          <a:fontRef idx="minor">
            <a:schemeClr val="lt1"/>
          </a:fontRef>
        </p:style>
        <p:txBody>
          <a:bodyPr>
            <a:noAutofit/>
          </a:bodyPr>
          <a:lstStyle/>
          <a:p>
            <a:r>
              <a:rPr lang="es-MX" sz="2800" dirty="0" smtClean="0">
                <a:solidFill>
                  <a:schemeClr val="bg1"/>
                </a:solidFill>
                <a:latin typeface="Arial" pitchFamily="34" charset="0"/>
                <a:cs typeface="Arial" pitchFamily="34" charset="0"/>
              </a:rPr>
              <a:t>LA INFERENCIA DE FUNCIONES DISCRIMINANTES</a:t>
            </a:r>
            <a:endParaRPr lang="es-ES" sz="2800" dirty="0">
              <a:solidFill>
                <a:schemeClr val="bg1"/>
              </a:solidFill>
              <a:latin typeface="Arial" pitchFamily="34" charset="0"/>
              <a:cs typeface="Arial" pitchFamily="34" charset="0"/>
            </a:endParaRPr>
          </a:p>
        </p:txBody>
      </p:sp>
      <p:sp>
        <p:nvSpPr>
          <p:cNvPr id="3" name="2 Rectángulo"/>
          <p:cNvSpPr/>
          <p:nvPr/>
        </p:nvSpPr>
        <p:spPr>
          <a:xfrm>
            <a:off x="857224" y="2000240"/>
            <a:ext cx="7000924" cy="1938992"/>
          </a:xfrm>
          <a:prstGeom prst="rect">
            <a:avLst/>
          </a:prstGeom>
        </p:spPr>
        <p:txBody>
          <a:bodyPr wrap="square">
            <a:spAutoFit/>
          </a:bodyPr>
          <a:lstStyle/>
          <a:p>
            <a:pPr algn="just">
              <a:buFontTx/>
              <a:buChar char="-"/>
            </a:pPr>
            <a:r>
              <a:rPr lang="es-MX" sz="2000" dirty="0" smtClean="0">
                <a:latin typeface="Arial" pitchFamily="34" charset="0"/>
                <a:cs typeface="Arial" pitchFamily="34" charset="0"/>
              </a:rPr>
              <a:t>Separan clases o grupos, también se pueden realizar de manera paramétrica o no paramétrica. </a:t>
            </a:r>
          </a:p>
          <a:p>
            <a:pPr algn="just">
              <a:buFontTx/>
              <a:buChar char="-"/>
            </a:pPr>
            <a:endParaRPr lang="es-MX" sz="2000" dirty="0" smtClean="0">
              <a:latin typeface="Arial" pitchFamily="34" charset="0"/>
              <a:cs typeface="Arial" pitchFamily="34" charset="0"/>
            </a:endParaRPr>
          </a:p>
          <a:p>
            <a:pPr>
              <a:buFontTx/>
              <a:buChar char="-"/>
            </a:pPr>
            <a:r>
              <a:rPr lang="es-ES" sz="2000" dirty="0" smtClean="0">
                <a:latin typeface="Arial" pitchFamily="34" charset="0"/>
                <a:cs typeface="Arial" pitchFamily="34" charset="0"/>
              </a:rPr>
              <a:t>Algunas de las técnicas de discriminantes no paramétricas tienen una relación muy estrecha con los métodos  basados en núcleo.</a:t>
            </a:r>
            <a:endParaRPr lang="es-ES" sz="2000" dirty="0">
              <a:latin typeface="Arial" pitchFamily="34" charset="0"/>
              <a:cs typeface="Arial" pitchFamily="34" charset="0"/>
            </a:endParaRPr>
          </a:p>
        </p:txBody>
      </p:sp>
      <p:pic>
        <p:nvPicPr>
          <p:cNvPr id="4" name="3 Imagen" descr="C:\Users\Nestor\Pictures\Mis escaneos\2014-03 (mar.)\escanear0026.jpg"/>
          <p:cNvPicPr/>
          <p:nvPr/>
        </p:nvPicPr>
        <p:blipFill>
          <a:blip r:embed="rId2" cstate="email">
            <a:extLst>
              <a:ext uri="{28A0092B-C50C-407E-A947-70E740481C1C}">
                <a14:useLocalDpi xmlns:a14="http://schemas.microsoft.com/office/drawing/2010/main"/>
              </a:ext>
            </a:extLst>
          </a:blip>
          <a:srcRect l="21084" t="62357" r="18016" b="16810"/>
          <a:stretch>
            <a:fillRect/>
          </a:stretch>
        </p:blipFill>
        <p:spPr bwMode="auto">
          <a:xfrm>
            <a:off x="2643174" y="3786190"/>
            <a:ext cx="5215255" cy="2689860"/>
          </a:xfrm>
          <a:prstGeom prst="rect">
            <a:avLst/>
          </a:prstGeom>
          <a:noFill/>
          <a:ln>
            <a:noFill/>
          </a:ln>
        </p:spPr>
      </p:pic>
      <p:sp>
        <p:nvSpPr>
          <p:cNvPr id="5" name="4 Rectángulo"/>
          <p:cNvSpPr/>
          <p:nvPr/>
        </p:nvSpPr>
        <p:spPr>
          <a:xfrm>
            <a:off x="2285984" y="285728"/>
            <a:ext cx="4754828" cy="461665"/>
          </a:xfrm>
          <a:prstGeom prst="rect">
            <a:avLst/>
          </a:prstGeom>
        </p:spPr>
        <p:style>
          <a:lnRef idx="1">
            <a:schemeClr val="accent3"/>
          </a:lnRef>
          <a:fillRef idx="2">
            <a:schemeClr val="accent3"/>
          </a:fillRef>
          <a:effectRef idx="1">
            <a:schemeClr val="accent3"/>
          </a:effectRef>
          <a:fontRef idx="minor">
            <a:schemeClr val="dk1"/>
          </a:fontRef>
        </p:style>
        <p:txBody>
          <a:bodyPr wrap="none">
            <a:spAutoFit/>
          </a:bodyPr>
          <a:lstStyle/>
          <a:p>
            <a:r>
              <a:rPr lang="es-MX" sz="2400" b="1" dirty="0" smtClean="0"/>
              <a:t>Técnica de minería de datos</a:t>
            </a:r>
            <a:endParaRPr lang="es-ES" sz="2400" b="1"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0" y="834078"/>
            <a:ext cx="5715026" cy="523220"/>
          </a:xfrm>
          <a:prstGeom prst="rect">
            <a:avLst/>
          </a:prstGeom>
        </p:spPr>
        <p:style>
          <a:lnRef idx="3">
            <a:schemeClr val="lt1"/>
          </a:lnRef>
          <a:fillRef idx="1">
            <a:schemeClr val="dk1"/>
          </a:fillRef>
          <a:effectRef idx="1">
            <a:schemeClr val="dk1"/>
          </a:effectRef>
          <a:fontRef idx="minor">
            <a:schemeClr val="lt1"/>
          </a:fontRef>
        </p:style>
        <p:txBody>
          <a:bodyPr wrap="none">
            <a:spAutoFit/>
          </a:bodyPr>
          <a:lstStyle/>
          <a:p>
            <a:r>
              <a:rPr lang="es-MX" sz="2800" b="1" dirty="0" smtClean="0"/>
              <a:t>LOS ÁRBOLES DE DECISIÓN </a:t>
            </a:r>
            <a:endParaRPr lang="es-ES" sz="2800" dirty="0"/>
          </a:p>
        </p:txBody>
      </p:sp>
      <p:sp>
        <p:nvSpPr>
          <p:cNvPr id="5" name="4 Rectángulo"/>
          <p:cNvSpPr/>
          <p:nvPr/>
        </p:nvSpPr>
        <p:spPr>
          <a:xfrm>
            <a:off x="357158" y="1571612"/>
            <a:ext cx="8358214" cy="4154984"/>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pPr algn="just">
              <a:buFontTx/>
              <a:buChar char="-"/>
            </a:pPr>
            <a:endParaRPr lang="es-MX" sz="2400" dirty="0" smtClean="0">
              <a:latin typeface="Arial" pitchFamily="34" charset="0"/>
              <a:cs typeface="Arial" pitchFamily="34" charset="0"/>
            </a:endParaRPr>
          </a:p>
          <a:p>
            <a:pPr algn="just">
              <a:buFontTx/>
              <a:buChar char="-"/>
            </a:pPr>
            <a:r>
              <a:rPr lang="es-MX" sz="2400" dirty="0" smtClean="0">
                <a:latin typeface="Arial" pitchFamily="34" charset="0"/>
                <a:cs typeface="Arial" pitchFamily="34" charset="0"/>
              </a:rPr>
              <a:t>Serie de </a:t>
            </a:r>
            <a:r>
              <a:rPr lang="es-MX" sz="2400" dirty="0">
                <a:latin typeface="Arial" pitchFamily="34" charset="0"/>
                <a:cs typeface="Arial" pitchFamily="34" charset="0"/>
              </a:rPr>
              <a:t>decisiones o condiciones organizadas en forma jerárquica, a modo de árbol. </a:t>
            </a:r>
            <a:endParaRPr lang="es-MX" sz="2400" dirty="0" smtClean="0">
              <a:latin typeface="Arial" pitchFamily="34" charset="0"/>
              <a:cs typeface="Arial" pitchFamily="34" charset="0"/>
            </a:endParaRPr>
          </a:p>
          <a:p>
            <a:pPr algn="just">
              <a:buFontTx/>
              <a:buChar char="-"/>
            </a:pPr>
            <a:endParaRPr lang="es-MX" sz="2400" dirty="0" smtClean="0">
              <a:latin typeface="Arial" pitchFamily="34" charset="0"/>
              <a:cs typeface="Arial" pitchFamily="34" charset="0"/>
            </a:endParaRPr>
          </a:p>
          <a:p>
            <a:pPr algn="just">
              <a:buFontTx/>
              <a:buChar char="-"/>
            </a:pPr>
            <a:r>
              <a:rPr lang="es-MX" sz="2400" dirty="0" smtClean="0">
                <a:latin typeface="Arial" pitchFamily="34" charset="0"/>
                <a:cs typeface="Arial" pitchFamily="34" charset="0"/>
              </a:rPr>
              <a:t>Son </a:t>
            </a:r>
            <a:r>
              <a:rPr lang="es-MX" sz="2400" dirty="0">
                <a:latin typeface="Arial" pitchFamily="34" charset="0"/>
                <a:cs typeface="Arial" pitchFamily="34" charset="0"/>
              </a:rPr>
              <a:t>muy útiles para encontrar estructuras  en espacios de alta dimensión y en problemas que mezclen datos categóricos y numéricos</a:t>
            </a:r>
            <a:r>
              <a:rPr lang="es-MX" sz="2400" dirty="0" smtClean="0">
                <a:latin typeface="Arial" pitchFamily="34" charset="0"/>
                <a:cs typeface="Arial" pitchFamily="34" charset="0"/>
              </a:rPr>
              <a:t>.</a:t>
            </a:r>
          </a:p>
          <a:p>
            <a:pPr algn="just">
              <a:buFontTx/>
              <a:buChar char="-"/>
            </a:pPr>
            <a:endParaRPr lang="es-MX" sz="2400" dirty="0" smtClean="0">
              <a:latin typeface="Arial" pitchFamily="34" charset="0"/>
              <a:cs typeface="Arial" pitchFamily="34" charset="0"/>
            </a:endParaRPr>
          </a:p>
          <a:p>
            <a:pPr algn="just">
              <a:buFontTx/>
              <a:buChar char="-"/>
            </a:pPr>
            <a:r>
              <a:rPr lang="es-MX" sz="2400" dirty="0" smtClean="0">
                <a:latin typeface="Arial" pitchFamily="34" charset="0"/>
                <a:cs typeface="Arial" pitchFamily="34" charset="0"/>
              </a:rPr>
              <a:t>Esta </a:t>
            </a:r>
            <a:r>
              <a:rPr lang="es-MX" sz="2400" dirty="0">
                <a:latin typeface="Arial" pitchFamily="34" charset="0"/>
                <a:cs typeface="Arial" pitchFamily="34" charset="0"/>
              </a:rPr>
              <a:t>técnica se usa en tareas de clasificación, agrupamiento y regresión. </a:t>
            </a:r>
          </a:p>
          <a:p>
            <a:pPr algn="just"/>
            <a:r>
              <a:rPr lang="es-MX" sz="2400" dirty="0" smtClean="0">
                <a:latin typeface="Arial" pitchFamily="34" charset="0"/>
                <a:cs typeface="Arial" pitchFamily="34" charset="0"/>
              </a:rPr>
              <a:t> </a:t>
            </a:r>
            <a:endParaRPr lang="es-ES" sz="2400" dirty="0">
              <a:latin typeface="Arial" pitchFamily="34" charset="0"/>
              <a:cs typeface="Arial" pitchFamily="34" charset="0"/>
            </a:endParaRPr>
          </a:p>
        </p:txBody>
      </p:sp>
      <p:sp>
        <p:nvSpPr>
          <p:cNvPr id="6" name="5 Rectángulo"/>
          <p:cNvSpPr/>
          <p:nvPr/>
        </p:nvSpPr>
        <p:spPr>
          <a:xfrm>
            <a:off x="2388940" y="181253"/>
            <a:ext cx="4754828" cy="461665"/>
          </a:xfrm>
          <a:prstGeom prst="rect">
            <a:avLst/>
          </a:prstGeom>
        </p:spPr>
        <p:style>
          <a:lnRef idx="1">
            <a:schemeClr val="accent3"/>
          </a:lnRef>
          <a:fillRef idx="2">
            <a:schemeClr val="accent3"/>
          </a:fillRef>
          <a:effectRef idx="1">
            <a:schemeClr val="accent3"/>
          </a:effectRef>
          <a:fontRef idx="minor">
            <a:schemeClr val="dk1"/>
          </a:fontRef>
        </p:style>
        <p:txBody>
          <a:bodyPr wrap="none">
            <a:spAutoFit/>
          </a:bodyPr>
          <a:lstStyle/>
          <a:p>
            <a:r>
              <a:rPr lang="es-MX" sz="2400" b="1" dirty="0" smtClean="0"/>
              <a:t>Técnica de minería de datos</a:t>
            </a:r>
            <a:endParaRPr lang="es-ES" sz="2400" b="1"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714348" y="1928802"/>
            <a:ext cx="7429552" cy="3046988"/>
          </a:xfrm>
          <a:prstGeom prst="rect">
            <a:avLst/>
          </a:prstGeom>
        </p:spPr>
        <p:txBody>
          <a:bodyPr wrap="square">
            <a:spAutoFit/>
          </a:bodyPr>
          <a:lstStyle/>
          <a:p>
            <a:pPr algn="just"/>
            <a:r>
              <a:rPr lang="es-MX" sz="2400" dirty="0" smtClean="0">
                <a:latin typeface="Arial" pitchFamily="34" charset="0"/>
                <a:cs typeface="Arial" pitchFamily="34" charset="0"/>
              </a:rPr>
              <a:t>--- Los </a:t>
            </a:r>
            <a:r>
              <a:rPr lang="es-MX" sz="2400" dirty="0">
                <a:latin typeface="Arial" pitchFamily="34" charset="0"/>
                <a:cs typeface="Arial" pitchFamily="34" charset="0"/>
              </a:rPr>
              <a:t>árboles de decisión usados  para predecir variables categóricas reciben el nombre de árboles de decisión de clasificación, ya que distribuyen las instancias en clases</a:t>
            </a:r>
            <a:r>
              <a:rPr lang="es-MX" sz="2400" dirty="0" smtClean="0">
                <a:latin typeface="Arial" pitchFamily="34" charset="0"/>
                <a:cs typeface="Arial" pitchFamily="34" charset="0"/>
              </a:rPr>
              <a:t>.</a:t>
            </a:r>
          </a:p>
          <a:p>
            <a:pPr algn="just"/>
            <a:endParaRPr lang="es-MX" sz="2400" dirty="0" smtClean="0">
              <a:latin typeface="Arial" pitchFamily="34" charset="0"/>
              <a:cs typeface="Arial" pitchFamily="34" charset="0"/>
            </a:endParaRPr>
          </a:p>
          <a:p>
            <a:pPr algn="just"/>
            <a:r>
              <a:rPr lang="es-MX" sz="2400" dirty="0" smtClean="0">
                <a:latin typeface="Arial" pitchFamily="34" charset="0"/>
                <a:cs typeface="Arial" pitchFamily="34" charset="0"/>
              </a:rPr>
              <a:t>--- Cuando </a:t>
            </a:r>
            <a:r>
              <a:rPr lang="es-MX" sz="2400" dirty="0">
                <a:latin typeface="Arial" pitchFamily="34" charset="0"/>
                <a:cs typeface="Arial" pitchFamily="34" charset="0"/>
              </a:rPr>
              <a:t>los árboles de decisión se usan para predecir variables continuas se llaman árboles de regresión. </a:t>
            </a:r>
            <a:endParaRPr lang="es-ES" sz="240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714348" y="1142984"/>
            <a:ext cx="8001056" cy="1200329"/>
          </a:xfrm>
          <a:prstGeom prst="rect">
            <a:avLst/>
          </a:prstGeom>
        </p:spPr>
        <p:txBody>
          <a:bodyPr wrap="square">
            <a:spAutoFit/>
          </a:bodyPr>
          <a:lstStyle/>
          <a:p>
            <a:pPr algn="just"/>
            <a:r>
              <a:rPr lang="es-MX" sz="2400" dirty="0">
                <a:latin typeface="Arial" pitchFamily="34" charset="0"/>
                <a:cs typeface="Arial" pitchFamily="34" charset="0"/>
              </a:rPr>
              <a:t>Se trata de un conjunto de datos ficticio que muestra las condiciones climatológicas (pronóstico, humedad y viento) adecuadas para jugar un cierto </a:t>
            </a:r>
            <a:r>
              <a:rPr lang="es-MX" sz="2400" dirty="0" smtClean="0">
                <a:latin typeface="Arial" pitchFamily="34" charset="0"/>
                <a:cs typeface="Arial" pitchFamily="34" charset="0"/>
              </a:rPr>
              <a:t>deporte. </a:t>
            </a:r>
            <a:endParaRPr lang="es-ES" sz="2400" dirty="0">
              <a:latin typeface="Arial" pitchFamily="34" charset="0"/>
              <a:cs typeface="Arial" pitchFamily="34" charset="0"/>
            </a:endParaRPr>
          </a:p>
        </p:txBody>
      </p:sp>
      <p:sp>
        <p:nvSpPr>
          <p:cNvPr id="3" name="2 CuadroTexto"/>
          <p:cNvSpPr txBox="1"/>
          <p:nvPr/>
        </p:nvSpPr>
        <p:spPr>
          <a:xfrm>
            <a:off x="500034" y="642918"/>
            <a:ext cx="1483098" cy="461665"/>
          </a:xfrm>
          <a:prstGeom prst="rect">
            <a:avLst/>
          </a:prstGeom>
        </p:spPr>
        <p:style>
          <a:lnRef idx="1">
            <a:schemeClr val="accent5"/>
          </a:lnRef>
          <a:fillRef idx="2">
            <a:schemeClr val="accent5"/>
          </a:fillRef>
          <a:effectRef idx="1">
            <a:schemeClr val="accent5"/>
          </a:effectRef>
          <a:fontRef idx="minor">
            <a:schemeClr val="dk1"/>
          </a:fontRef>
        </p:style>
        <p:txBody>
          <a:bodyPr wrap="none" rtlCol="0">
            <a:spAutoFit/>
          </a:bodyPr>
          <a:lstStyle/>
          <a:p>
            <a:r>
              <a:rPr lang="es-ES" sz="2400" b="1" dirty="0" smtClean="0">
                <a:latin typeface="Arial" pitchFamily="34" charset="0"/>
                <a:cs typeface="Arial" pitchFamily="34" charset="0"/>
              </a:rPr>
              <a:t>Ejemplo:</a:t>
            </a:r>
            <a:endParaRPr lang="es-ES" sz="2400" b="1" dirty="0">
              <a:latin typeface="Arial" pitchFamily="34" charset="0"/>
              <a:cs typeface="Arial" pitchFamily="34" charset="0"/>
            </a:endParaRPr>
          </a:p>
        </p:txBody>
      </p:sp>
      <p:pic>
        <p:nvPicPr>
          <p:cNvPr id="4" name="3 Imagen"/>
          <p:cNvPicPr/>
          <p:nvPr/>
        </p:nvPicPr>
        <p:blipFill>
          <a:blip r:embed="rId2" cstate="print"/>
          <a:srcRect l="25443" t="38387" r="25222" b="40645"/>
          <a:stretch>
            <a:fillRect/>
          </a:stretch>
        </p:blipFill>
        <p:spPr bwMode="auto">
          <a:xfrm>
            <a:off x="714348" y="2285992"/>
            <a:ext cx="8001056" cy="1714512"/>
          </a:xfrm>
          <a:prstGeom prst="rect">
            <a:avLst/>
          </a:prstGeom>
          <a:noFill/>
          <a:ln w="9525">
            <a:noFill/>
            <a:miter lim="800000"/>
            <a:headEnd/>
            <a:tailEnd/>
          </a:ln>
        </p:spPr>
      </p:pic>
      <p:pic>
        <p:nvPicPr>
          <p:cNvPr id="5" name="4 Imagen"/>
          <p:cNvPicPr/>
          <p:nvPr/>
        </p:nvPicPr>
        <p:blipFill>
          <a:blip r:embed="rId3" cstate="print"/>
          <a:srcRect l="26803" t="27419" r="26163" b="32581"/>
          <a:stretch>
            <a:fillRect/>
          </a:stretch>
        </p:blipFill>
        <p:spPr bwMode="auto">
          <a:xfrm>
            <a:off x="2357422" y="4071942"/>
            <a:ext cx="4953661" cy="250030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500034" y="857232"/>
            <a:ext cx="8143932" cy="3785652"/>
          </a:xfrm>
          <a:prstGeom prst="rect">
            <a:avLst/>
          </a:prstGeom>
        </p:spPr>
        <p:txBody>
          <a:bodyPr wrap="square">
            <a:spAutoFit/>
          </a:bodyPr>
          <a:lstStyle/>
          <a:p>
            <a:pPr algn="just">
              <a:buFontTx/>
              <a:buChar char="-"/>
            </a:pPr>
            <a:r>
              <a:rPr lang="es-MX" sz="2400" dirty="0" smtClean="0">
                <a:latin typeface="Arial" pitchFamily="34" charset="0"/>
                <a:cs typeface="Arial" pitchFamily="34" charset="0"/>
              </a:rPr>
              <a:t>Los </a:t>
            </a:r>
            <a:r>
              <a:rPr lang="es-MX" sz="2400" dirty="0">
                <a:latin typeface="Arial" pitchFamily="34" charset="0"/>
                <a:cs typeface="Arial" pitchFamily="34" charset="0"/>
              </a:rPr>
              <a:t>árboles de decisión siguen una aproximación “divide y vencerás” para partir el espacio del problema en </a:t>
            </a:r>
            <a:r>
              <a:rPr lang="es-MX" sz="2400" dirty="0" smtClean="0">
                <a:latin typeface="Arial" pitchFamily="34" charset="0"/>
                <a:cs typeface="Arial" pitchFamily="34" charset="0"/>
              </a:rPr>
              <a:t>subconjunto.</a:t>
            </a:r>
          </a:p>
          <a:p>
            <a:pPr algn="just">
              <a:buFontTx/>
              <a:buChar char="-"/>
            </a:pPr>
            <a:endParaRPr lang="es-MX" sz="2400" dirty="0" smtClean="0">
              <a:latin typeface="Arial" pitchFamily="34" charset="0"/>
              <a:cs typeface="Arial" pitchFamily="34" charset="0"/>
            </a:endParaRPr>
          </a:p>
          <a:p>
            <a:pPr algn="just">
              <a:buFontTx/>
              <a:buChar char="-"/>
            </a:pPr>
            <a:r>
              <a:rPr lang="es-ES" sz="2400" dirty="0" smtClean="0">
                <a:latin typeface="Arial" pitchFamily="34" charset="0"/>
                <a:cs typeface="Arial" pitchFamily="34" charset="0"/>
              </a:rPr>
              <a:t>Pueden considerarse una forma de aprendizaje de reglas, ya que cada rama del árbol puede interpretarse como una regla.</a:t>
            </a:r>
          </a:p>
          <a:p>
            <a:pPr algn="just">
              <a:buFontTx/>
              <a:buChar char="-"/>
            </a:pPr>
            <a:endParaRPr lang="es-ES" sz="2400" dirty="0">
              <a:latin typeface="Arial" pitchFamily="34" charset="0"/>
              <a:cs typeface="Arial" pitchFamily="34" charset="0"/>
            </a:endParaRPr>
          </a:p>
          <a:p>
            <a:pPr algn="just">
              <a:buFontTx/>
              <a:buChar char="-"/>
            </a:pPr>
            <a:r>
              <a:rPr lang="es-ES" sz="2400" dirty="0" smtClean="0">
                <a:latin typeface="Arial" pitchFamily="34" charset="0"/>
                <a:cs typeface="Arial" pitchFamily="34" charset="0"/>
              </a:rPr>
              <a:t>La inducción de reglas es un conjunto de métodos para derivar un conjunto de reglas comprensibles de la forma:</a:t>
            </a:r>
            <a:endParaRPr lang="es-ES" sz="2400" dirty="0">
              <a:latin typeface="Arial" pitchFamily="34" charset="0"/>
              <a:cs typeface="Arial" pitchFamily="34" charset="0"/>
            </a:endParaRPr>
          </a:p>
        </p:txBody>
      </p:sp>
      <p:pic>
        <p:nvPicPr>
          <p:cNvPr id="3" name="2 Imagen"/>
          <p:cNvPicPr/>
          <p:nvPr/>
        </p:nvPicPr>
        <p:blipFill>
          <a:blip r:embed="rId2" cstate="print"/>
          <a:srcRect l="32285" t="27742" r="32756" b="65122"/>
          <a:stretch>
            <a:fillRect/>
          </a:stretch>
        </p:blipFill>
        <p:spPr bwMode="auto">
          <a:xfrm>
            <a:off x="1730556" y="5072074"/>
            <a:ext cx="5615090" cy="66985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0" y="1285860"/>
            <a:ext cx="8786842" cy="461665"/>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s-MX" sz="2400" b="1" dirty="0" smtClean="0"/>
              <a:t>APRENDIZAJE BASADO EN INSTANCIAS O CASOS</a:t>
            </a:r>
            <a:endParaRPr lang="es-ES" sz="2400" dirty="0"/>
          </a:p>
        </p:txBody>
      </p:sp>
      <p:sp>
        <p:nvSpPr>
          <p:cNvPr id="5" name="4 Rectángulo"/>
          <p:cNvSpPr/>
          <p:nvPr/>
        </p:nvSpPr>
        <p:spPr>
          <a:xfrm>
            <a:off x="642910" y="2214554"/>
            <a:ext cx="7858180" cy="3046988"/>
          </a:xfrm>
          <a:prstGeom prst="rect">
            <a:avLst/>
          </a:prstGeom>
        </p:spPr>
        <p:txBody>
          <a:bodyPr wrap="square">
            <a:spAutoFit/>
          </a:bodyPr>
          <a:lstStyle/>
          <a:p>
            <a:pPr algn="just"/>
            <a:r>
              <a:rPr lang="es-MX" sz="2400" dirty="0" smtClean="0">
                <a:latin typeface="Arial" pitchFamily="34" charset="0"/>
                <a:cs typeface="Arial" pitchFamily="34" charset="0"/>
              </a:rPr>
              <a:t>Las instancias </a:t>
            </a:r>
            <a:r>
              <a:rPr lang="es-MX" sz="2400" dirty="0">
                <a:latin typeface="Arial" pitchFamily="34" charset="0"/>
                <a:cs typeface="Arial" pitchFamily="34" charset="0"/>
              </a:rPr>
              <a:t>se almacenan en memoria, de tal forma que cuando llega una nueva instancia cuyo valor es desconocido se intenta relacionar ésta con las instancias almacenadas (cuya clase o valor es conocida)  buscando las que más se parecen, con el objetivo de usar los valores de estas instancias similares para estimar los valores a obtener de la nueva instancia en cuestión. </a:t>
            </a:r>
            <a:endParaRPr lang="es-ES" sz="2400" dirty="0">
              <a:latin typeface="Arial" pitchFamily="34" charset="0"/>
              <a:cs typeface="Arial" pitchFamily="34" charset="0"/>
            </a:endParaRPr>
          </a:p>
        </p:txBody>
      </p:sp>
      <p:sp>
        <p:nvSpPr>
          <p:cNvPr id="6" name="5 Rectángulo"/>
          <p:cNvSpPr/>
          <p:nvPr/>
        </p:nvSpPr>
        <p:spPr>
          <a:xfrm>
            <a:off x="2285984" y="395567"/>
            <a:ext cx="4754828" cy="461665"/>
          </a:xfrm>
          <a:prstGeom prst="rect">
            <a:avLst/>
          </a:prstGeom>
        </p:spPr>
        <p:style>
          <a:lnRef idx="1">
            <a:schemeClr val="accent3"/>
          </a:lnRef>
          <a:fillRef idx="2">
            <a:schemeClr val="accent3"/>
          </a:fillRef>
          <a:effectRef idx="1">
            <a:schemeClr val="accent3"/>
          </a:effectRef>
          <a:fontRef idx="minor">
            <a:schemeClr val="dk1"/>
          </a:fontRef>
        </p:style>
        <p:txBody>
          <a:bodyPr wrap="none">
            <a:spAutoFit/>
          </a:bodyPr>
          <a:lstStyle/>
          <a:p>
            <a:r>
              <a:rPr lang="es-MX" sz="2400" b="1" dirty="0" smtClean="0"/>
              <a:t>Técnica de minería de datos</a:t>
            </a:r>
            <a:endParaRPr lang="es-ES" sz="2400" b="1"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500034" y="642918"/>
            <a:ext cx="8143932" cy="1569660"/>
          </a:xfrm>
          <a:prstGeom prst="rect">
            <a:avLst/>
          </a:prstGeom>
        </p:spPr>
        <p:txBody>
          <a:bodyPr wrap="square">
            <a:spAutoFit/>
          </a:bodyPr>
          <a:lstStyle/>
          <a:p>
            <a:pPr algn="just"/>
            <a:r>
              <a:rPr lang="es-MX" sz="2400" dirty="0">
                <a:latin typeface="Arial" pitchFamily="34" charset="0"/>
                <a:cs typeface="Arial" pitchFamily="34" charset="0"/>
              </a:rPr>
              <a:t>La variable más sencilla de este método de clasificación es conocido como “el vecino más próximo” (</a:t>
            </a:r>
            <a:r>
              <a:rPr lang="es-MX" sz="2400" i="1" dirty="0" err="1">
                <a:latin typeface="Arial" pitchFamily="34" charset="0"/>
                <a:cs typeface="Arial" pitchFamily="34" charset="0"/>
              </a:rPr>
              <a:t>nearest-neighbor</a:t>
            </a:r>
            <a:r>
              <a:rPr lang="es-MX" sz="2400" dirty="0">
                <a:latin typeface="Arial" pitchFamily="34" charset="0"/>
                <a:cs typeface="Arial" pitchFamily="34" charset="0"/>
              </a:rPr>
              <a:t>). Otra variante, conocido como el método de los “</a:t>
            </a:r>
            <a:r>
              <a:rPr lang="es-MX" sz="2400" i="1" dirty="0">
                <a:latin typeface="Arial" pitchFamily="34" charset="0"/>
                <a:cs typeface="Arial" pitchFamily="34" charset="0"/>
              </a:rPr>
              <a:t>k</a:t>
            </a:r>
            <a:r>
              <a:rPr lang="es-MX" sz="2400" dirty="0">
                <a:latin typeface="Arial" pitchFamily="34" charset="0"/>
                <a:cs typeface="Arial" pitchFamily="34" charset="0"/>
              </a:rPr>
              <a:t> vecinos más próximos” (k-</a:t>
            </a:r>
            <a:r>
              <a:rPr lang="es-MX" sz="2400" i="1" dirty="0" err="1">
                <a:latin typeface="Arial" pitchFamily="34" charset="0"/>
                <a:cs typeface="Arial" pitchFamily="34" charset="0"/>
              </a:rPr>
              <a:t>nearest</a:t>
            </a:r>
            <a:r>
              <a:rPr lang="es-MX" sz="2400" i="1" dirty="0">
                <a:latin typeface="Arial" pitchFamily="34" charset="0"/>
                <a:cs typeface="Arial" pitchFamily="34" charset="0"/>
              </a:rPr>
              <a:t>-</a:t>
            </a:r>
            <a:r>
              <a:rPr lang="es-MX" sz="2400" i="1" dirty="0" err="1">
                <a:latin typeface="Arial" pitchFamily="34" charset="0"/>
                <a:cs typeface="Arial" pitchFamily="34" charset="0"/>
              </a:rPr>
              <a:t>neighbors</a:t>
            </a:r>
            <a:r>
              <a:rPr lang="es-MX" sz="2400" dirty="0">
                <a:latin typeface="Arial" pitchFamily="34" charset="0"/>
                <a:cs typeface="Arial" pitchFamily="34" charset="0"/>
              </a:rPr>
              <a:t>)</a:t>
            </a:r>
            <a:endParaRPr lang="es-ES" sz="2400" dirty="0">
              <a:latin typeface="Arial" pitchFamily="34" charset="0"/>
              <a:cs typeface="Arial" pitchFamily="34" charset="0"/>
            </a:endParaRPr>
          </a:p>
        </p:txBody>
      </p:sp>
      <p:pic>
        <p:nvPicPr>
          <p:cNvPr id="3" name="2 Imagen"/>
          <p:cNvPicPr/>
          <p:nvPr/>
        </p:nvPicPr>
        <p:blipFill>
          <a:blip r:embed="rId2" cstate="print"/>
          <a:srcRect l="32895" t="37787" r="35408" b="28074"/>
          <a:stretch>
            <a:fillRect/>
          </a:stretch>
        </p:blipFill>
        <p:spPr bwMode="auto">
          <a:xfrm>
            <a:off x="285720" y="2357430"/>
            <a:ext cx="5000660" cy="4214842"/>
          </a:xfrm>
          <a:prstGeom prst="rect">
            <a:avLst/>
          </a:prstGeom>
          <a:noFill/>
          <a:ln w="9525">
            <a:noFill/>
            <a:miter lim="800000"/>
            <a:headEnd/>
            <a:tailEnd/>
          </a:ln>
        </p:spPr>
      </p:pic>
      <p:sp>
        <p:nvSpPr>
          <p:cNvPr id="4" name="3 Rectángulo"/>
          <p:cNvSpPr/>
          <p:nvPr/>
        </p:nvSpPr>
        <p:spPr>
          <a:xfrm>
            <a:off x="5500694" y="2285992"/>
            <a:ext cx="3643306" cy="4524315"/>
          </a:xfrm>
          <a:prstGeom prst="rect">
            <a:avLst/>
          </a:prstGeom>
        </p:spPr>
        <p:txBody>
          <a:bodyPr wrap="square">
            <a:spAutoFit/>
          </a:bodyPr>
          <a:lstStyle/>
          <a:p>
            <a:pPr algn="just"/>
            <a:r>
              <a:rPr lang="es-MX" sz="2400" dirty="0">
                <a:latin typeface="Arial" pitchFamily="34" charset="0"/>
                <a:cs typeface="Arial" pitchFamily="34" charset="0"/>
              </a:rPr>
              <a:t>El aprendizaje basado en instancias es muy útil para trabajar sobre tipos de datos no estándar, como los textos o multimedia. El único requerimiento para incluir un tipo de datos es la existencia de una métrica apropiada de distancia para formalizar el concepto de similitud.</a:t>
            </a:r>
            <a:endParaRPr lang="es-ES" sz="240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643042" y="571480"/>
            <a:ext cx="5786478" cy="642926"/>
          </a:xfrm>
        </p:spPr>
        <p:txBody>
          <a:bodyPr>
            <a:noAutofit/>
          </a:bodyPr>
          <a:lstStyle/>
          <a:p>
            <a:pPr algn="ctr"/>
            <a:r>
              <a:rPr lang="es-MX" b="1" dirty="0" smtClean="0">
                <a:latin typeface="Arial" pitchFamily="34" charset="0"/>
                <a:cs typeface="Arial" pitchFamily="34" charset="0"/>
              </a:rPr>
              <a:t>La regresión</a:t>
            </a:r>
            <a:endParaRPr lang="es-ES" b="1" dirty="0">
              <a:latin typeface="Arial" pitchFamily="34" charset="0"/>
              <a:cs typeface="Arial" pitchFamily="34" charset="0"/>
            </a:endParaRPr>
          </a:p>
        </p:txBody>
      </p:sp>
      <p:sp>
        <p:nvSpPr>
          <p:cNvPr id="3" name="2 CuadroTexto"/>
          <p:cNvSpPr txBox="1"/>
          <p:nvPr/>
        </p:nvSpPr>
        <p:spPr>
          <a:xfrm>
            <a:off x="0" y="500042"/>
            <a:ext cx="2285984" cy="369332"/>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p>
            <a:pPr algn="ctr"/>
            <a:r>
              <a:rPr lang="es-ES" b="1" dirty="0" smtClean="0">
                <a:solidFill>
                  <a:schemeClr val="tx1"/>
                </a:solidFill>
              </a:rPr>
              <a:t>Tarea Predictiva</a:t>
            </a:r>
            <a:endParaRPr lang="es-ES" b="1" dirty="0">
              <a:solidFill>
                <a:schemeClr val="tx1"/>
              </a:solidFill>
            </a:endParaRPr>
          </a:p>
        </p:txBody>
      </p:sp>
      <p:sp>
        <p:nvSpPr>
          <p:cNvPr id="4" name="3 Rectángulo"/>
          <p:cNvSpPr/>
          <p:nvPr/>
        </p:nvSpPr>
        <p:spPr>
          <a:xfrm>
            <a:off x="714348" y="1830537"/>
            <a:ext cx="8001056" cy="3477875"/>
          </a:xfrm>
          <a:prstGeom prst="rect">
            <a:avLst/>
          </a:prstGeom>
        </p:spPr>
        <p:txBody>
          <a:bodyPr wrap="square">
            <a:spAutoFit/>
          </a:bodyPr>
          <a:lstStyle/>
          <a:p>
            <a:pPr lvl="0" algn="just"/>
            <a:r>
              <a:rPr lang="es-MX" sz="2000" dirty="0" smtClean="0">
                <a:latin typeface="Arial" pitchFamily="34" charset="0"/>
                <a:cs typeface="Arial" pitchFamily="34" charset="0"/>
              </a:rPr>
              <a:t>Consiste en aprender una función real que asigna a cada instancia un valor real. Ésta es la principal diferencia respecto a la clasificación; el valor a predecir es numérico. El objetivo en este caso es minimizar el error (generalmente el error cuadrático medio) entre  el valor predicho y el valor real.</a:t>
            </a:r>
          </a:p>
          <a:p>
            <a:pPr lvl="0" algn="just"/>
            <a:endParaRPr lang="es-ES" sz="2000" dirty="0" smtClean="0">
              <a:latin typeface="Arial" pitchFamily="34" charset="0"/>
              <a:cs typeface="Arial" pitchFamily="34" charset="0"/>
            </a:endParaRPr>
          </a:p>
          <a:p>
            <a:pPr algn="just"/>
            <a:r>
              <a:rPr lang="es-MX" sz="2000" b="1" dirty="0" smtClean="0">
                <a:latin typeface="Arial" pitchFamily="34" charset="0"/>
                <a:cs typeface="Arial" pitchFamily="34" charset="0"/>
              </a:rPr>
              <a:t>Ejemplo.</a:t>
            </a:r>
            <a:r>
              <a:rPr lang="es-MX" sz="2000" dirty="0" smtClean="0">
                <a:latin typeface="Arial" pitchFamily="34" charset="0"/>
                <a:cs typeface="Arial" pitchFamily="34" charset="0"/>
              </a:rPr>
              <a:t> Un empresario quiere conocer cuál es el costo de un nuevo contrato basándose en los datos correspondientes a contratos anteriores. Para ello usa una fórmula de regresión lineal, ajustando con los datos pasados la función lineal y usándola para predecir el costo en el futuro. </a:t>
            </a:r>
            <a:endParaRPr lang="es-ES" sz="200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0" y="857232"/>
            <a:ext cx="3500430" cy="857256"/>
          </a:xfrm>
        </p:spPr>
        <p:style>
          <a:lnRef idx="3">
            <a:schemeClr val="lt1"/>
          </a:lnRef>
          <a:fillRef idx="1">
            <a:schemeClr val="dk1"/>
          </a:fillRef>
          <a:effectRef idx="1">
            <a:schemeClr val="dk1"/>
          </a:effectRef>
          <a:fontRef idx="minor">
            <a:schemeClr val="lt1"/>
          </a:fontRef>
        </p:style>
        <p:txBody>
          <a:bodyPr>
            <a:normAutofit fontScale="90000"/>
          </a:bodyPr>
          <a:lstStyle/>
          <a:p>
            <a:r>
              <a:rPr lang="es-MX" sz="2800" dirty="0" smtClean="0">
                <a:solidFill>
                  <a:schemeClr val="bg1"/>
                </a:solidFill>
                <a:latin typeface="+mn-lt"/>
              </a:rPr>
              <a:t>REGRESIÓN LINEAL</a:t>
            </a:r>
            <a:endParaRPr lang="es-ES" sz="2800" dirty="0">
              <a:solidFill>
                <a:schemeClr val="bg1"/>
              </a:solidFill>
              <a:latin typeface="+mn-lt"/>
            </a:endParaRPr>
          </a:p>
        </p:txBody>
      </p:sp>
      <p:pic>
        <p:nvPicPr>
          <p:cNvPr id="3" name="2 Imagen"/>
          <p:cNvPicPr/>
          <p:nvPr/>
        </p:nvPicPr>
        <p:blipFill>
          <a:blip r:embed="rId2" cstate="print"/>
          <a:srcRect l="32387" t="38387" r="35782" b="22246"/>
          <a:stretch>
            <a:fillRect/>
          </a:stretch>
        </p:blipFill>
        <p:spPr bwMode="auto">
          <a:xfrm>
            <a:off x="1285852" y="1928802"/>
            <a:ext cx="6357982" cy="3786214"/>
          </a:xfrm>
          <a:prstGeom prst="rect">
            <a:avLst/>
          </a:prstGeom>
          <a:noFill/>
          <a:ln w="9525">
            <a:noFill/>
            <a:miter lim="800000"/>
            <a:headEnd/>
            <a:tailEnd/>
          </a:ln>
        </p:spPr>
      </p:pic>
      <p:sp>
        <p:nvSpPr>
          <p:cNvPr id="4" name="3 Rectángulo"/>
          <p:cNvSpPr/>
          <p:nvPr/>
        </p:nvSpPr>
        <p:spPr>
          <a:xfrm>
            <a:off x="2285984" y="214290"/>
            <a:ext cx="4754828" cy="461665"/>
          </a:xfrm>
          <a:prstGeom prst="rect">
            <a:avLst/>
          </a:prstGeom>
        </p:spPr>
        <p:style>
          <a:lnRef idx="1">
            <a:schemeClr val="accent3"/>
          </a:lnRef>
          <a:fillRef idx="2">
            <a:schemeClr val="accent3"/>
          </a:fillRef>
          <a:effectRef idx="1">
            <a:schemeClr val="accent3"/>
          </a:effectRef>
          <a:fontRef idx="minor">
            <a:schemeClr val="dk1"/>
          </a:fontRef>
        </p:style>
        <p:txBody>
          <a:bodyPr wrap="none">
            <a:spAutoFit/>
          </a:bodyPr>
          <a:lstStyle/>
          <a:p>
            <a:r>
              <a:rPr lang="es-MX" sz="2400" b="1" dirty="0" smtClean="0"/>
              <a:t>Técnica de minería de datos</a:t>
            </a:r>
            <a:endParaRPr lang="es-ES" sz="2400" b="1"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0" y="905516"/>
            <a:ext cx="8190063" cy="523220"/>
          </a:xfrm>
          <a:prstGeom prst="rect">
            <a:avLst/>
          </a:prstGeom>
        </p:spPr>
        <p:style>
          <a:lnRef idx="3">
            <a:schemeClr val="lt1"/>
          </a:lnRef>
          <a:fillRef idx="1">
            <a:schemeClr val="dk1"/>
          </a:fillRef>
          <a:effectRef idx="1">
            <a:schemeClr val="dk1"/>
          </a:effectRef>
          <a:fontRef idx="minor">
            <a:schemeClr val="lt1"/>
          </a:fontRef>
        </p:style>
        <p:txBody>
          <a:bodyPr wrap="none">
            <a:spAutoFit/>
          </a:bodyPr>
          <a:lstStyle/>
          <a:p>
            <a:r>
              <a:rPr lang="es-MX" sz="2800" b="1" dirty="0" smtClean="0"/>
              <a:t>LAS REDES NEURONALES ARTIFICIALES </a:t>
            </a:r>
            <a:endParaRPr lang="es-ES" sz="2800" b="1" dirty="0"/>
          </a:p>
        </p:txBody>
      </p:sp>
      <p:sp>
        <p:nvSpPr>
          <p:cNvPr id="3" name="2 Rectángulo"/>
          <p:cNvSpPr/>
          <p:nvPr/>
        </p:nvSpPr>
        <p:spPr>
          <a:xfrm>
            <a:off x="642910" y="1785926"/>
            <a:ext cx="7929618" cy="4154984"/>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pPr algn="just">
              <a:buFontTx/>
              <a:buChar char="-"/>
            </a:pPr>
            <a:r>
              <a:rPr lang="es-MX" sz="2400" dirty="0" smtClean="0">
                <a:latin typeface="Arial" pitchFamily="34" charset="0"/>
                <a:cs typeface="Arial" pitchFamily="34" charset="0"/>
              </a:rPr>
              <a:t>Son todo </a:t>
            </a:r>
            <a:r>
              <a:rPr lang="es-MX" sz="2400" dirty="0">
                <a:latin typeface="Arial" pitchFamily="34" charset="0"/>
                <a:cs typeface="Arial" pitchFamily="34" charset="0"/>
              </a:rPr>
              <a:t>un paradigma de computación muy potente que permite modelizar problemas complejos en lo que puede haber interacciones o no lineales entre variables</a:t>
            </a:r>
            <a:r>
              <a:rPr lang="es-MX" sz="2400" dirty="0" smtClean="0">
                <a:latin typeface="Arial" pitchFamily="34" charset="0"/>
                <a:cs typeface="Arial" pitchFamily="34" charset="0"/>
              </a:rPr>
              <a:t>.</a:t>
            </a:r>
          </a:p>
          <a:p>
            <a:pPr algn="just">
              <a:buFontTx/>
              <a:buChar char="-"/>
            </a:pPr>
            <a:endParaRPr lang="es-MX" sz="2400" dirty="0">
              <a:latin typeface="Arial" pitchFamily="34" charset="0"/>
              <a:cs typeface="Arial" pitchFamily="34" charset="0"/>
            </a:endParaRPr>
          </a:p>
          <a:p>
            <a:pPr algn="just">
              <a:buFontTx/>
              <a:buChar char="-"/>
            </a:pPr>
            <a:r>
              <a:rPr lang="es-MX" sz="2400" dirty="0" smtClean="0">
                <a:latin typeface="Arial" pitchFamily="34" charset="0"/>
                <a:cs typeface="Arial" pitchFamily="34" charset="0"/>
              </a:rPr>
              <a:t>Pueden usarse </a:t>
            </a:r>
            <a:r>
              <a:rPr lang="es-MX" sz="2400" dirty="0">
                <a:latin typeface="Arial" pitchFamily="34" charset="0"/>
                <a:cs typeface="Arial" pitchFamily="34" charset="0"/>
              </a:rPr>
              <a:t>en problemas de </a:t>
            </a:r>
            <a:r>
              <a:rPr lang="es-MX" sz="2400" dirty="0" smtClean="0">
                <a:latin typeface="Arial" pitchFamily="34" charset="0"/>
                <a:cs typeface="Arial" pitchFamily="34" charset="0"/>
              </a:rPr>
              <a:t>clasificación, </a:t>
            </a:r>
            <a:r>
              <a:rPr lang="es-MX" sz="2400" dirty="0">
                <a:latin typeface="Arial" pitchFamily="34" charset="0"/>
                <a:cs typeface="Arial" pitchFamily="34" charset="0"/>
              </a:rPr>
              <a:t>de regresión y agrupamiento. </a:t>
            </a:r>
            <a:endParaRPr lang="es-MX" sz="2400" dirty="0" smtClean="0">
              <a:latin typeface="Arial" pitchFamily="34" charset="0"/>
              <a:cs typeface="Arial" pitchFamily="34" charset="0"/>
            </a:endParaRPr>
          </a:p>
          <a:p>
            <a:pPr algn="just">
              <a:buFontTx/>
              <a:buChar char="-"/>
            </a:pPr>
            <a:endParaRPr lang="es-MX" sz="2400" dirty="0">
              <a:latin typeface="Arial" pitchFamily="34" charset="0"/>
              <a:cs typeface="Arial" pitchFamily="34" charset="0"/>
            </a:endParaRPr>
          </a:p>
          <a:p>
            <a:pPr algn="just">
              <a:buFontTx/>
              <a:buChar char="-"/>
            </a:pPr>
            <a:r>
              <a:rPr lang="es-MX" sz="2400" dirty="0" smtClean="0">
                <a:latin typeface="Arial" pitchFamily="34" charset="0"/>
                <a:cs typeface="Arial" pitchFamily="34" charset="0"/>
              </a:rPr>
              <a:t>Trabajan directamente </a:t>
            </a:r>
            <a:r>
              <a:rPr lang="es-MX" sz="2400" dirty="0">
                <a:latin typeface="Arial" pitchFamily="34" charset="0"/>
                <a:cs typeface="Arial" pitchFamily="34" charset="0"/>
              </a:rPr>
              <a:t>con datos numéricos. </a:t>
            </a:r>
            <a:endParaRPr lang="es-MX" sz="2400" dirty="0" smtClean="0">
              <a:latin typeface="Arial" pitchFamily="34" charset="0"/>
              <a:cs typeface="Arial" pitchFamily="34" charset="0"/>
            </a:endParaRPr>
          </a:p>
          <a:p>
            <a:pPr algn="just">
              <a:buFontTx/>
              <a:buChar char="-"/>
            </a:pPr>
            <a:endParaRPr lang="es-MX" sz="2400" dirty="0">
              <a:latin typeface="Arial" pitchFamily="34" charset="0"/>
              <a:cs typeface="Arial" pitchFamily="34" charset="0"/>
            </a:endParaRPr>
          </a:p>
          <a:p>
            <a:pPr algn="just">
              <a:buFontTx/>
              <a:buChar char="-"/>
            </a:pPr>
            <a:r>
              <a:rPr lang="es-MX" sz="2400" dirty="0" smtClean="0">
                <a:latin typeface="Arial" pitchFamily="34" charset="0"/>
                <a:cs typeface="Arial" pitchFamily="34" charset="0"/>
              </a:rPr>
              <a:t>Para </a:t>
            </a:r>
            <a:r>
              <a:rPr lang="es-MX" sz="2400" dirty="0">
                <a:latin typeface="Arial" pitchFamily="34" charset="0"/>
                <a:cs typeface="Arial" pitchFamily="34" charset="0"/>
              </a:rPr>
              <a:t>usarlas con datos nominales éstos deben numerizarse primero.</a:t>
            </a:r>
            <a:endParaRPr lang="es-ES" sz="2400" dirty="0">
              <a:latin typeface="Arial" pitchFamily="34" charset="0"/>
              <a:cs typeface="Arial" pitchFamily="34" charset="0"/>
            </a:endParaRPr>
          </a:p>
        </p:txBody>
      </p:sp>
      <p:sp>
        <p:nvSpPr>
          <p:cNvPr id="4" name="3 Rectángulo"/>
          <p:cNvSpPr/>
          <p:nvPr/>
        </p:nvSpPr>
        <p:spPr>
          <a:xfrm>
            <a:off x="2285984" y="214290"/>
            <a:ext cx="4754828" cy="461665"/>
          </a:xfrm>
          <a:prstGeom prst="rect">
            <a:avLst/>
          </a:prstGeom>
        </p:spPr>
        <p:style>
          <a:lnRef idx="1">
            <a:schemeClr val="accent3"/>
          </a:lnRef>
          <a:fillRef idx="2">
            <a:schemeClr val="accent3"/>
          </a:fillRef>
          <a:effectRef idx="1">
            <a:schemeClr val="accent3"/>
          </a:effectRef>
          <a:fontRef idx="minor">
            <a:schemeClr val="dk1"/>
          </a:fontRef>
        </p:style>
        <p:txBody>
          <a:bodyPr wrap="none">
            <a:spAutoFit/>
          </a:bodyPr>
          <a:lstStyle/>
          <a:p>
            <a:r>
              <a:rPr lang="es-MX" sz="2400" b="1" dirty="0" smtClean="0"/>
              <a:t>Técnica de minería de datos</a:t>
            </a:r>
            <a:endParaRPr lang="es-ES" sz="2400" b="1"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571472" y="714356"/>
            <a:ext cx="8143932" cy="1631216"/>
          </a:xfrm>
          <a:prstGeom prst="rect">
            <a:avLst/>
          </a:prstGeom>
        </p:spPr>
        <p:txBody>
          <a:bodyPr wrap="square">
            <a:spAutoFit/>
          </a:bodyPr>
          <a:lstStyle/>
          <a:p>
            <a:pPr algn="just"/>
            <a:r>
              <a:rPr lang="es-MX" sz="2000" dirty="0">
                <a:latin typeface="Arial" pitchFamily="34" charset="0"/>
                <a:cs typeface="Arial" pitchFamily="34" charset="0"/>
              </a:rPr>
              <a:t>Una red neuronal puede verse como un grafo dirigido con muchos nodos (elementos del proceso) y arcos entre ellos (sus interconexiones). Cada uno de estos elementos funciona independientemente de los demás, usando datos locales (la entrada y salida del nodo) para dirigir su procesamiento.</a:t>
            </a:r>
            <a:endParaRPr lang="es-ES" sz="2000" dirty="0">
              <a:latin typeface="Arial" pitchFamily="34" charset="0"/>
              <a:cs typeface="Arial" pitchFamily="34" charset="0"/>
            </a:endParaRPr>
          </a:p>
        </p:txBody>
      </p:sp>
      <p:pic>
        <p:nvPicPr>
          <p:cNvPr id="3" name="2 Imagen"/>
          <p:cNvPicPr/>
          <p:nvPr/>
        </p:nvPicPr>
        <p:blipFill>
          <a:blip r:embed="rId2" cstate="print"/>
          <a:srcRect l="24305" t="29677" r="25188" b="18977"/>
          <a:stretch>
            <a:fillRect/>
          </a:stretch>
        </p:blipFill>
        <p:spPr bwMode="auto">
          <a:xfrm>
            <a:off x="1500166" y="2564904"/>
            <a:ext cx="6888258" cy="400736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467544" y="1196752"/>
            <a:ext cx="8286808" cy="4524315"/>
          </a:xfrm>
          <a:prstGeom prst="rect">
            <a:avLst/>
          </a:prstGeom>
        </p:spPr>
        <p:txBody>
          <a:bodyPr wrap="square">
            <a:spAutoFit/>
          </a:bodyPr>
          <a:lstStyle/>
          <a:p>
            <a:pPr algn="just"/>
            <a:endParaRPr lang="es-MX" sz="2400" dirty="0">
              <a:latin typeface="Arial" pitchFamily="34" charset="0"/>
              <a:cs typeface="Arial" pitchFamily="34" charset="0"/>
            </a:endParaRPr>
          </a:p>
          <a:p>
            <a:pPr algn="just">
              <a:buFontTx/>
              <a:buChar char="-"/>
            </a:pPr>
            <a:r>
              <a:rPr lang="es-ES" sz="2400" dirty="0" smtClean="0">
                <a:latin typeface="Arial" pitchFamily="34" charset="0"/>
                <a:cs typeface="Arial" pitchFamily="34" charset="0"/>
              </a:rPr>
              <a:t>Para usar una red neuronal ya entrenada se introducen los valores de los atributos de una instancia en los nodos de entrada y los nodos de salida determinan la predicción para dicha instancia.</a:t>
            </a:r>
          </a:p>
          <a:p>
            <a:pPr algn="just">
              <a:buFontTx/>
              <a:buChar char="-"/>
            </a:pPr>
            <a:endParaRPr lang="es-ES" sz="2400" dirty="0" smtClean="0">
              <a:latin typeface="Arial" pitchFamily="34" charset="0"/>
              <a:cs typeface="Arial" pitchFamily="34" charset="0"/>
            </a:endParaRPr>
          </a:p>
          <a:p>
            <a:pPr algn="just">
              <a:buFontTx/>
              <a:buChar char="-"/>
            </a:pPr>
            <a:endParaRPr lang="es-ES" sz="2400" dirty="0" smtClean="0">
              <a:latin typeface="Arial" pitchFamily="34" charset="0"/>
              <a:cs typeface="Arial" pitchFamily="34" charset="0"/>
            </a:endParaRPr>
          </a:p>
          <a:p>
            <a:pPr algn="just">
              <a:buFontTx/>
              <a:buChar char="-"/>
            </a:pPr>
            <a:r>
              <a:rPr lang="es-MX" sz="2400" dirty="0" smtClean="0">
                <a:latin typeface="Arial" pitchFamily="34" charset="0"/>
                <a:cs typeface="Arial" pitchFamily="34" charset="0"/>
              </a:rPr>
              <a:t>- Las redes neuronales tienen una gran capacidad de generalización para problemas no lineales, aunque requieren bastantes datos para su entrenamiento. Su mayor desventaja es que es difícilmente comprensible. </a:t>
            </a:r>
            <a:endParaRPr lang="es-ES" sz="2400" dirty="0" smtClean="0">
              <a:latin typeface="Arial" pitchFamily="34" charset="0"/>
              <a:cs typeface="Arial" pitchFamily="34" charset="0"/>
            </a:endParaRPr>
          </a:p>
          <a:p>
            <a:pPr algn="just">
              <a:buFontTx/>
              <a:buChar char="-"/>
            </a:pPr>
            <a:endParaRPr lang="es-ES" sz="240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algn="ctr"/>
            <a:r>
              <a:rPr lang="es-MX" b="1" dirty="0" smtClean="0">
                <a:solidFill>
                  <a:schemeClr val="tx1"/>
                </a:solidFill>
                <a:latin typeface="Arial" pitchFamily="34" charset="0"/>
                <a:cs typeface="Arial" pitchFamily="34" charset="0"/>
              </a:rPr>
              <a:t>El agrupamiento (</a:t>
            </a:r>
            <a:r>
              <a:rPr lang="es-MX" b="1" dirty="0" err="1" smtClean="0">
                <a:solidFill>
                  <a:schemeClr val="tx1"/>
                </a:solidFill>
                <a:latin typeface="Arial" pitchFamily="34" charset="0"/>
                <a:cs typeface="Arial" pitchFamily="34" charset="0"/>
              </a:rPr>
              <a:t>clustering</a:t>
            </a:r>
            <a:r>
              <a:rPr lang="es-MX" b="1" dirty="0" smtClean="0">
                <a:solidFill>
                  <a:schemeClr val="tx1"/>
                </a:solidFill>
                <a:latin typeface="Arial" pitchFamily="34" charset="0"/>
                <a:cs typeface="Arial" pitchFamily="34" charset="0"/>
              </a:rPr>
              <a:t>)</a:t>
            </a:r>
            <a:endParaRPr lang="es-ES" b="1" dirty="0">
              <a:solidFill>
                <a:schemeClr val="tx1"/>
              </a:solidFill>
              <a:latin typeface="Arial" pitchFamily="34" charset="0"/>
              <a:cs typeface="Arial" pitchFamily="34" charset="0"/>
            </a:endParaRPr>
          </a:p>
        </p:txBody>
      </p:sp>
      <p:sp>
        <p:nvSpPr>
          <p:cNvPr id="3" name="2 CuadroTexto"/>
          <p:cNvSpPr txBox="1"/>
          <p:nvPr/>
        </p:nvSpPr>
        <p:spPr>
          <a:xfrm>
            <a:off x="0" y="500042"/>
            <a:ext cx="2285984" cy="369332"/>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p>
            <a:pPr algn="ctr"/>
            <a:r>
              <a:rPr lang="es-ES" b="1" dirty="0" smtClean="0">
                <a:solidFill>
                  <a:schemeClr val="tx1"/>
                </a:solidFill>
              </a:rPr>
              <a:t>Tarea Descriptiva</a:t>
            </a:r>
            <a:endParaRPr lang="es-ES" b="1" dirty="0">
              <a:solidFill>
                <a:schemeClr val="tx1"/>
              </a:solidFill>
            </a:endParaRPr>
          </a:p>
        </p:txBody>
      </p:sp>
      <p:sp>
        <p:nvSpPr>
          <p:cNvPr id="4" name="3 Rectángulo"/>
          <p:cNvSpPr/>
          <p:nvPr/>
        </p:nvSpPr>
        <p:spPr>
          <a:xfrm>
            <a:off x="500034" y="2643182"/>
            <a:ext cx="8143932" cy="3266985"/>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gn="just">
              <a:lnSpc>
                <a:spcPct val="150000"/>
              </a:lnSpc>
              <a:buFontTx/>
              <a:buChar char="-"/>
            </a:pPr>
            <a:r>
              <a:rPr lang="es-MX" sz="2000" dirty="0" smtClean="0">
                <a:latin typeface="Arial" pitchFamily="34" charset="0"/>
                <a:cs typeface="Arial" pitchFamily="34" charset="0"/>
              </a:rPr>
              <a:t>Es en obtener grupos “naturales” a partir de los datos. </a:t>
            </a:r>
          </a:p>
          <a:p>
            <a:pPr algn="just">
              <a:lnSpc>
                <a:spcPct val="150000"/>
              </a:lnSpc>
              <a:buFontTx/>
              <a:buChar char="-"/>
            </a:pPr>
            <a:r>
              <a:rPr lang="es-MX" sz="2000" dirty="0" smtClean="0">
                <a:latin typeface="Arial" pitchFamily="34" charset="0"/>
                <a:cs typeface="Arial" pitchFamily="34" charset="0"/>
              </a:rPr>
              <a:t>Hablemos de grupos y no de clases, porque, a diferencia de la clasificación, en lugar de analizar datos etiquetados con una clase, los analiza para generar esta  etiqueta.</a:t>
            </a:r>
          </a:p>
          <a:p>
            <a:pPr algn="just">
              <a:lnSpc>
                <a:spcPct val="150000"/>
              </a:lnSpc>
              <a:buFontTx/>
              <a:buChar char="-"/>
            </a:pPr>
            <a:r>
              <a:rPr lang="es-MX" sz="2000" dirty="0" smtClean="0">
                <a:latin typeface="Arial" pitchFamily="34" charset="0"/>
                <a:cs typeface="Arial" pitchFamily="34" charset="0"/>
              </a:rPr>
              <a:t>Los datos son agrupados basándose en el principio de maximizar la similitud entre los elementos de un grupo minimizando la similitud entre los distintos grupos. </a:t>
            </a:r>
            <a:endParaRPr lang="es-ES" sz="200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357158" y="714356"/>
            <a:ext cx="8429684" cy="707886"/>
          </a:xfrm>
          <a:prstGeom prst="rect">
            <a:avLst/>
          </a:prstGeom>
        </p:spPr>
        <p:txBody>
          <a:bodyPr wrap="square">
            <a:spAutoFit/>
          </a:bodyPr>
          <a:lstStyle/>
          <a:p>
            <a:pPr algn="just"/>
            <a:r>
              <a:rPr lang="es-MX" sz="2000" dirty="0" smtClean="0">
                <a:latin typeface="Arial" pitchFamily="34" charset="0"/>
                <a:cs typeface="Arial" pitchFamily="34" charset="0"/>
              </a:rPr>
              <a:t>- Al agrupamiento también se le suele llamar segmentación, ya que parte o segmente lo datos en grupos que pueden ser o no disjuntos</a:t>
            </a:r>
            <a:endParaRPr lang="es-ES" sz="2000" dirty="0">
              <a:latin typeface="Arial" pitchFamily="34" charset="0"/>
              <a:cs typeface="Arial" pitchFamily="34" charset="0"/>
            </a:endParaRPr>
          </a:p>
        </p:txBody>
      </p:sp>
      <p:sp>
        <p:nvSpPr>
          <p:cNvPr id="1025" name="Rectangle 1"/>
          <p:cNvSpPr>
            <a:spLocks noChangeArrowheads="1"/>
          </p:cNvSpPr>
          <p:nvPr/>
        </p:nvSpPr>
        <p:spPr bwMode="auto">
          <a:xfrm>
            <a:off x="785786" y="2214554"/>
            <a:ext cx="7429552" cy="2246769"/>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s-MX" sz="2000" b="1" i="1" u="none" strike="noStrike" cap="none" normalizeH="0" baseline="0" dirty="0" smtClean="0">
                <a:ln>
                  <a:noFill/>
                </a:ln>
                <a:solidFill>
                  <a:schemeClr val="tx1"/>
                </a:solidFill>
                <a:effectLst/>
                <a:latin typeface="Arial" pitchFamily="34" charset="0"/>
                <a:ea typeface="Calibri" pitchFamily="34" charset="0"/>
                <a:cs typeface="Arial" pitchFamily="34" charset="0"/>
              </a:rPr>
              <a:t>Ejemplo. </a:t>
            </a:r>
            <a:r>
              <a:rPr kumimoji="0" lang="es-MX" sz="2000" b="0" i="1" u="none" strike="noStrike" cap="none" normalizeH="0" baseline="0" dirty="0" smtClean="0">
                <a:ln>
                  <a:noFill/>
                </a:ln>
                <a:solidFill>
                  <a:schemeClr val="tx1"/>
                </a:solidFill>
                <a:effectLst/>
                <a:latin typeface="Arial" pitchFamily="34" charset="0"/>
                <a:ea typeface="Calibri" pitchFamily="34" charset="0"/>
                <a:cs typeface="Arial" pitchFamily="34" charset="0"/>
              </a:rPr>
              <a:t>Una librería que ofrece sus servicios a través de la red usa el agrupamiento para identificar grupos de clientes en base a sus preferencias de compras que le permita dar un servicio mas personalizado. Así, cada vez que un cliente se interesa por un libro, el sistema identifica a qué grupo  pertenece y le recomienda otros libros comprados por clientes de su mismo grupo.</a:t>
            </a:r>
            <a:endParaRPr kumimoji="0" lang="es-MX" sz="36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0" y="1142984"/>
            <a:ext cx="4572032" cy="928694"/>
          </a:xfrm>
        </p:spPr>
        <p:style>
          <a:lnRef idx="3">
            <a:schemeClr val="lt1"/>
          </a:lnRef>
          <a:fillRef idx="1">
            <a:schemeClr val="dk1"/>
          </a:fillRef>
          <a:effectRef idx="1">
            <a:schemeClr val="dk1"/>
          </a:effectRef>
          <a:fontRef idx="minor">
            <a:schemeClr val="lt1"/>
          </a:fontRef>
        </p:style>
        <p:txBody>
          <a:bodyPr>
            <a:noAutofit/>
          </a:bodyPr>
          <a:lstStyle/>
          <a:p>
            <a:r>
              <a:rPr lang="es-MX" sz="2800" b="1" dirty="0" smtClean="0">
                <a:solidFill>
                  <a:schemeClr val="bg1"/>
                </a:solidFill>
                <a:latin typeface="Arial" pitchFamily="34" charset="0"/>
                <a:cs typeface="Arial" pitchFamily="34" charset="0"/>
              </a:rPr>
              <a:t>MÉTODOS BAYESIANOS</a:t>
            </a:r>
            <a:endParaRPr lang="es-ES" sz="2800" dirty="0">
              <a:solidFill>
                <a:schemeClr val="bg1"/>
              </a:solidFill>
              <a:latin typeface="Arial" pitchFamily="34" charset="0"/>
              <a:cs typeface="Arial" pitchFamily="34" charset="0"/>
            </a:endParaRPr>
          </a:p>
        </p:txBody>
      </p:sp>
      <p:sp>
        <p:nvSpPr>
          <p:cNvPr id="3" name="2 Rectángulo"/>
          <p:cNvSpPr/>
          <p:nvPr/>
        </p:nvSpPr>
        <p:spPr>
          <a:xfrm>
            <a:off x="500034" y="2500306"/>
            <a:ext cx="7929618" cy="2246769"/>
          </a:xfrm>
          <a:prstGeom prst="rect">
            <a:avLst/>
          </a:prstGeom>
        </p:spPr>
        <p:txBody>
          <a:bodyPr wrap="square">
            <a:spAutoFit/>
          </a:bodyPr>
          <a:lstStyle/>
          <a:p>
            <a:pPr algn="just">
              <a:buFontTx/>
              <a:buChar char="-"/>
            </a:pPr>
            <a:r>
              <a:rPr lang="es-MX" sz="2000" dirty="0" smtClean="0">
                <a:latin typeface="Arial" pitchFamily="34" charset="0"/>
                <a:cs typeface="Arial" pitchFamily="34" charset="0"/>
              </a:rPr>
              <a:t>Se utiliza para una instancia dada sin clasificar, cual es la probabilidad de que se asigne cada una de las clases, y seleccionar la de mayor probabilidad.</a:t>
            </a:r>
          </a:p>
          <a:p>
            <a:pPr algn="just">
              <a:buFontTx/>
              <a:buChar char="-"/>
            </a:pPr>
            <a:endParaRPr lang="es-MX" sz="2000" dirty="0" smtClean="0">
              <a:latin typeface="Arial" pitchFamily="34" charset="0"/>
              <a:cs typeface="Arial" pitchFamily="34" charset="0"/>
            </a:endParaRPr>
          </a:p>
          <a:p>
            <a:pPr algn="just">
              <a:buFontTx/>
              <a:buChar char="-"/>
            </a:pPr>
            <a:r>
              <a:rPr lang="es-ES" sz="2000" dirty="0" smtClean="0">
                <a:latin typeface="Arial" pitchFamily="34" charset="0"/>
                <a:cs typeface="Arial" pitchFamily="34" charset="0"/>
              </a:rPr>
              <a:t> Este método funciona bien con bases de datos reales, sobre todo cuando se combinación otros procedimientos de selección de atributos que sirven para eliminar la redundancia.</a:t>
            </a:r>
            <a:endParaRPr lang="es-ES" sz="2000" dirty="0">
              <a:latin typeface="Arial" pitchFamily="34" charset="0"/>
              <a:cs typeface="Arial" pitchFamily="34" charset="0"/>
            </a:endParaRPr>
          </a:p>
        </p:txBody>
      </p:sp>
      <p:sp>
        <p:nvSpPr>
          <p:cNvPr id="4" name="3 Rectángulo"/>
          <p:cNvSpPr/>
          <p:nvPr/>
        </p:nvSpPr>
        <p:spPr>
          <a:xfrm>
            <a:off x="2285984" y="214290"/>
            <a:ext cx="4754828" cy="461665"/>
          </a:xfrm>
          <a:prstGeom prst="rect">
            <a:avLst/>
          </a:prstGeom>
        </p:spPr>
        <p:style>
          <a:lnRef idx="1">
            <a:schemeClr val="accent3"/>
          </a:lnRef>
          <a:fillRef idx="2">
            <a:schemeClr val="accent3"/>
          </a:fillRef>
          <a:effectRef idx="1">
            <a:schemeClr val="accent3"/>
          </a:effectRef>
          <a:fontRef idx="minor">
            <a:schemeClr val="dk1"/>
          </a:fontRef>
        </p:style>
        <p:txBody>
          <a:bodyPr wrap="none">
            <a:spAutoFit/>
          </a:bodyPr>
          <a:lstStyle/>
          <a:p>
            <a:r>
              <a:rPr lang="es-MX" sz="2400" b="1" dirty="0" smtClean="0"/>
              <a:t>Técnica de minería de datos</a:t>
            </a:r>
            <a:endParaRPr lang="es-ES" sz="2400" b="1"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2 Imagen"/>
          <p:cNvPicPr/>
          <p:nvPr/>
        </p:nvPicPr>
        <p:blipFill>
          <a:blip r:embed="rId2" cstate="print"/>
          <a:srcRect l="19945" t="33226" r="23311" b="28064"/>
          <a:stretch>
            <a:fillRect/>
          </a:stretch>
        </p:blipFill>
        <p:spPr bwMode="auto">
          <a:xfrm>
            <a:off x="285720" y="1340768"/>
            <a:ext cx="8572528" cy="3374116"/>
          </a:xfrm>
          <a:prstGeom prst="rect">
            <a:avLst/>
          </a:prstGeom>
          <a:noFill/>
          <a:ln w="9525">
            <a:noFill/>
            <a:miter lim="800000"/>
            <a:headEnd/>
            <a:tailEnd/>
          </a:ln>
        </p:spPr>
      </p:pic>
      <p:sp>
        <p:nvSpPr>
          <p:cNvPr id="4" name="3 Rectángulo"/>
          <p:cNvSpPr/>
          <p:nvPr/>
        </p:nvSpPr>
        <p:spPr>
          <a:xfrm>
            <a:off x="500034" y="5143512"/>
            <a:ext cx="8429652" cy="707886"/>
          </a:xfrm>
          <a:prstGeom prst="rect">
            <a:avLst/>
          </a:prstGeom>
        </p:spPr>
        <p:txBody>
          <a:bodyPr wrap="square">
            <a:spAutoFit/>
          </a:bodyPr>
          <a:lstStyle/>
          <a:p>
            <a:r>
              <a:rPr lang="es-MX" sz="2000" dirty="0" smtClean="0">
                <a:latin typeface="Arial" pitchFamily="34" charset="0"/>
                <a:cs typeface="Arial" pitchFamily="34" charset="0"/>
              </a:rPr>
              <a:t>Ahora supongamos que se tiene un nuevo ejemplo con los siguientes valores:</a:t>
            </a:r>
            <a:endParaRPr lang="es-ES" sz="2000" dirty="0">
              <a:latin typeface="Arial" pitchFamily="34" charset="0"/>
              <a:cs typeface="Arial" pitchFamily="34" charset="0"/>
            </a:endParaRPr>
          </a:p>
        </p:txBody>
      </p:sp>
      <p:pic>
        <p:nvPicPr>
          <p:cNvPr id="5" name="4 Imagen"/>
          <p:cNvPicPr/>
          <p:nvPr/>
        </p:nvPicPr>
        <p:blipFill>
          <a:blip r:embed="rId3" cstate="print"/>
          <a:srcRect l="23168" t="31175" r="27668" b="58540"/>
          <a:stretch>
            <a:fillRect/>
          </a:stretch>
        </p:blipFill>
        <p:spPr bwMode="auto">
          <a:xfrm>
            <a:off x="2357422" y="5715016"/>
            <a:ext cx="6114982" cy="754912"/>
          </a:xfrm>
          <a:prstGeom prst="rect">
            <a:avLst/>
          </a:prstGeom>
          <a:noFill/>
          <a:ln w="9525">
            <a:noFill/>
            <a:miter lim="800000"/>
            <a:headEnd/>
            <a:tailEnd/>
          </a:ln>
        </p:spPr>
      </p:pic>
      <p:sp>
        <p:nvSpPr>
          <p:cNvPr id="6" name="5 Rectángulo"/>
          <p:cNvSpPr/>
          <p:nvPr/>
        </p:nvSpPr>
        <p:spPr>
          <a:xfrm>
            <a:off x="539552" y="548680"/>
            <a:ext cx="8136904" cy="707886"/>
          </a:xfrm>
          <a:prstGeom prst="rect">
            <a:avLst/>
          </a:prstGeom>
        </p:spPr>
        <p:txBody>
          <a:bodyPr wrap="square">
            <a:spAutoFit/>
          </a:bodyPr>
          <a:lstStyle/>
          <a:p>
            <a:r>
              <a:rPr lang="es-MX" sz="2000" dirty="0" smtClean="0">
                <a:latin typeface="Arial" pitchFamily="34" charset="0"/>
                <a:cs typeface="Arial" pitchFamily="34" charset="0"/>
              </a:rPr>
              <a:t>Ejemplo: una compañía de seguros dispone de los siguientes datos sobre sus clientes, clasificados en buenos y malos clientes </a:t>
            </a:r>
            <a:endParaRPr lang="es-MX" sz="200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28794" y="642918"/>
            <a:ext cx="5114932" cy="926988"/>
          </a:xfrm>
        </p:spPr>
        <p:txBody>
          <a:bodyPr/>
          <a:lstStyle/>
          <a:p>
            <a:pPr algn="ctr"/>
            <a:r>
              <a:rPr lang="es-MX" b="1" dirty="0" smtClean="0">
                <a:solidFill>
                  <a:schemeClr val="tx1"/>
                </a:solidFill>
                <a:latin typeface="Arial" pitchFamily="34" charset="0"/>
                <a:cs typeface="Arial" pitchFamily="34" charset="0"/>
              </a:rPr>
              <a:t>Las correlaciones </a:t>
            </a:r>
            <a:endParaRPr lang="es-ES" b="1" dirty="0">
              <a:solidFill>
                <a:schemeClr val="tx1"/>
              </a:solidFill>
              <a:latin typeface="Arial" pitchFamily="34" charset="0"/>
              <a:cs typeface="Arial" pitchFamily="34" charset="0"/>
            </a:endParaRPr>
          </a:p>
        </p:txBody>
      </p:sp>
      <p:sp>
        <p:nvSpPr>
          <p:cNvPr id="3" name="2 CuadroTexto"/>
          <p:cNvSpPr txBox="1"/>
          <p:nvPr/>
        </p:nvSpPr>
        <p:spPr>
          <a:xfrm>
            <a:off x="0" y="500042"/>
            <a:ext cx="2285984" cy="369332"/>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p>
            <a:pPr algn="ctr"/>
            <a:r>
              <a:rPr lang="es-ES" b="1" dirty="0" smtClean="0">
                <a:solidFill>
                  <a:schemeClr val="tx1"/>
                </a:solidFill>
              </a:rPr>
              <a:t>Tarea Descriptiva</a:t>
            </a:r>
            <a:endParaRPr lang="es-ES" b="1" dirty="0">
              <a:solidFill>
                <a:schemeClr val="tx1"/>
              </a:solidFill>
            </a:endParaRPr>
          </a:p>
        </p:txBody>
      </p:sp>
      <p:sp>
        <p:nvSpPr>
          <p:cNvPr id="4" name="3 Rectángulo"/>
          <p:cNvSpPr/>
          <p:nvPr/>
        </p:nvSpPr>
        <p:spPr>
          <a:xfrm>
            <a:off x="642910" y="2000240"/>
            <a:ext cx="8143932" cy="1323439"/>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gn="just"/>
            <a:r>
              <a:rPr lang="es-MX" sz="2000" dirty="0" smtClean="0">
                <a:latin typeface="Arial" pitchFamily="34" charset="0"/>
                <a:cs typeface="Arial" pitchFamily="34" charset="0"/>
              </a:rPr>
              <a:t>- Se usa para examinar el grado de similitud de los valores de dos variables numéricas.</a:t>
            </a:r>
          </a:p>
          <a:p>
            <a:pPr lvl="0"/>
            <a:r>
              <a:rPr lang="es-MX" sz="2000" dirty="0" smtClean="0">
                <a:latin typeface="Arial" pitchFamily="34" charset="0"/>
                <a:cs typeface="Arial" pitchFamily="34" charset="0"/>
              </a:rPr>
              <a:t>- El análisis de correlaciones, sobre todo las negativas pueden ser muy útil para establecer reglas de ítems correlacionados.</a:t>
            </a:r>
            <a:endParaRPr lang="es-ES" sz="2000" dirty="0" smtClean="0">
              <a:latin typeface="Arial" pitchFamily="34" charset="0"/>
              <a:cs typeface="Arial" pitchFamily="34" charset="0"/>
            </a:endParaRPr>
          </a:p>
        </p:txBody>
      </p:sp>
      <p:sp>
        <p:nvSpPr>
          <p:cNvPr id="5" name="4 Rectángulo"/>
          <p:cNvSpPr/>
          <p:nvPr/>
        </p:nvSpPr>
        <p:spPr>
          <a:xfrm>
            <a:off x="1214414" y="3786190"/>
            <a:ext cx="6858048" cy="1938992"/>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just"/>
            <a:r>
              <a:rPr lang="es-MX" sz="2000" b="1" dirty="0" smtClean="0">
                <a:latin typeface="Arial" pitchFamily="34" charset="0"/>
                <a:cs typeface="Arial" pitchFamily="34" charset="0"/>
              </a:rPr>
              <a:t>Ejemplo. </a:t>
            </a:r>
            <a:r>
              <a:rPr lang="es-MX" sz="2000" i="1" dirty="0" smtClean="0">
                <a:latin typeface="Arial" pitchFamily="34" charset="0"/>
                <a:cs typeface="Arial" pitchFamily="34" charset="0"/>
              </a:rPr>
              <a:t>Un inspector de incendios que desea obtener información útil para la prevención de incendios probablemente esté interesado en conocer correlaciones negativas entre el empleo de distintos grosores de protección del material eléctrico y la frecuencia de ocurrencia de incendios.</a:t>
            </a:r>
            <a:endParaRPr lang="es-ES" sz="2000" dirty="0" smtClean="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285984" y="714356"/>
            <a:ext cx="6257940" cy="641236"/>
          </a:xfrm>
        </p:spPr>
        <p:txBody>
          <a:bodyPr>
            <a:noAutofit/>
          </a:bodyPr>
          <a:lstStyle/>
          <a:p>
            <a:r>
              <a:rPr lang="es-MX" b="1" dirty="0" smtClean="0">
                <a:solidFill>
                  <a:schemeClr val="tx1"/>
                </a:solidFill>
                <a:latin typeface="Arial" pitchFamily="34" charset="0"/>
                <a:cs typeface="Arial" pitchFamily="34" charset="0"/>
              </a:rPr>
              <a:t>Las reglas de asociación </a:t>
            </a:r>
            <a:endParaRPr lang="es-ES" b="1" dirty="0">
              <a:solidFill>
                <a:schemeClr val="tx1"/>
              </a:solidFill>
              <a:latin typeface="Arial" pitchFamily="34" charset="0"/>
              <a:cs typeface="Arial" pitchFamily="34" charset="0"/>
            </a:endParaRPr>
          </a:p>
        </p:txBody>
      </p:sp>
      <p:sp>
        <p:nvSpPr>
          <p:cNvPr id="3" name="2 CuadroTexto"/>
          <p:cNvSpPr txBox="1"/>
          <p:nvPr/>
        </p:nvSpPr>
        <p:spPr>
          <a:xfrm>
            <a:off x="0" y="500042"/>
            <a:ext cx="2285984" cy="369332"/>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p>
            <a:pPr algn="ctr"/>
            <a:r>
              <a:rPr lang="es-ES" b="1" dirty="0" smtClean="0">
                <a:solidFill>
                  <a:schemeClr val="tx1"/>
                </a:solidFill>
              </a:rPr>
              <a:t>Tarea Descriptiva</a:t>
            </a:r>
            <a:endParaRPr lang="es-ES" b="1" dirty="0">
              <a:solidFill>
                <a:schemeClr val="tx1"/>
              </a:solidFill>
            </a:endParaRPr>
          </a:p>
        </p:txBody>
      </p:sp>
      <p:sp>
        <p:nvSpPr>
          <p:cNvPr id="4" name="3 Rectángulo"/>
          <p:cNvSpPr/>
          <p:nvPr/>
        </p:nvSpPr>
        <p:spPr>
          <a:xfrm>
            <a:off x="785786" y="2500306"/>
            <a:ext cx="7643866" cy="2554545"/>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gn="just">
              <a:buFontTx/>
              <a:buChar char="-"/>
            </a:pPr>
            <a:r>
              <a:rPr lang="es-MX" sz="2000" dirty="0" smtClean="0">
                <a:latin typeface="Arial" pitchFamily="34" charset="0"/>
                <a:cs typeface="Arial" pitchFamily="34" charset="0"/>
              </a:rPr>
              <a:t>Identificar relaciones no explicitas entre atributos categóricos.</a:t>
            </a:r>
          </a:p>
          <a:p>
            <a:pPr algn="just">
              <a:buFontTx/>
              <a:buChar char="-"/>
            </a:pPr>
            <a:endParaRPr lang="es-MX" sz="2000" dirty="0" smtClean="0">
              <a:latin typeface="Arial" pitchFamily="34" charset="0"/>
              <a:cs typeface="Arial" pitchFamily="34" charset="0"/>
            </a:endParaRPr>
          </a:p>
          <a:p>
            <a:pPr algn="just">
              <a:buFontTx/>
              <a:buChar char="-"/>
            </a:pPr>
            <a:r>
              <a:rPr lang="es-ES" sz="2000" dirty="0" smtClean="0">
                <a:latin typeface="Arial" pitchFamily="34" charset="0"/>
                <a:cs typeface="Arial" pitchFamily="34" charset="0"/>
              </a:rPr>
              <a:t>Este tipo de tarea se utiliza frecuentemente en el análisis de la cesta de la compra, para identificar productos que son frecuentemente comprados juntos.</a:t>
            </a:r>
          </a:p>
          <a:p>
            <a:pPr algn="just">
              <a:buFontTx/>
              <a:buChar char="-"/>
            </a:pPr>
            <a:endParaRPr lang="es-ES" sz="2000" dirty="0" smtClean="0">
              <a:latin typeface="Arial" pitchFamily="34" charset="0"/>
              <a:cs typeface="Arial" pitchFamily="34" charset="0"/>
            </a:endParaRPr>
          </a:p>
          <a:p>
            <a:pPr algn="just">
              <a:buFontTx/>
              <a:buChar char="-"/>
            </a:pPr>
            <a:r>
              <a:rPr lang="es-ES" sz="2000" dirty="0" smtClean="0">
                <a:latin typeface="Arial" pitchFamily="34" charset="0"/>
                <a:cs typeface="Arial" pitchFamily="34" charset="0"/>
              </a:rPr>
              <a:t>Puede usarse para ajustar los inventarios, para la organización física del almacén o en campañas publicitarias.</a:t>
            </a:r>
            <a:endParaRPr lang="es-ES" sz="200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1"/>
          <p:cNvSpPr>
            <a:spLocks noChangeArrowheads="1"/>
          </p:cNvSpPr>
          <p:nvPr/>
        </p:nvSpPr>
        <p:spPr bwMode="auto">
          <a:xfrm>
            <a:off x="467544" y="908720"/>
            <a:ext cx="8358214" cy="2862322"/>
          </a:xfrm>
          <a:prstGeom prst="rect">
            <a:avLst/>
          </a:prstGeom>
          <a:ln>
            <a:headEnd/>
            <a:tailEnd/>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s-MX" sz="2000" b="1" i="1" u="none" strike="noStrike" cap="none" normalizeH="0" baseline="0" dirty="0" smtClean="0">
                <a:ln>
                  <a:noFill/>
                </a:ln>
                <a:solidFill>
                  <a:schemeClr val="tx1"/>
                </a:solidFill>
                <a:effectLst/>
                <a:latin typeface="Arial" pitchFamily="34" charset="0"/>
                <a:ea typeface="Calibri" pitchFamily="34" charset="0"/>
                <a:cs typeface="Arial" pitchFamily="34" charset="0"/>
              </a:rPr>
              <a:t>Ejemplo: </a:t>
            </a:r>
            <a:r>
              <a:rPr kumimoji="0" lang="es-MX" sz="2000" i="1" u="none" strike="noStrike" cap="none" normalizeH="0" baseline="0" dirty="0" smtClean="0">
                <a:ln>
                  <a:noFill/>
                </a:ln>
                <a:solidFill>
                  <a:schemeClr val="tx1"/>
                </a:solidFill>
                <a:effectLst/>
                <a:latin typeface="Arial" pitchFamily="34" charset="0"/>
                <a:ea typeface="Calibri" pitchFamily="34" charset="0"/>
                <a:cs typeface="Arial" pitchFamily="34" charset="0"/>
              </a:rPr>
              <a:t>una compañía de asistencia sanitaria desea analizar las peticiones de servicios médicos solicitados por sus asegurados. </a:t>
            </a:r>
          </a:p>
          <a:p>
            <a:pPr marL="0" marR="0" lvl="0" indent="0" algn="just" defTabSz="914400" rtl="0" eaLnBrk="1" fontAlgn="base" latinLnBrk="0" hangingPunct="1">
              <a:lnSpc>
                <a:spcPct val="100000"/>
              </a:lnSpc>
              <a:spcBef>
                <a:spcPct val="0"/>
              </a:spcBef>
              <a:spcAft>
                <a:spcPct val="0"/>
              </a:spcAft>
              <a:buClrTx/>
              <a:buSzTx/>
              <a:buFontTx/>
              <a:buNone/>
              <a:tabLst/>
            </a:pPr>
            <a:endParaRPr lang="es-MX" sz="2000" i="1" dirty="0" smtClean="0">
              <a:solidFill>
                <a:schemeClr val="tx1"/>
              </a:solidFill>
              <a:latin typeface="Arial" pitchFamily="34" charset="0"/>
              <a:ea typeface="Calibri" pitchFamily="34" charset="0"/>
              <a:cs typeface="Arial" pitchFamily="34"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s-MX" sz="2000" i="1" u="none" strike="noStrike" cap="none" normalizeH="0" baseline="0" dirty="0" smtClean="0">
                <a:ln>
                  <a:noFill/>
                </a:ln>
                <a:solidFill>
                  <a:schemeClr val="tx1"/>
                </a:solidFill>
                <a:effectLst/>
                <a:latin typeface="Arial" pitchFamily="34" charset="0"/>
                <a:ea typeface="Calibri" pitchFamily="34" charset="0"/>
                <a:cs typeface="Arial" pitchFamily="34" charset="0"/>
              </a:rPr>
              <a:t>Mediante reglas de asociación, un sistema encontraría aquellas pruebas médicas que frecuentemente se realizan juntas, por ejemplo que un 70 por ciento de las veces que se pide un análisis de orina también se solicita uno de sangre, y esto ocurre en dos de cada diez pacientes. La precisión de esta regla es del 70 por ciento y el soporte del 20 por ciento.</a:t>
            </a:r>
            <a:endParaRPr kumimoji="0" lang="es-MX" sz="3600" i="1" u="none" strike="noStrike" cap="none" normalizeH="0" baseline="0" dirty="0" smtClean="0">
              <a:ln>
                <a:noFill/>
              </a:ln>
              <a:solidFill>
                <a:schemeClr val="tx1"/>
              </a:solidFill>
              <a:effectLst/>
              <a:latin typeface="Arial" pitchFamily="34" charset="0"/>
              <a:cs typeface="Arial" pitchFamily="34" charset="0"/>
            </a:endParaRPr>
          </a:p>
        </p:txBody>
      </p:sp>
      <p:sp>
        <p:nvSpPr>
          <p:cNvPr id="4" name="3 Rectángulo"/>
          <p:cNvSpPr/>
          <p:nvPr/>
        </p:nvSpPr>
        <p:spPr>
          <a:xfrm>
            <a:off x="2000232" y="4357694"/>
            <a:ext cx="4754828" cy="461665"/>
          </a:xfrm>
          <a:prstGeom prst="rect">
            <a:avLst/>
          </a:prstGeom>
        </p:spPr>
        <p:style>
          <a:lnRef idx="1">
            <a:schemeClr val="accent3"/>
          </a:lnRef>
          <a:fillRef idx="2">
            <a:schemeClr val="accent3"/>
          </a:fillRef>
          <a:effectRef idx="1">
            <a:schemeClr val="accent3"/>
          </a:effectRef>
          <a:fontRef idx="minor">
            <a:schemeClr val="dk1"/>
          </a:fontRef>
        </p:style>
        <p:txBody>
          <a:bodyPr wrap="none">
            <a:spAutoFit/>
          </a:bodyPr>
          <a:lstStyle/>
          <a:p>
            <a:r>
              <a:rPr lang="es-MX" sz="2400" b="1" dirty="0" smtClean="0"/>
              <a:t>Técnica de minería de datos</a:t>
            </a:r>
            <a:endParaRPr lang="es-ES" sz="2400" b="1" dirty="0"/>
          </a:p>
        </p:txBody>
      </p:sp>
      <p:sp>
        <p:nvSpPr>
          <p:cNvPr id="5" name="4 Rectángulo"/>
          <p:cNvSpPr/>
          <p:nvPr/>
        </p:nvSpPr>
        <p:spPr>
          <a:xfrm>
            <a:off x="0" y="5072074"/>
            <a:ext cx="6506909" cy="523220"/>
          </a:xfrm>
          <a:prstGeom prst="rect">
            <a:avLst/>
          </a:prstGeom>
        </p:spPr>
        <p:style>
          <a:lnRef idx="3">
            <a:schemeClr val="lt1"/>
          </a:lnRef>
          <a:fillRef idx="1">
            <a:schemeClr val="dk1"/>
          </a:fillRef>
          <a:effectRef idx="1">
            <a:schemeClr val="dk1"/>
          </a:effectRef>
          <a:fontRef idx="minor">
            <a:schemeClr val="lt1"/>
          </a:fontRef>
        </p:style>
        <p:txBody>
          <a:bodyPr wrap="none">
            <a:spAutoFit/>
          </a:bodyPr>
          <a:lstStyle/>
          <a:p>
            <a:r>
              <a:rPr lang="es-MX" sz="2800" b="1" dirty="0" smtClean="0"/>
              <a:t>LOS ALGORITMOS EVOLUTIVOS </a:t>
            </a:r>
            <a:endParaRPr lang="es-ES" sz="2800" b="1" dirty="0"/>
          </a:p>
        </p:txBody>
      </p:sp>
      <p:sp>
        <p:nvSpPr>
          <p:cNvPr id="6" name="5 Rectángulo"/>
          <p:cNvSpPr/>
          <p:nvPr/>
        </p:nvSpPr>
        <p:spPr>
          <a:xfrm>
            <a:off x="500034" y="5786454"/>
            <a:ext cx="8358214" cy="830997"/>
          </a:xfrm>
          <a:prstGeom prst="rect">
            <a:avLst/>
          </a:prstGeom>
        </p:spPr>
        <p:txBody>
          <a:bodyPr wrap="square">
            <a:spAutoFit/>
          </a:bodyPr>
          <a:lstStyle/>
          <a:p>
            <a:pPr algn="just"/>
            <a:r>
              <a:rPr lang="es-MX" sz="2400" dirty="0">
                <a:latin typeface="Arial" pitchFamily="34" charset="0"/>
                <a:cs typeface="Arial" pitchFamily="34" charset="0"/>
              </a:rPr>
              <a:t>El nombre se debe a que siguen los patrones de la evolución biológica. </a:t>
            </a:r>
            <a:endParaRPr lang="es-ES" sz="240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357158" y="928670"/>
            <a:ext cx="8501122" cy="4893647"/>
          </a:xfrm>
          <a:prstGeom prst="rect">
            <a:avLst/>
          </a:prstGeom>
        </p:spPr>
        <p:txBody>
          <a:bodyPr wrap="square">
            <a:spAutoFit/>
          </a:bodyPr>
          <a:lstStyle/>
          <a:p>
            <a:pPr algn="just"/>
            <a:r>
              <a:rPr lang="es-MX" sz="2400" dirty="0">
                <a:latin typeface="Arial" pitchFamily="34" charset="0"/>
                <a:cs typeface="Arial" pitchFamily="34" charset="0"/>
              </a:rPr>
              <a:t>En la minería de datos, los algoritmos genéticos se pueden usar para el agrupamiento, la clasificación y las reglas de asociación, así como para la selección de atributos. En cualquiera de estos casos, se comienza con un modelo o solución inicial y, a través de múltiples iteraciones, los modelos se combinan para crear nuevos modelos. Para ello, se usa una función de adaptación o de </a:t>
            </a:r>
            <a:r>
              <a:rPr lang="es-MX" sz="2400" dirty="0" err="1">
                <a:latin typeface="Arial" pitchFamily="34" charset="0"/>
                <a:cs typeface="Arial" pitchFamily="34" charset="0"/>
              </a:rPr>
              <a:t>optimalidad</a:t>
            </a:r>
            <a:r>
              <a:rPr lang="es-MX" sz="2400" dirty="0">
                <a:latin typeface="Arial" pitchFamily="34" charset="0"/>
                <a:cs typeface="Arial" pitchFamily="34" charset="0"/>
              </a:rPr>
              <a:t> (</a:t>
            </a:r>
            <a:r>
              <a:rPr lang="es-MX" sz="2400" i="1" dirty="0" err="1">
                <a:latin typeface="Arial" pitchFamily="34" charset="0"/>
                <a:cs typeface="Arial" pitchFamily="34" charset="0"/>
              </a:rPr>
              <a:t>fitness</a:t>
            </a:r>
            <a:r>
              <a:rPr lang="es-MX" sz="2400" i="1" dirty="0">
                <a:latin typeface="Arial" pitchFamily="34" charset="0"/>
                <a:cs typeface="Arial" pitchFamily="34" charset="0"/>
              </a:rPr>
              <a:t> </a:t>
            </a:r>
            <a:r>
              <a:rPr lang="es-MX" sz="2400" i="1" dirty="0" err="1">
                <a:latin typeface="Arial" pitchFamily="34" charset="0"/>
                <a:cs typeface="Arial" pitchFamily="34" charset="0"/>
              </a:rPr>
              <a:t>function</a:t>
            </a:r>
            <a:r>
              <a:rPr lang="es-MX" sz="2400" dirty="0">
                <a:latin typeface="Arial" pitchFamily="34" charset="0"/>
                <a:cs typeface="Arial" pitchFamily="34" charset="0"/>
              </a:rPr>
              <a:t>), que selecciona los mejores modelos que sobrevivirán o serán cruzados. Los distintos algoritmos genéticos difieren en la forma en que se representan los modelos, cómo se combinan los individuos en el modelo, si existen mutaciones y cómo son éstas, y cómo se usa la función de adaptación. </a:t>
            </a:r>
            <a:endParaRPr lang="es-ES" sz="240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285984" y="714356"/>
            <a:ext cx="6043626" cy="926988"/>
          </a:xfrm>
        </p:spPr>
        <p:txBody>
          <a:bodyPr>
            <a:noAutofit/>
          </a:bodyPr>
          <a:lstStyle/>
          <a:p>
            <a:pPr algn="ctr"/>
            <a:r>
              <a:rPr lang="es-MX" b="1" dirty="0" smtClean="0">
                <a:solidFill>
                  <a:schemeClr val="tx1"/>
                </a:solidFill>
                <a:latin typeface="Arial" pitchFamily="34" charset="0"/>
                <a:cs typeface="Arial" pitchFamily="34" charset="0"/>
              </a:rPr>
              <a:t>Reglas de asociación secuenciales</a:t>
            </a:r>
            <a:endParaRPr lang="es-ES" dirty="0">
              <a:solidFill>
                <a:schemeClr val="tx1"/>
              </a:solidFill>
              <a:latin typeface="Arial" pitchFamily="34" charset="0"/>
              <a:cs typeface="Arial" pitchFamily="34" charset="0"/>
            </a:endParaRPr>
          </a:p>
        </p:txBody>
      </p:sp>
      <p:sp>
        <p:nvSpPr>
          <p:cNvPr id="3" name="2 CuadroTexto"/>
          <p:cNvSpPr txBox="1"/>
          <p:nvPr/>
        </p:nvSpPr>
        <p:spPr>
          <a:xfrm>
            <a:off x="0" y="500042"/>
            <a:ext cx="2285984" cy="369332"/>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p>
            <a:pPr algn="ctr"/>
            <a:r>
              <a:rPr lang="es-ES" b="1" dirty="0" smtClean="0">
                <a:solidFill>
                  <a:schemeClr val="tx1"/>
                </a:solidFill>
              </a:rPr>
              <a:t>Tarea Descriptiva</a:t>
            </a:r>
            <a:endParaRPr lang="es-ES" b="1" dirty="0">
              <a:solidFill>
                <a:schemeClr val="tx1"/>
              </a:solidFill>
            </a:endParaRPr>
          </a:p>
        </p:txBody>
      </p:sp>
      <p:sp>
        <p:nvSpPr>
          <p:cNvPr id="4" name="3 Rectángulo"/>
          <p:cNvSpPr/>
          <p:nvPr/>
        </p:nvSpPr>
        <p:spPr>
          <a:xfrm>
            <a:off x="428596" y="2105561"/>
            <a:ext cx="8501122" cy="1323439"/>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gn="just"/>
            <a:r>
              <a:rPr lang="es-MX" sz="2000" dirty="0" smtClean="0">
                <a:latin typeface="Arial" pitchFamily="34" charset="0"/>
                <a:cs typeface="Arial" pitchFamily="34" charset="0"/>
              </a:rPr>
              <a:t>Se usa para determinar patrones secuenciales en los datos. Estos patrones se basan en secuencias temporales de acciones y difieren de las reglas de asociación en que las relaciones entre los datos se basan en el tiempo.</a:t>
            </a:r>
            <a:endParaRPr lang="es-ES" sz="2000" dirty="0">
              <a:latin typeface="Arial" pitchFamily="34" charset="0"/>
              <a:cs typeface="Arial" pitchFamily="34" charset="0"/>
            </a:endParaRPr>
          </a:p>
        </p:txBody>
      </p:sp>
      <p:sp>
        <p:nvSpPr>
          <p:cNvPr id="36865" name="Rectangle 1"/>
          <p:cNvSpPr>
            <a:spLocks noChangeArrowheads="1"/>
          </p:cNvSpPr>
          <p:nvPr/>
        </p:nvSpPr>
        <p:spPr bwMode="auto">
          <a:xfrm>
            <a:off x="1357290" y="4000504"/>
            <a:ext cx="6500858" cy="1938992"/>
          </a:xfrm>
          <a:prstGeom prst="rect">
            <a:avLst/>
          </a:prstGeom>
          <a:ln>
            <a:headEnd/>
            <a:tailEnd/>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s-MX" sz="2000" b="1" i="1" u="none" strike="noStrike" cap="none" normalizeH="0" baseline="0" dirty="0" smtClean="0">
                <a:ln>
                  <a:noFill/>
                </a:ln>
                <a:solidFill>
                  <a:schemeClr val="tx1"/>
                </a:solidFill>
                <a:effectLst/>
                <a:latin typeface="Arial" pitchFamily="34" charset="0"/>
                <a:ea typeface="Calibri" pitchFamily="34" charset="0"/>
                <a:cs typeface="Arial" pitchFamily="34" charset="0"/>
              </a:rPr>
              <a:t>Ejemplo</a:t>
            </a:r>
            <a:r>
              <a:rPr kumimoji="0" lang="es-MX" sz="2000" i="1" u="none" strike="noStrike" cap="none" normalizeH="0" baseline="0" dirty="0" smtClean="0">
                <a:ln>
                  <a:noFill/>
                </a:ln>
                <a:solidFill>
                  <a:schemeClr val="tx1"/>
                </a:solidFill>
                <a:effectLst/>
                <a:latin typeface="Arial" pitchFamily="34" charset="0"/>
                <a:ea typeface="Calibri" pitchFamily="34" charset="0"/>
                <a:cs typeface="Arial" pitchFamily="34" charset="0"/>
              </a:rPr>
              <a:t>. Una tienda de ventas de electrodomésticos y equipos de audio analiza las ventas que ha efectuado usando análisis secuencial  y descubre que el 30 por ciento de los clientes que compraron un televisor hace seis meses compraron un DVD en los siguientes meses.</a:t>
            </a:r>
            <a:endParaRPr kumimoji="0" lang="es-MX" sz="2000" i="1"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MX" sz="1100" b="1" i="0" u="none" strike="noStrike" cap="none" normalizeH="0" baseline="0" smtClean="0">
                <a:ln>
                  <a:noFill/>
                </a:ln>
                <a:solidFill>
                  <a:schemeClr val="tx1"/>
                </a:solidFill>
                <a:effectLst/>
                <a:latin typeface="Calibri" pitchFamily="34" charset="0"/>
                <a:ea typeface="Calibri" pitchFamily="34" charset="0"/>
                <a:cs typeface="Times New Roman" pitchFamily="18" charset="0"/>
              </a:rPr>
              <a:t>2.4.3 Construcción del modelo</a:t>
            </a:r>
            <a:endParaRPr kumimoji="0" lang="es-MX" sz="1800" b="0" i="0" u="none" strike="noStrike" cap="none" normalizeH="0" baseline="0" smtClean="0">
              <a:ln>
                <a:noFill/>
              </a:ln>
              <a:solidFill>
                <a:schemeClr val="tx1"/>
              </a:solidFill>
              <a:effectLst/>
              <a:latin typeface="Arial" pitchFamily="34" charset="0"/>
              <a:cs typeface="Arial" pitchFamily="34" charset="0"/>
            </a:endParaRPr>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MX" sz="1100" b="1" i="0" u="none" strike="noStrike" cap="none" normalizeH="0" baseline="0" smtClean="0">
                <a:ln>
                  <a:noFill/>
                </a:ln>
                <a:solidFill>
                  <a:schemeClr val="tx1"/>
                </a:solidFill>
                <a:effectLst/>
                <a:latin typeface="Calibri" pitchFamily="34" charset="0"/>
                <a:ea typeface="Calibri" pitchFamily="34" charset="0"/>
                <a:cs typeface="Times New Roman" pitchFamily="18" charset="0"/>
              </a:rPr>
              <a:t>2.4.3 Construcción del modelo</a:t>
            </a:r>
            <a:endParaRPr kumimoji="0" lang="es-MX" sz="1800" b="0" i="0" u="none" strike="noStrike" cap="none" normalizeH="0" baseline="0" smtClean="0">
              <a:ln>
                <a:noFill/>
              </a:ln>
              <a:solidFill>
                <a:schemeClr val="tx1"/>
              </a:solidFill>
              <a:effectLst/>
              <a:latin typeface="Arial" pitchFamily="34" charset="0"/>
              <a:cs typeface="Arial" pitchFamily="34" charset="0"/>
            </a:endParaRPr>
          </a:p>
        </p:txBody>
      </p:sp>
      <p:sp>
        <p:nvSpPr>
          <p:cNvPr id="4" name="3 CuadroTexto"/>
          <p:cNvSpPr txBox="1"/>
          <p:nvPr/>
        </p:nvSpPr>
        <p:spPr>
          <a:xfrm>
            <a:off x="1285852" y="857232"/>
            <a:ext cx="6609502" cy="584775"/>
          </a:xfrm>
          <a:prstGeom prst="rect">
            <a:avLst/>
          </a:prstGeom>
        </p:spPr>
        <p:style>
          <a:lnRef idx="0">
            <a:schemeClr val="accent5"/>
          </a:lnRef>
          <a:fillRef idx="3">
            <a:schemeClr val="accent5"/>
          </a:fillRef>
          <a:effectRef idx="3">
            <a:schemeClr val="accent5"/>
          </a:effectRef>
          <a:fontRef idx="minor">
            <a:schemeClr val="lt1"/>
          </a:fontRef>
        </p:style>
        <p:txBody>
          <a:bodyPr wrap="none" rtlCol="0">
            <a:spAutoFit/>
          </a:bodyPr>
          <a:lstStyle/>
          <a:p>
            <a:r>
              <a:rPr lang="es-MX" sz="3200" b="1" dirty="0"/>
              <a:t>2.4.3 Construcción del </a:t>
            </a:r>
            <a:r>
              <a:rPr lang="es-MX" sz="3200" b="1" dirty="0" smtClean="0"/>
              <a:t>modelo</a:t>
            </a:r>
            <a:endParaRPr lang="es-ES" sz="3200" dirty="0"/>
          </a:p>
        </p:txBody>
      </p:sp>
      <p:sp>
        <p:nvSpPr>
          <p:cNvPr id="5" name="4 Rectángulo"/>
          <p:cNvSpPr/>
          <p:nvPr/>
        </p:nvSpPr>
        <p:spPr>
          <a:xfrm>
            <a:off x="214282" y="1859340"/>
            <a:ext cx="8786842" cy="4093428"/>
          </a:xfrm>
          <a:prstGeom prst="rect">
            <a:avLst/>
          </a:prstGeom>
        </p:spPr>
        <p:txBody>
          <a:bodyPr wrap="square">
            <a:spAutoFit/>
          </a:bodyPr>
          <a:lstStyle/>
          <a:p>
            <a:pPr algn="just"/>
            <a:r>
              <a:rPr lang="es-MX" sz="2000" dirty="0">
                <a:latin typeface="Arial" pitchFamily="34" charset="0"/>
                <a:cs typeface="Arial" pitchFamily="34" charset="0"/>
              </a:rPr>
              <a:t>En esta búsqueda del “buen modelo” puede que tengamos que retroceder hasta fases anteriores y hacer cambios en los datos que estamos usando o incluso modificar la definición del problema. Es más, la elección de la tarea a realizar y del algoritmo a usar puede influir en la preparación de los datos (por ejemplo, un determinado algoritmo o técnica puede requerir que los datos se presenten en un formato determinado</a:t>
            </a:r>
            <a:r>
              <a:rPr lang="es-MX" sz="2000" dirty="0" smtClean="0">
                <a:latin typeface="Arial" pitchFamily="34" charset="0"/>
                <a:cs typeface="Arial" pitchFamily="34" charset="0"/>
              </a:rPr>
              <a:t>).</a:t>
            </a:r>
          </a:p>
          <a:p>
            <a:pPr algn="just"/>
            <a:endParaRPr lang="es-MX" sz="2000" dirty="0">
              <a:latin typeface="Arial" pitchFamily="34" charset="0"/>
              <a:cs typeface="Arial" pitchFamily="34" charset="0"/>
            </a:endParaRPr>
          </a:p>
          <a:p>
            <a:pPr algn="just"/>
            <a:endParaRPr lang="es-MX" sz="2000" dirty="0" smtClean="0">
              <a:latin typeface="Arial" pitchFamily="34" charset="0"/>
              <a:cs typeface="Arial" pitchFamily="34" charset="0"/>
            </a:endParaRPr>
          </a:p>
          <a:p>
            <a:pPr algn="just"/>
            <a:r>
              <a:rPr lang="es-ES" sz="2000" dirty="0" smtClean="0">
                <a:latin typeface="Arial" pitchFamily="34" charset="0"/>
                <a:cs typeface="Arial" pitchFamily="34" charset="0"/>
              </a:rPr>
              <a:t>El proceso de construcción de modelos predictivos requiere tener bien definidas las etapas de entrenamiento y validación para asegurar que las predicciones serán robustas y precisas. La idea básica es estimar (o entrenar) el modelo con una porción de los datos (training </a:t>
            </a:r>
            <a:r>
              <a:rPr lang="es-ES" sz="2000" dirty="0" err="1" smtClean="0">
                <a:latin typeface="Arial" pitchFamily="34" charset="0"/>
                <a:cs typeface="Arial" pitchFamily="34" charset="0"/>
              </a:rPr>
              <a:t>dataset</a:t>
            </a:r>
            <a:r>
              <a:rPr lang="es-ES" sz="2000" dirty="0" smtClean="0">
                <a:latin typeface="Arial" pitchFamily="34" charset="0"/>
                <a:cs typeface="Arial" pitchFamily="34" charset="0"/>
              </a:rPr>
              <a:t>) y luego validarlo con el resto de los datos (test </a:t>
            </a:r>
            <a:r>
              <a:rPr lang="es-ES" sz="2000" dirty="0" err="1" smtClean="0">
                <a:latin typeface="Arial" pitchFamily="34" charset="0"/>
                <a:cs typeface="Arial" pitchFamily="34" charset="0"/>
              </a:rPr>
              <a:t>dataset</a:t>
            </a:r>
            <a:r>
              <a:rPr lang="es-ES" sz="2000" dirty="0" smtClean="0">
                <a:latin typeface="Arial" pitchFamily="34" charset="0"/>
                <a:cs typeface="Arial" pitchFamily="34" charset="0"/>
              </a:rPr>
              <a:t>).</a:t>
            </a:r>
            <a:endParaRPr lang="es-ES" sz="200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o">
  <a:themeElements>
    <a:clrScheme name="Urbano">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o">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Urbano">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681</TotalTime>
  <Words>1731</Words>
  <Application>Microsoft Office PowerPoint</Application>
  <PresentationFormat>Presentación en pantalla (4:3)</PresentationFormat>
  <Paragraphs>101</Paragraphs>
  <Slides>24</Slides>
  <Notes>0</Notes>
  <HiddenSlides>0</HiddenSlides>
  <MMClips>0</MMClips>
  <ScaleCrop>false</ScaleCrop>
  <HeadingPairs>
    <vt:vector size="4" baseType="variant">
      <vt:variant>
        <vt:lpstr>Tema</vt:lpstr>
      </vt:variant>
      <vt:variant>
        <vt:i4>1</vt:i4>
      </vt:variant>
      <vt:variant>
        <vt:lpstr>Títulos de diapositiva</vt:lpstr>
      </vt:variant>
      <vt:variant>
        <vt:i4>24</vt:i4>
      </vt:variant>
    </vt:vector>
  </HeadingPairs>
  <TitlesOfParts>
    <vt:vector size="25" baseType="lpstr">
      <vt:lpstr>Urbano</vt:lpstr>
      <vt:lpstr>La clasificación </vt:lpstr>
      <vt:lpstr> Ejemplo: consideremos un oftalmólogo que desea disponer de un sistema que le sirva para determinar la conveniencia o no de recomendar la cirugía ocular de sus pacientes. Para ello dispone de una base de datos de sus antiguos pacientes clasificados en operados satisfactoriamente o no en función del tipo de problema que padecían (miopía y su grado, o astigmatismo) y de su edad. El modelo encontrado se utiliza para clasificar nuevos paciente, es decir, para predecir si es conveniente operarlos o no.</vt:lpstr>
      <vt:lpstr>LA INFERENCIA DE FUNCIONES DISCRIMINANTES</vt:lpstr>
      <vt:lpstr>Presentación de PowerPoint</vt:lpstr>
      <vt:lpstr>Presentación de PowerPoint</vt:lpstr>
      <vt:lpstr>Presentación de PowerPoint</vt:lpstr>
      <vt:lpstr>Presentación de PowerPoint</vt:lpstr>
      <vt:lpstr>Presentación de PowerPoint</vt:lpstr>
      <vt:lpstr>Presentación de PowerPoint</vt:lpstr>
      <vt:lpstr>La regresión</vt:lpstr>
      <vt:lpstr>REGRESIÓN LINEAL</vt:lpstr>
      <vt:lpstr>Presentación de PowerPoint</vt:lpstr>
      <vt:lpstr>Presentación de PowerPoint</vt:lpstr>
      <vt:lpstr>Presentación de PowerPoint</vt:lpstr>
      <vt:lpstr>El agrupamiento (clustering)</vt:lpstr>
      <vt:lpstr>Presentación de PowerPoint</vt:lpstr>
      <vt:lpstr>MÉTODOS BAYESIANOS</vt:lpstr>
      <vt:lpstr>Presentación de PowerPoint</vt:lpstr>
      <vt:lpstr>Las correlaciones </vt:lpstr>
      <vt:lpstr>Las reglas de asociación </vt:lpstr>
      <vt:lpstr>Presentación de PowerPoint</vt:lpstr>
      <vt:lpstr>Presentación de PowerPoint</vt:lpstr>
      <vt:lpstr>Reglas de asociación secuenciales</vt:lpstr>
      <vt:lpstr>Presentación de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Instituto Tecnológico Superior de Calkiní en el Estado de Campeche</dc:title>
  <dc:creator>Roger</dc:creator>
  <cp:lastModifiedBy>Usuario</cp:lastModifiedBy>
  <cp:revision>59</cp:revision>
  <dcterms:created xsi:type="dcterms:W3CDTF">2014-03-17T06:03:15Z</dcterms:created>
  <dcterms:modified xsi:type="dcterms:W3CDTF">2014-04-04T17:45:06Z</dcterms:modified>
</cp:coreProperties>
</file>